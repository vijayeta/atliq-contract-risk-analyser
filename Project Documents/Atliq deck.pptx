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18288000" cy="10287000"/>
  <p:notesSz cx="10287000" cy="18288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44" d="100"/>
          <a:sy n="44" d="100"/>
        </p:scale>
        <p:origin x="660" y="5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49128012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AtliQ Contract Risk Analyzer: a human-in-the-loop AI system for contract review. This deck covers the problem and discovery, the opportunity, the solution, success metrics, and risks and guardrails.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Baselines from Client Meeting 1: about 20 contracts a month, about 3 hours of reading each, and about a week in queue. AtliQ has no legal or compliance team, so reviews fall to the CEO.</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insight: the costliest failures come from context outside the document, such as a restriction signed two years ago or a price promised on a call. The problem is not only that review is slow. Every counterparty brings its own template, so every contract is effectively new. And terms are negotiated in parallel across channels the contract file never sees.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failure points from discovery. Note the mutual label trap: genuinely mutual contracts are rare, and treating a mutual NDA as low-risk has backfired repeatedly. Indemnity problems have already required paid legal help.</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job to be done, in the CEO's words. The outcome the client set: a decision-ready review in under five minutes, with no clause skipped.</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chose the review stage. Capturing commitments from calls and chat is the hardest part of the context problem and is deferred; mailbox sync is the first V2 increment. The review output states this limitation explicitly.</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Corrected after Client Meeting 1: there is no internal requester. The management team are reviewers, delegated approvers and negotiators. Clients and counsel are not users.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Walkthrough. A contract is submitted, segmented and classified, checked against policy, signed contracts and live obligations, then assessed. A human makes every decision. Only approved outcomes are written back to memory, so AI mistakes never become precedent.</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the reviewer sees. Clause coverage comes right after the summary, so completeness is visible before any finding. Every memo resolves to one of five behaviour states: red blocks ready-to-sign, missing evidence means the system abstains, and a contract labelled mutual or standard gets exactly the same review.</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hybrid model strategy. Deterministic rules cover only entity, jurisdiction and document completeness. AtliQ has no fixed commercial policy, so the system must never present a threshold as policy. No cost ceiling was set; cost must never trade away recall on high-severity clauses.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Decision-Ready Review Rate: the share of contracts where one AI review was enough to decide. A review only counts if it also passes critical-risk audit and met the coverage threshold. Target 80 percent within 90 days of phased rollout.</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target is set against the baselines AtliQ gave in Client Meeting 1. Annual counsel spend is still TBC, so the cost metric is excluded from launch gates.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Launch-readiness evals. A live restriction reported as expired is a release blocker. The dataset holds 17 of the 30 signed contracts, so synthetic contracts cover dated conflicts, label-invariance pairs and degraded OCR.</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main failure modes and their guardrails. The common thread: unsupported or incomplete output fails closed, and humans stay in control of anything that becomes policy.</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12-week MVP programme, then shadow mode alongside Karandeep's normal review, a gated closed beta in December 2026, and phased rollout in Q1 2027. High-value and high-risk agreements stay with the CEO or counsel.</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AFAF8"/>
        </a:solidFill>
        <a:effectLst/>
      </p:bgPr>
    </p:bg>
    <p:spTree>
      <p:nvGrpSpPr>
        <p:cNvPr id="1" name=""/>
        <p:cNvGrpSpPr/>
        <p:nvPr/>
      </p:nvGrpSpPr>
      <p:grpSpPr>
        <a:xfrm>
          <a:off x="0" y="0"/>
          <a:ext cx="0" cy="0"/>
          <a:chOff x="0" y="0"/>
          <a:chExt cx="0" cy="0"/>
        </a:xfrm>
      </p:grpSpPr>
      <p:sp>
        <p:nvSpPr>
          <p:cNvPr id="2" name="Shape 0"/>
          <p:cNvSpPr/>
          <p:nvPr/>
        </p:nvSpPr>
        <p:spPr>
          <a:xfrm>
            <a:off x="952500" y="857250"/>
            <a:ext cx="16383000" cy="25400"/>
          </a:xfrm>
          <a:prstGeom prst="rect">
            <a:avLst/>
          </a:prstGeom>
          <a:solidFill>
            <a:srgbClr val="141414"/>
          </a:solidFill>
          <a:ln/>
        </p:spPr>
      </p:sp>
      <p:sp>
        <p:nvSpPr>
          <p:cNvPr id="3" name="Text 1"/>
          <p:cNvSpPr/>
          <p:nvPr/>
        </p:nvSpPr>
        <p:spPr>
          <a:xfrm>
            <a:off x="952500" y="1073150"/>
            <a:ext cx="4264888" cy="304800"/>
          </a:xfrm>
          <a:prstGeom prst="rect">
            <a:avLst/>
          </a:prstGeom>
          <a:noFill/>
          <a:ln/>
        </p:spPr>
        <p:txBody>
          <a:bodyPr wrap="square" lIns="25400" tIns="25400" rIns="25400" bIns="25400" rtlCol="0" anchor="t">
            <a:normAutofit/>
          </a:bodyPr>
          <a:lstStyle/>
          <a:p>
            <a:pPr marL="0" indent="0" algn="l">
              <a:buNone/>
            </a:pPr>
            <a:r>
              <a:rPr lang="en-US" sz="1800" kern="0" spc="108" dirty="0">
                <a:solidFill>
                  <a:srgbClr val="141414"/>
                </a:solidFill>
                <a:latin typeface="Helvetica" pitchFamily="34" charset="0"/>
                <a:ea typeface="Helvetica" pitchFamily="34" charset="-122"/>
                <a:cs typeface="Helvetica" pitchFamily="34" charset="-120"/>
              </a:rPr>
              <a:t>CONTRACT REVIEW CAPSTONE</a:t>
            </a:r>
            <a:endParaRPr lang="en-US" sz="1800" dirty="0"/>
          </a:p>
        </p:txBody>
      </p:sp>
      <p:sp>
        <p:nvSpPr>
          <p:cNvPr id="4" name="Text 2"/>
          <p:cNvSpPr/>
          <p:nvPr/>
        </p:nvSpPr>
        <p:spPr>
          <a:xfrm>
            <a:off x="14102060" y="1073150"/>
            <a:ext cx="3556784" cy="304800"/>
          </a:xfrm>
          <a:prstGeom prst="rect">
            <a:avLst/>
          </a:prstGeom>
          <a:noFill/>
          <a:ln/>
        </p:spPr>
        <p:txBody>
          <a:bodyPr wrap="square" lIns="25400" tIns="25400" rIns="25400" bIns="25400" rtlCol="0" anchor="t">
            <a:normAutofit lnSpcReduction="10000"/>
          </a:bodyPr>
          <a:lstStyle/>
          <a:p>
            <a:pPr marL="0" indent="0" algn="l">
              <a:buNone/>
            </a:pPr>
            <a:r>
              <a:rPr lang="en-US" sz="1800" kern="0" spc="108" dirty="0">
                <a:solidFill>
                  <a:srgbClr val="141414"/>
                </a:solidFill>
                <a:latin typeface="Helvetica" pitchFamily="34" charset="0"/>
                <a:ea typeface="Helvetica" pitchFamily="34" charset="-122"/>
                <a:cs typeface="Helvetica" pitchFamily="34" charset="-120"/>
              </a:rPr>
              <a:t> OCTOBER 2026</a:t>
            </a:r>
            <a:endParaRPr lang="en-US" sz="1800" dirty="0"/>
          </a:p>
        </p:txBody>
      </p:sp>
      <p:sp>
        <p:nvSpPr>
          <p:cNvPr id="5" name="Text 3"/>
          <p:cNvSpPr/>
          <p:nvPr/>
        </p:nvSpPr>
        <p:spPr>
          <a:xfrm>
            <a:off x="952500" y="3761780"/>
            <a:ext cx="16874490" cy="2842220"/>
          </a:xfrm>
          <a:prstGeom prst="rect">
            <a:avLst/>
          </a:prstGeom>
          <a:noFill/>
          <a:ln/>
        </p:spPr>
        <p:txBody>
          <a:bodyPr wrap="square" lIns="25400" tIns="25400" rIns="25400" bIns="25400" rtlCol="0" anchor="t">
            <a:normAutofit/>
          </a:bodyPr>
          <a:lstStyle/>
          <a:p>
            <a:pPr marL="0" indent="0" algn="l">
              <a:lnSpc>
                <a:spcPct val="80000"/>
              </a:lnSpc>
              <a:buNone/>
            </a:pPr>
            <a:r>
              <a:rPr lang="en-US" sz="12000" b="1" kern="0" spc="-540" dirty="0">
                <a:solidFill>
                  <a:srgbClr val="141414"/>
                </a:solidFill>
                <a:latin typeface="Helvetica" pitchFamily="34" charset="0"/>
                <a:ea typeface="Helvetica" pitchFamily="34" charset="-122"/>
                <a:cs typeface="Helvetica" pitchFamily="34" charset="-120"/>
              </a:rPr>
              <a:t>AtliQ Contract Risk Analyzer</a:t>
            </a:r>
            <a:endParaRPr lang="en-US" sz="12000" dirty="0"/>
          </a:p>
        </p:txBody>
      </p:sp>
      <p:sp>
        <p:nvSpPr>
          <p:cNvPr id="6" name="Text 4"/>
          <p:cNvSpPr/>
          <p:nvPr/>
        </p:nvSpPr>
        <p:spPr>
          <a:xfrm>
            <a:off x="952500" y="7099300"/>
            <a:ext cx="11772900" cy="1085850"/>
          </a:xfrm>
          <a:prstGeom prst="rect">
            <a:avLst/>
          </a:prstGeom>
          <a:noFill/>
          <a:ln/>
        </p:spPr>
        <p:txBody>
          <a:bodyPr wrap="square" lIns="25400" tIns="25400" rIns="25400" bIns="25400" rtlCol="0" anchor="t">
            <a:normAutofit/>
          </a:bodyPr>
          <a:lstStyle/>
          <a:p>
            <a:pPr marL="0" indent="0" algn="l">
              <a:lnSpc>
                <a:spcPct val="108553"/>
              </a:lnSpc>
              <a:buNone/>
            </a:pPr>
            <a:r>
              <a:rPr lang="en-US" sz="3300" dirty="0">
                <a:solidFill>
                  <a:srgbClr val="5C5C58"/>
                </a:solidFill>
                <a:latin typeface="Helvetica" pitchFamily="34" charset="0"/>
                <a:ea typeface="Helvetica" pitchFamily="34" charset="-122"/>
                <a:cs typeface="Helvetica" pitchFamily="34" charset="-120"/>
              </a:rPr>
              <a:t>Human-in-the-loop AI for faster, more consistent contract review</a:t>
            </a:r>
            <a:endParaRPr lang="en-US" sz="3300" dirty="0"/>
          </a:p>
        </p:txBody>
      </p:sp>
      <p:sp>
        <p:nvSpPr>
          <p:cNvPr id="7" name="Shape 5"/>
          <p:cNvSpPr/>
          <p:nvPr/>
        </p:nvSpPr>
        <p:spPr>
          <a:xfrm>
            <a:off x="952500" y="9061450"/>
            <a:ext cx="16383000" cy="9525"/>
          </a:xfrm>
          <a:prstGeom prst="rect">
            <a:avLst/>
          </a:prstGeom>
          <a:solidFill>
            <a:srgbClr val="141414"/>
          </a:solidFill>
          <a:ln/>
        </p:spPr>
      </p:sp>
      <p:sp>
        <p:nvSpPr>
          <p:cNvPr id="8" name="Text 6"/>
          <p:cNvSpPr/>
          <p:nvPr/>
        </p:nvSpPr>
        <p:spPr>
          <a:xfrm>
            <a:off x="952500" y="9258300"/>
            <a:ext cx="3403005" cy="304800"/>
          </a:xfrm>
          <a:prstGeom prst="rect">
            <a:avLst/>
          </a:prstGeom>
          <a:noFill/>
          <a:ln/>
        </p:spPr>
        <p:txBody>
          <a:bodyPr wrap="square" lIns="25400" tIns="25400" rIns="25400" bIns="25400" rtlCol="0" anchor="t">
            <a:normAutofit/>
          </a:bodyPr>
          <a:lstStyle/>
          <a:p>
            <a:pPr marL="0" indent="0" algn="l">
              <a:buNone/>
            </a:pPr>
            <a:r>
              <a:rPr lang="en-US" sz="1800" dirty="0">
                <a:solidFill>
                  <a:srgbClr val="5C5C58"/>
                </a:solidFill>
                <a:latin typeface="Helvetica" pitchFamily="34" charset="0"/>
                <a:ea typeface="Helvetica" pitchFamily="34" charset="-122"/>
                <a:cs typeface="Helvetica" pitchFamily="34" charset="-120"/>
              </a:rPr>
              <a:t>01 Problem</a:t>
            </a:r>
            <a:endParaRPr lang="en-US" sz="1800" dirty="0"/>
          </a:p>
        </p:txBody>
      </p:sp>
      <p:sp>
        <p:nvSpPr>
          <p:cNvPr id="9" name="Text 7"/>
          <p:cNvSpPr/>
          <p:nvPr/>
        </p:nvSpPr>
        <p:spPr>
          <a:xfrm>
            <a:off x="4274741" y="9258300"/>
            <a:ext cx="3403114" cy="304800"/>
          </a:xfrm>
          <a:prstGeom prst="rect">
            <a:avLst/>
          </a:prstGeom>
          <a:noFill/>
          <a:ln/>
        </p:spPr>
        <p:txBody>
          <a:bodyPr wrap="square" lIns="25400" tIns="25400" rIns="25400" bIns="25400" rtlCol="0" anchor="t">
            <a:normAutofit/>
          </a:bodyPr>
          <a:lstStyle/>
          <a:p>
            <a:pPr marL="0" indent="0" algn="l">
              <a:buNone/>
            </a:pPr>
            <a:r>
              <a:rPr lang="en-US" sz="1800" dirty="0">
                <a:solidFill>
                  <a:srgbClr val="5C5C58"/>
                </a:solidFill>
                <a:latin typeface="Helvetica" pitchFamily="34" charset="0"/>
                <a:ea typeface="Helvetica" pitchFamily="34" charset="-122"/>
                <a:cs typeface="Helvetica" pitchFamily="34" charset="-120"/>
              </a:rPr>
              <a:t>02 Opportunity</a:t>
            </a:r>
            <a:endParaRPr lang="en-US" sz="1800" dirty="0"/>
          </a:p>
        </p:txBody>
      </p:sp>
      <p:sp>
        <p:nvSpPr>
          <p:cNvPr id="10" name="Text 8"/>
          <p:cNvSpPr/>
          <p:nvPr/>
        </p:nvSpPr>
        <p:spPr>
          <a:xfrm>
            <a:off x="7597080" y="9258300"/>
            <a:ext cx="3403114" cy="304800"/>
          </a:xfrm>
          <a:prstGeom prst="rect">
            <a:avLst/>
          </a:prstGeom>
          <a:noFill/>
          <a:ln/>
        </p:spPr>
        <p:txBody>
          <a:bodyPr wrap="square" lIns="25400" tIns="25400" rIns="25400" bIns="25400" rtlCol="0" anchor="t">
            <a:normAutofit/>
          </a:bodyPr>
          <a:lstStyle/>
          <a:p>
            <a:pPr marL="0" indent="0" algn="l">
              <a:buNone/>
            </a:pPr>
            <a:r>
              <a:rPr lang="en-US" sz="1800" dirty="0">
                <a:solidFill>
                  <a:srgbClr val="5C5C58"/>
                </a:solidFill>
                <a:latin typeface="Helvetica" pitchFamily="34" charset="0"/>
                <a:ea typeface="Helvetica" pitchFamily="34" charset="-122"/>
                <a:cs typeface="Helvetica" pitchFamily="34" charset="-120"/>
              </a:rPr>
              <a:t>03 Solution</a:t>
            </a:r>
            <a:endParaRPr lang="en-US" sz="1800" dirty="0"/>
          </a:p>
        </p:txBody>
      </p:sp>
      <p:sp>
        <p:nvSpPr>
          <p:cNvPr id="11" name="Text 9"/>
          <p:cNvSpPr/>
          <p:nvPr/>
        </p:nvSpPr>
        <p:spPr>
          <a:xfrm>
            <a:off x="10919421" y="9258300"/>
            <a:ext cx="3403114" cy="304800"/>
          </a:xfrm>
          <a:prstGeom prst="rect">
            <a:avLst/>
          </a:prstGeom>
          <a:noFill/>
          <a:ln/>
        </p:spPr>
        <p:txBody>
          <a:bodyPr wrap="square" lIns="25400" tIns="25400" rIns="25400" bIns="25400" rtlCol="0" anchor="t">
            <a:normAutofit/>
          </a:bodyPr>
          <a:lstStyle/>
          <a:p>
            <a:pPr marL="0" indent="0" algn="l">
              <a:buNone/>
            </a:pPr>
            <a:r>
              <a:rPr lang="en-US" sz="1800" dirty="0">
                <a:solidFill>
                  <a:srgbClr val="5C5C58"/>
                </a:solidFill>
                <a:latin typeface="Helvetica" pitchFamily="34" charset="0"/>
                <a:ea typeface="Helvetica" pitchFamily="34" charset="-122"/>
                <a:cs typeface="Helvetica" pitchFamily="34" charset="-120"/>
              </a:rPr>
              <a:t>04 Metrics</a:t>
            </a:r>
            <a:endParaRPr lang="en-US" sz="1800" dirty="0"/>
          </a:p>
        </p:txBody>
      </p:sp>
      <p:sp>
        <p:nvSpPr>
          <p:cNvPr id="12" name="Text 10"/>
          <p:cNvSpPr/>
          <p:nvPr/>
        </p:nvSpPr>
        <p:spPr>
          <a:xfrm>
            <a:off x="14241761" y="9258300"/>
            <a:ext cx="3403114" cy="304800"/>
          </a:xfrm>
          <a:prstGeom prst="rect">
            <a:avLst/>
          </a:prstGeom>
          <a:noFill/>
          <a:ln/>
        </p:spPr>
        <p:txBody>
          <a:bodyPr wrap="square" lIns="25400" tIns="25400" rIns="25400" bIns="25400" rtlCol="0" anchor="t">
            <a:normAutofit/>
          </a:bodyPr>
          <a:lstStyle/>
          <a:p>
            <a:pPr marL="0" indent="0" algn="l">
              <a:buNone/>
            </a:pPr>
            <a:r>
              <a:rPr lang="en-US" sz="1800" dirty="0">
                <a:solidFill>
                  <a:srgbClr val="5C5C58"/>
                </a:solidFill>
                <a:latin typeface="Helvetica" pitchFamily="34" charset="0"/>
                <a:ea typeface="Helvetica" pitchFamily="34" charset="-122"/>
                <a:cs typeface="Helvetica" pitchFamily="34" charset="-120"/>
              </a:rPr>
              <a:t>05 Guardrails</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AFAF8"/>
        </a:solidFill>
        <a:effectLst/>
      </p:bgPr>
    </p:bg>
    <p:spTree>
      <p:nvGrpSpPr>
        <p:cNvPr id="1" name=""/>
        <p:cNvGrpSpPr/>
        <p:nvPr/>
      </p:nvGrpSpPr>
      <p:grpSpPr>
        <a:xfrm>
          <a:off x="0" y="0"/>
          <a:ext cx="0" cy="0"/>
          <a:chOff x="0" y="0"/>
          <a:chExt cx="0" cy="0"/>
        </a:xfrm>
      </p:grpSpPr>
      <p:sp>
        <p:nvSpPr>
          <p:cNvPr id="2" name="Shape 0"/>
          <p:cNvSpPr/>
          <p:nvPr/>
        </p:nvSpPr>
        <p:spPr>
          <a:xfrm>
            <a:off x="952500" y="857250"/>
            <a:ext cx="16383000" cy="25400"/>
          </a:xfrm>
          <a:prstGeom prst="rect">
            <a:avLst/>
          </a:prstGeom>
          <a:solidFill>
            <a:srgbClr val="141414"/>
          </a:solidFill>
          <a:ln/>
        </p:spPr>
      </p:sp>
      <p:sp>
        <p:nvSpPr>
          <p:cNvPr id="3" name="Text 1"/>
          <p:cNvSpPr/>
          <p:nvPr/>
        </p:nvSpPr>
        <p:spPr>
          <a:xfrm>
            <a:off x="952500" y="1073150"/>
            <a:ext cx="3695283" cy="304800"/>
          </a:xfrm>
          <a:prstGeom prst="rect">
            <a:avLst/>
          </a:prstGeom>
          <a:noFill/>
          <a:ln/>
        </p:spPr>
        <p:txBody>
          <a:bodyPr wrap="square" lIns="25400" tIns="25400" rIns="25400" bIns="25400" rtlCol="0" anchor="t">
            <a:normAutofit/>
          </a:bodyPr>
          <a:lstStyle/>
          <a:p>
            <a:pPr marL="0" indent="0" algn="l">
              <a:buNone/>
            </a:pPr>
            <a:r>
              <a:rPr lang="en-US" sz="1800" kern="0" spc="108" dirty="0">
                <a:solidFill>
                  <a:srgbClr val="141414"/>
                </a:solidFill>
                <a:latin typeface="Helvetica" pitchFamily="34" charset="0"/>
                <a:ea typeface="Helvetica" pitchFamily="34" charset="-122"/>
                <a:cs typeface="Helvetica" pitchFamily="34" charset="-120"/>
              </a:rPr>
              <a:t>01 PROBLEM &amp; DISCOVERY</a:t>
            </a:r>
            <a:endParaRPr lang="en-US" sz="1800" dirty="0"/>
          </a:p>
        </p:txBody>
      </p:sp>
      <p:sp>
        <p:nvSpPr>
          <p:cNvPr id="4" name="Text 2"/>
          <p:cNvSpPr/>
          <p:nvPr/>
        </p:nvSpPr>
        <p:spPr>
          <a:xfrm>
            <a:off x="13140630" y="1073150"/>
            <a:ext cx="4614356" cy="304800"/>
          </a:xfrm>
          <a:prstGeom prst="rect">
            <a:avLst/>
          </a:prstGeom>
          <a:noFill/>
          <a:ln/>
        </p:spPr>
        <p:txBody>
          <a:bodyPr wrap="square" lIns="25400" tIns="25400" rIns="25400" bIns="25400" rtlCol="0" anchor="t">
            <a:normAutofit/>
          </a:bodyPr>
          <a:lstStyle/>
          <a:p>
            <a:pPr marL="0" indent="0" algn="l">
              <a:buNone/>
            </a:pPr>
            <a:r>
              <a:rPr lang="en-US" sz="1800" kern="0" spc="108" dirty="0">
                <a:solidFill>
                  <a:srgbClr val="141414"/>
                </a:solidFill>
                <a:latin typeface="Helvetica" pitchFamily="34" charset="0"/>
                <a:ea typeface="Helvetica" pitchFamily="34" charset="-122"/>
                <a:cs typeface="Helvetica" pitchFamily="34" charset="-120"/>
              </a:rPr>
              <a:t>ATLIQ CONTRACT RISK ANALYZER</a:t>
            </a:r>
            <a:endParaRPr lang="en-US" sz="1800" dirty="0"/>
          </a:p>
        </p:txBody>
      </p:sp>
      <p:sp>
        <p:nvSpPr>
          <p:cNvPr id="5" name="Text 3"/>
          <p:cNvSpPr/>
          <p:nvPr/>
        </p:nvSpPr>
        <p:spPr>
          <a:xfrm>
            <a:off x="952500" y="1797050"/>
            <a:ext cx="15716250" cy="696416"/>
          </a:xfrm>
          <a:prstGeom prst="rect">
            <a:avLst/>
          </a:prstGeom>
          <a:noFill/>
          <a:ln/>
        </p:spPr>
        <p:txBody>
          <a:bodyPr wrap="square" lIns="25400" tIns="25400" rIns="25400" bIns="25400" rtlCol="0" anchor="t">
            <a:normAutofit/>
          </a:bodyPr>
          <a:lstStyle/>
          <a:p>
            <a:pPr marL="0" indent="0" algn="l">
              <a:lnSpc>
                <a:spcPct val="94255"/>
              </a:lnSpc>
              <a:buNone/>
            </a:pPr>
            <a:r>
              <a:rPr lang="en-US" sz="4800" b="1" kern="0" spc="-120" dirty="0">
                <a:solidFill>
                  <a:srgbClr val="141414"/>
                </a:solidFill>
                <a:latin typeface="Helvetica" pitchFamily="34" charset="0"/>
                <a:ea typeface="Helvetica" pitchFamily="34" charset="-122"/>
                <a:cs typeface="Helvetica" pitchFamily="34" charset="-120"/>
              </a:rPr>
              <a:t>Contract review at AtliQ depends on one person</a:t>
            </a:r>
            <a:endParaRPr lang="en-US" sz="4800" dirty="0"/>
          </a:p>
        </p:txBody>
      </p:sp>
      <p:sp>
        <p:nvSpPr>
          <p:cNvPr id="6" name="Shape 4"/>
          <p:cNvSpPr/>
          <p:nvPr/>
        </p:nvSpPr>
        <p:spPr>
          <a:xfrm>
            <a:off x="952500" y="5379145"/>
            <a:ext cx="5156200" cy="9525"/>
          </a:xfrm>
          <a:prstGeom prst="rect">
            <a:avLst/>
          </a:prstGeom>
          <a:solidFill>
            <a:srgbClr val="141414"/>
          </a:solidFill>
          <a:ln/>
        </p:spPr>
      </p:sp>
      <p:sp>
        <p:nvSpPr>
          <p:cNvPr id="7" name="Text 5"/>
          <p:cNvSpPr/>
          <p:nvPr/>
        </p:nvSpPr>
        <p:spPr>
          <a:xfrm>
            <a:off x="952500" y="5614095"/>
            <a:ext cx="5671820" cy="1943100"/>
          </a:xfrm>
          <a:prstGeom prst="rect">
            <a:avLst/>
          </a:prstGeom>
          <a:noFill/>
          <a:ln/>
        </p:spPr>
        <p:txBody>
          <a:bodyPr wrap="square" lIns="25400" tIns="25400" rIns="25400" bIns="25400" rtlCol="0" anchor="t">
            <a:normAutofit lnSpcReduction="10000"/>
          </a:bodyPr>
          <a:lstStyle/>
          <a:p>
            <a:pPr marL="0" indent="0" algn="l">
              <a:lnSpc>
                <a:spcPct val="86705"/>
              </a:lnSpc>
              <a:buNone/>
            </a:pPr>
            <a:r>
              <a:rPr lang="en-US" sz="15000" b="1" kern="0" spc="-750" dirty="0">
                <a:solidFill>
                  <a:srgbClr val="141414"/>
                </a:solidFill>
                <a:latin typeface="Helvetica" pitchFamily="34" charset="0"/>
                <a:ea typeface="Helvetica" pitchFamily="34" charset="-122"/>
                <a:cs typeface="Helvetica" pitchFamily="34" charset="-120"/>
              </a:rPr>
              <a:t>20+</a:t>
            </a:r>
            <a:endParaRPr lang="en-US" sz="15000" dirty="0"/>
          </a:p>
        </p:txBody>
      </p:sp>
      <p:sp>
        <p:nvSpPr>
          <p:cNvPr id="8" name="Text 6"/>
          <p:cNvSpPr/>
          <p:nvPr/>
        </p:nvSpPr>
        <p:spPr>
          <a:xfrm>
            <a:off x="952500" y="7671495"/>
            <a:ext cx="5671820" cy="459085"/>
          </a:xfrm>
          <a:prstGeom prst="rect">
            <a:avLst/>
          </a:prstGeom>
          <a:noFill/>
          <a:ln/>
        </p:spPr>
        <p:txBody>
          <a:bodyPr wrap="square" lIns="25400" tIns="25400" rIns="25400" bIns="25400" rtlCol="0" anchor="t">
            <a:normAutofit/>
          </a:bodyPr>
          <a:lstStyle/>
          <a:p>
            <a:pPr marL="0" indent="0" algn="l">
              <a:lnSpc>
                <a:spcPct val="112373"/>
              </a:lnSpc>
              <a:buNone/>
            </a:pPr>
            <a:r>
              <a:rPr lang="en-US" sz="2550" dirty="0">
                <a:solidFill>
                  <a:srgbClr val="141414"/>
                </a:solidFill>
                <a:latin typeface="Helvetica" pitchFamily="34" charset="0"/>
                <a:ea typeface="Helvetica" pitchFamily="34" charset="-122"/>
                <a:cs typeface="Helvetica" pitchFamily="34" charset="-120"/>
              </a:rPr>
              <a:t>contracts a month</a:t>
            </a:r>
            <a:endParaRPr lang="en-US" sz="2550" dirty="0"/>
          </a:p>
        </p:txBody>
      </p:sp>
      <p:sp>
        <p:nvSpPr>
          <p:cNvPr id="9" name="Shape 7"/>
          <p:cNvSpPr/>
          <p:nvPr/>
        </p:nvSpPr>
        <p:spPr>
          <a:xfrm>
            <a:off x="6565900" y="5379145"/>
            <a:ext cx="5156200" cy="9525"/>
          </a:xfrm>
          <a:prstGeom prst="rect">
            <a:avLst/>
          </a:prstGeom>
          <a:solidFill>
            <a:srgbClr val="141414"/>
          </a:solidFill>
          <a:ln/>
        </p:spPr>
      </p:sp>
      <p:sp>
        <p:nvSpPr>
          <p:cNvPr id="10" name="Text 8"/>
          <p:cNvSpPr/>
          <p:nvPr/>
        </p:nvSpPr>
        <p:spPr>
          <a:xfrm>
            <a:off x="6565900" y="5614095"/>
            <a:ext cx="5671820" cy="1943100"/>
          </a:xfrm>
          <a:prstGeom prst="rect">
            <a:avLst/>
          </a:prstGeom>
          <a:noFill/>
          <a:ln/>
        </p:spPr>
        <p:txBody>
          <a:bodyPr wrap="square" lIns="25400" tIns="25400" rIns="25400" bIns="25400" rtlCol="0" anchor="t">
            <a:normAutofit lnSpcReduction="10000"/>
          </a:bodyPr>
          <a:lstStyle/>
          <a:p>
            <a:pPr marL="0" indent="0" algn="l">
              <a:lnSpc>
                <a:spcPct val="86705"/>
              </a:lnSpc>
              <a:buNone/>
            </a:pPr>
            <a:r>
              <a:rPr lang="en-US" sz="15000" b="1" kern="0" spc="-750" dirty="0">
                <a:solidFill>
                  <a:srgbClr val="141414"/>
                </a:solidFill>
                <a:latin typeface="Helvetica" pitchFamily="34" charset="0"/>
                <a:ea typeface="Helvetica" pitchFamily="34" charset="-122"/>
                <a:cs typeface="Helvetica" pitchFamily="34" charset="-120"/>
              </a:rPr>
              <a:t>3h</a:t>
            </a:r>
            <a:endParaRPr lang="en-US" sz="15000" dirty="0"/>
          </a:p>
        </p:txBody>
      </p:sp>
      <p:sp>
        <p:nvSpPr>
          <p:cNvPr id="11" name="Text 9"/>
          <p:cNvSpPr/>
          <p:nvPr/>
        </p:nvSpPr>
        <p:spPr>
          <a:xfrm>
            <a:off x="6565900" y="7671495"/>
            <a:ext cx="5671820" cy="459085"/>
          </a:xfrm>
          <a:prstGeom prst="rect">
            <a:avLst/>
          </a:prstGeom>
          <a:noFill/>
          <a:ln/>
        </p:spPr>
        <p:txBody>
          <a:bodyPr wrap="square" lIns="25400" tIns="25400" rIns="25400" bIns="25400" rtlCol="0" anchor="t">
            <a:normAutofit/>
          </a:bodyPr>
          <a:lstStyle/>
          <a:p>
            <a:pPr marL="0" indent="0" algn="l">
              <a:lnSpc>
                <a:spcPct val="112373"/>
              </a:lnSpc>
              <a:buNone/>
            </a:pPr>
            <a:r>
              <a:rPr lang="en-US" sz="2550" dirty="0">
                <a:solidFill>
                  <a:srgbClr val="141414"/>
                </a:solidFill>
                <a:latin typeface="Helvetica" pitchFamily="34" charset="0"/>
                <a:ea typeface="Helvetica" pitchFamily="34" charset="-122"/>
                <a:cs typeface="Helvetica" pitchFamily="34" charset="-120"/>
              </a:rPr>
              <a:t>of reading per contract</a:t>
            </a:r>
            <a:endParaRPr lang="en-US" sz="2550" dirty="0"/>
          </a:p>
        </p:txBody>
      </p:sp>
      <p:sp>
        <p:nvSpPr>
          <p:cNvPr id="12" name="Shape 10"/>
          <p:cNvSpPr/>
          <p:nvPr/>
        </p:nvSpPr>
        <p:spPr>
          <a:xfrm>
            <a:off x="12179301" y="5379145"/>
            <a:ext cx="5156200" cy="9525"/>
          </a:xfrm>
          <a:prstGeom prst="rect">
            <a:avLst/>
          </a:prstGeom>
          <a:solidFill>
            <a:srgbClr val="141414"/>
          </a:solidFill>
          <a:ln/>
        </p:spPr>
      </p:sp>
      <p:sp>
        <p:nvSpPr>
          <p:cNvPr id="13" name="Text 11"/>
          <p:cNvSpPr/>
          <p:nvPr/>
        </p:nvSpPr>
        <p:spPr>
          <a:xfrm>
            <a:off x="12179301" y="5614095"/>
            <a:ext cx="5671820" cy="1943100"/>
          </a:xfrm>
          <a:prstGeom prst="rect">
            <a:avLst/>
          </a:prstGeom>
          <a:noFill/>
          <a:ln/>
        </p:spPr>
        <p:txBody>
          <a:bodyPr wrap="square" lIns="25400" tIns="25400" rIns="25400" bIns="25400" rtlCol="0" anchor="t">
            <a:normAutofit lnSpcReduction="10000"/>
          </a:bodyPr>
          <a:lstStyle/>
          <a:p>
            <a:pPr marL="0" indent="0" algn="l">
              <a:lnSpc>
                <a:spcPct val="86705"/>
              </a:lnSpc>
              <a:buNone/>
            </a:pPr>
            <a:r>
              <a:rPr lang="en-US" sz="15000" b="1" kern="0" spc="-750" dirty="0">
                <a:solidFill>
                  <a:srgbClr val="141414"/>
                </a:solidFill>
                <a:latin typeface="Helvetica" pitchFamily="34" charset="0"/>
                <a:ea typeface="Helvetica" pitchFamily="34" charset="-122"/>
                <a:cs typeface="Helvetica" pitchFamily="34" charset="-120"/>
              </a:rPr>
              <a:t>1wk</a:t>
            </a:r>
            <a:endParaRPr lang="en-US" sz="15000" dirty="0"/>
          </a:p>
        </p:txBody>
      </p:sp>
      <p:sp>
        <p:nvSpPr>
          <p:cNvPr id="14" name="Text 12"/>
          <p:cNvSpPr/>
          <p:nvPr/>
        </p:nvSpPr>
        <p:spPr>
          <a:xfrm>
            <a:off x="12179301" y="7671495"/>
            <a:ext cx="5671820" cy="459085"/>
          </a:xfrm>
          <a:prstGeom prst="rect">
            <a:avLst/>
          </a:prstGeom>
          <a:noFill/>
          <a:ln/>
        </p:spPr>
        <p:txBody>
          <a:bodyPr wrap="square" lIns="25400" tIns="25400" rIns="25400" bIns="25400" rtlCol="0" anchor="t">
            <a:normAutofit/>
          </a:bodyPr>
          <a:lstStyle/>
          <a:p>
            <a:pPr marL="0" indent="0" algn="l">
              <a:lnSpc>
                <a:spcPct val="112373"/>
              </a:lnSpc>
              <a:buNone/>
            </a:pPr>
            <a:r>
              <a:rPr lang="en-US" sz="2550" dirty="0">
                <a:solidFill>
                  <a:srgbClr val="141414"/>
                </a:solidFill>
                <a:latin typeface="Helvetica" pitchFamily="34" charset="0"/>
                <a:ea typeface="Helvetica" pitchFamily="34" charset="-122"/>
                <a:cs typeface="Helvetica" pitchFamily="34" charset="-120"/>
              </a:rPr>
              <a:t>in queue before a decision</a:t>
            </a:r>
            <a:endParaRPr lang="en-US" sz="2550" dirty="0"/>
          </a:p>
        </p:txBody>
      </p:sp>
      <p:sp>
        <p:nvSpPr>
          <p:cNvPr id="15" name="Text 13"/>
          <p:cNvSpPr/>
          <p:nvPr/>
        </p:nvSpPr>
        <p:spPr>
          <a:xfrm>
            <a:off x="952500" y="8778280"/>
            <a:ext cx="13735050" cy="784820"/>
          </a:xfrm>
          <a:prstGeom prst="rect">
            <a:avLst/>
          </a:prstGeom>
          <a:noFill/>
          <a:ln/>
        </p:spPr>
        <p:txBody>
          <a:bodyPr wrap="square" lIns="25400" tIns="25400" rIns="25400" bIns="25400" rtlCol="0" anchor="t">
            <a:normAutofit/>
          </a:bodyPr>
          <a:lstStyle/>
          <a:p>
            <a:pPr marL="0" indent="0" algn="l">
              <a:lnSpc>
                <a:spcPct val="122500"/>
              </a:lnSpc>
              <a:buNone/>
            </a:pPr>
            <a:r>
              <a:rPr lang="en-US" sz="2100" dirty="0">
                <a:solidFill>
                  <a:srgbClr val="5C5C58"/>
                </a:solidFill>
                <a:latin typeface="Helvetica" pitchFamily="34" charset="0"/>
                <a:ea typeface="Helvetica" pitchFamily="34" charset="-122"/>
                <a:cs typeface="Helvetica" pitchFamily="34" charset="-120"/>
              </a:rPr>
              <a:t>AtliQ has no dedicated legal or compliance team. Every material contract is read, reviewed and signed by Karandeep, the CEO.</a:t>
            </a:r>
            <a:endParaRPr lang="en-US" sz="2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AFAF8"/>
        </a:solidFill>
        <a:effectLst/>
      </p:bgPr>
    </p:bg>
    <p:spTree>
      <p:nvGrpSpPr>
        <p:cNvPr id="1" name=""/>
        <p:cNvGrpSpPr/>
        <p:nvPr/>
      </p:nvGrpSpPr>
      <p:grpSpPr>
        <a:xfrm>
          <a:off x="0" y="0"/>
          <a:ext cx="0" cy="0"/>
          <a:chOff x="0" y="0"/>
          <a:chExt cx="0" cy="0"/>
        </a:xfrm>
      </p:grpSpPr>
      <p:sp>
        <p:nvSpPr>
          <p:cNvPr id="2" name="Shape 0"/>
          <p:cNvSpPr/>
          <p:nvPr/>
        </p:nvSpPr>
        <p:spPr>
          <a:xfrm>
            <a:off x="952500" y="857250"/>
            <a:ext cx="16383000" cy="25400"/>
          </a:xfrm>
          <a:prstGeom prst="rect">
            <a:avLst/>
          </a:prstGeom>
          <a:solidFill>
            <a:srgbClr val="141414"/>
          </a:solidFill>
          <a:ln/>
        </p:spPr>
      </p:sp>
      <p:sp>
        <p:nvSpPr>
          <p:cNvPr id="3" name="Text 1"/>
          <p:cNvSpPr/>
          <p:nvPr/>
        </p:nvSpPr>
        <p:spPr>
          <a:xfrm>
            <a:off x="952500" y="1073150"/>
            <a:ext cx="3695283" cy="304800"/>
          </a:xfrm>
          <a:prstGeom prst="rect">
            <a:avLst/>
          </a:prstGeom>
          <a:noFill/>
          <a:ln/>
        </p:spPr>
        <p:txBody>
          <a:bodyPr wrap="square" lIns="25400" tIns="25400" rIns="25400" bIns="25400" rtlCol="0" anchor="t">
            <a:normAutofit/>
          </a:bodyPr>
          <a:lstStyle/>
          <a:p>
            <a:pPr marL="0" indent="0" algn="l">
              <a:buNone/>
            </a:pPr>
            <a:r>
              <a:rPr lang="en-US" sz="1800" kern="0" spc="108" dirty="0">
                <a:solidFill>
                  <a:srgbClr val="141414"/>
                </a:solidFill>
                <a:latin typeface="Helvetica" pitchFamily="34" charset="0"/>
                <a:ea typeface="Helvetica" pitchFamily="34" charset="-122"/>
                <a:cs typeface="Helvetica" pitchFamily="34" charset="-120"/>
              </a:rPr>
              <a:t>01 PROBLEM &amp; DISCOVERY</a:t>
            </a:r>
            <a:endParaRPr lang="en-US" sz="1800" dirty="0"/>
          </a:p>
        </p:txBody>
      </p:sp>
      <p:sp>
        <p:nvSpPr>
          <p:cNvPr id="4" name="Text 2"/>
          <p:cNvSpPr/>
          <p:nvPr/>
        </p:nvSpPr>
        <p:spPr>
          <a:xfrm>
            <a:off x="13140630" y="1073150"/>
            <a:ext cx="4614356" cy="304800"/>
          </a:xfrm>
          <a:prstGeom prst="rect">
            <a:avLst/>
          </a:prstGeom>
          <a:noFill/>
          <a:ln/>
        </p:spPr>
        <p:txBody>
          <a:bodyPr wrap="square" lIns="25400" tIns="25400" rIns="25400" bIns="25400" rtlCol="0" anchor="t">
            <a:normAutofit/>
          </a:bodyPr>
          <a:lstStyle/>
          <a:p>
            <a:pPr marL="0" indent="0" algn="l">
              <a:buNone/>
            </a:pPr>
            <a:r>
              <a:rPr lang="en-US" sz="1800" kern="0" spc="108" dirty="0">
                <a:solidFill>
                  <a:srgbClr val="141414"/>
                </a:solidFill>
                <a:latin typeface="Helvetica" pitchFamily="34" charset="0"/>
                <a:ea typeface="Helvetica" pitchFamily="34" charset="-122"/>
                <a:cs typeface="Helvetica" pitchFamily="34" charset="-120"/>
              </a:rPr>
              <a:t>ATLIQ CONTRACT RISK ANALYZER</a:t>
            </a:r>
            <a:endParaRPr lang="en-US" sz="1800" dirty="0"/>
          </a:p>
        </p:txBody>
      </p:sp>
      <p:sp>
        <p:nvSpPr>
          <p:cNvPr id="5" name="Text 3"/>
          <p:cNvSpPr/>
          <p:nvPr/>
        </p:nvSpPr>
        <p:spPr>
          <a:xfrm>
            <a:off x="952500" y="1797050"/>
            <a:ext cx="14716125" cy="1354733"/>
          </a:xfrm>
          <a:prstGeom prst="rect">
            <a:avLst/>
          </a:prstGeom>
          <a:noFill/>
          <a:ln/>
        </p:spPr>
        <p:txBody>
          <a:bodyPr wrap="square" lIns="25400" tIns="25400" rIns="25400" bIns="25400" rtlCol="0" anchor="t">
            <a:normAutofit/>
          </a:bodyPr>
          <a:lstStyle/>
          <a:p>
            <a:pPr marL="0" indent="0" algn="l">
              <a:lnSpc>
                <a:spcPct val="94255"/>
              </a:lnSpc>
              <a:buNone/>
            </a:pPr>
            <a:r>
              <a:rPr lang="en-US" sz="4800" b="1" kern="0" spc="-120" dirty="0">
                <a:solidFill>
                  <a:srgbClr val="141414"/>
                </a:solidFill>
                <a:latin typeface="Helvetica" pitchFamily="34" charset="0"/>
                <a:ea typeface="Helvetica" pitchFamily="34" charset="-122"/>
                <a:cs typeface="Helvetica" pitchFamily="34" charset="-120"/>
              </a:rPr>
              <a:t>The problem has two halves: reading time and scattered context</a:t>
            </a:r>
            <a:endParaRPr lang="en-US" sz="4800" dirty="0"/>
          </a:p>
        </p:txBody>
      </p:sp>
      <p:sp>
        <p:nvSpPr>
          <p:cNvPr id="6" name="Shape 4"/>
          <p:cNvSpPr/>
          <p:nvPr/>
        </p:nvSpPr>
        <p:spPr>
          <a:xfrm>
            <a:off x="9137650" y="3647083"/>
            <a:ext cx="9525" cy="5877917"/>
          </a:xfrm>
          <a:prstGeom prst="rect">
            <a:avLst/>
          </a:prstGeom>
          <a:solidFill>
            <a:srgbClr val="141414"/>
          </a:solidFill>
          <a:ln/>
        </p:spPr>
      </p:sp>
      <p:sp>
        <p:nvSpPr>
          <p:cNvPr id="7" name="Text 5"/>
          <p:cNvSpPr/>
          <p:nvPr/>
        </p:nvSpPr>
        <p:spPr>
          <a:xfrm>
            <a:off x="952500" y="3647083"/>
            <a:ext cx="8333105" cy="304800"/>
          </a:xfrm>
          <a:prstGeom prst="rect">
            <a:avLst/>
          </a:prstGeom>
          <a:noFill/>
          <a:ln/>
        </p:spPr>
        <p:txBody>
          <a:bodyPr wrap="square" lIns="25400" tIns="25400" rIns="25400" bIns="25400" rtlCol="0" anchor="t">
            <a:normAutofit/>
          </a:bodyPr>
          <a:lstStyle/>
          <a:p>
            <a:pPr marL="0" indent="0" algn="l">
              <a:buNone/>
            </a:pPr>
            <a:r>
              <a:rPr lang="en-US" sz="1800" kern="0" spc="108" dirty="0">
                <a:solidFill>
                  <a:srgbClr val="5C5C58"/>
                </a:solidFill>
                <a:latin typeface="Helvetica" pitchFamily="34" charset="0"/>
                <a:ea typeface="Helvetica" pitchFamily="34" charset="-122"/>
                <a:cs typeface="Helvetica" pitchFamily="34" charset="-120"/>
              </a:rPr>
              <a:t>A · REVIEW TIME</a:t>
            </a:r>
            <a:endParaRPr lang="en-US" sz="1800" dirty="0"/>
          </a:p>
        </p:txBody>
      </p:sp>
      <p:sp>
        <p:nvSpPr>
          <p:cNvPr id="8" name="Text 6"/>
          <p:cNvSpPr/>
          <p:nvPr/>
        </p:nvSpPr>
        <p:spPr>
          <a:xfrm>
            <a:off x="952500" y="4180483"/>
            <a:ext cx="7802817" cy="1043781"/>
          </a:xfrm>
          <a:prstGeom prst="rect">
            <a:avLst/>
          </a:prstGeom>
          <a:noFill/>
          <a:ln/>
        </p:spPr>
        <p:txBody>
          <a:bodyPr wrap="square" lIns="25400" tIns="25400" rIns="25400" bIns="25400" rtlCol="0" anchor="t">
            <a:normAutofit/>
          </a:bodyPr>
          <a:lstStyle/>
          <a:p>
            <a:pPr marL="0" indent="0" algn="l">
              <a:lnSpc>
                <a:spcPct val="104211"/>
              </a:lnSpc>
              <a:buNone/>
            </a:pPr>
            <a:r>
              <a:rPr lang="en-US" sz="3300" b="1" kern="0" spc="-33" dirty="0">
                <a:solidFill>
                  <a:srgbClr val="141414"/>
                </a:solidFill>
                <a:latin typeface="Helvetica" pitchFamily="34" charset="0"/>
                <a:ea typeface="Helvetica" pitchFamily="34" charset="-122"/>
                <a:cs typeface="Helvetica" pitchFamily="34" charset="-120"/>
              </a:rPr>
              <a:t>Every contract is effectively a fresh contract.</a:t>
            </a:r>
            <a:endParaRPr lang="en-US" sz="3300" dirty="0"/>
          </a:p>
        </p:txBody>
      </p:sp>
      <p:sp>
        <p:nvSpPr>
          <p:cNvPr id="9" name="Text 7"/>
          <p:cNvSpPr/>
          <p:nvPr/>
        </p:nvSpPr>
        <p:spPr>
          <a:xfrm>
            <a:off x="952500" y="5452864"/>
            <a:ext cx="7802817" cy="1398091"/>
          </a:xfrm>
          <a:prstGeom prst="rect">
            <a:avLst/>
          </a:prstGeom>
          <a:noFill/>
          <a:ln/>
        </p:spPr>
        <p:txBody>
          <a:bodyPr wrap="square" lIns="25400" tIns="25400" rIns="25400" bIns="25400" rtlCol="0" anchor="t">
            <a:normAutofit/>
          </a:bodyPr>
          <a:lstStyle/>
          <a:p>
            <a:pPr marL="0" indent="0" algn="l">
              <a:lnSpc>
                <a:spcPct val="121017"/>
              </a:lnSpc>
              <a:buNone/>
            </a:pPr>
            <a:r>
              <a:rPr lang="en-US" sz="2550" dirty="0">
                <a:solidFill>
                  <a:srgbClr val="141414"/>
                </a:solidFill>
                <a:latin typeface="Helvetica" pitchFamily="34" charset="0"/>
                <a:ea typeface="Helvetica" pitchFamily="34" charset="-122"/>
                <a:cs typeface="Helvetica" pitchFamily="34" charset="-120"/>
              </a:rPr>
              <a:t>Each counterparty brings its own template and adds its own clauses so every clause has to be read.</a:t>
            </a:r>
            <a:endParaRPr lang="en-US" sz="2550" dirty="0"/>
          </a:p>
        </p:txBody>
      </p:sp>
      <p:sp>
        <p:nvSpPr>
          <p:cNvPr id="10" name="Text 8"/>
          <p:cNvSpPr/>
          <p:nvPr/>
        </p:nvSpPr>
        <p:spPr>
          <a:xfrm>
            <a:off x="9753600" y="3647083"/>
            <a:ext cx="8340090" cy="304800"/>
          </a:xfrm>
          <a:prstGeom prst="rect">
            <a:avLst/>
          </a:prstGeom>
          <a:noFill/>
          <a:ln/>
        </p:spPr>
        <p:txBody>
          <a:bodyPr wrap="square" lIns="25400" tIns="25400" rIns="25400" bIns="25400" rtlCol="0" anchor="t">
            <a:normAutofit/>
          </a:bodyPr>
          <a:lstStyle/>
          <a:p>
            <a:pPr marL="0" indent="0" algn="l">
              <a:buNone/>
            </a:pPr>
            <a:r>
              <a:rPr lang="en-US" sz="1800" kern="0" spc="108" dirty="0">
                <a:solidFill>
                  <a:srgbClr val="5C5C58"/>
                </a:solidFill>
                <a:latin typeface="Helvetica" pitchFamily="34" charset="0"/>
                <a:ea typeface="Helvetica" pitchFamily="34" charset="-122"/>
                <a:cs typeface="Helvetica" pitchFamily="34" charset="-120"/>
              </a:rPr>
              <a:t>B · DISTRIBUTED CONTEXT</a:t>
            </a:r>
            <a:endParaRPr lang="en-US" sz="1800" dirty="0"/>
          </a:p>
        </p:txBody>
      </p:sp>
      <p:sp>
        <p:nvSpPr>
          <p:cNvPr id="11" name="Text 9"/>
          <p:cNvSpPr/>
          <p:nvPr/>
        </p:nvSpPr>
        <p:spPr>
          <a:xfrm>
            <a:off x="9753600" y="4180483"/>
            <a:ext cx="7809357" cy="1043781"/>
          </a:xfrm>
          <a:prstGeom prst="rect">
            <a:avLst/>
          </a:prstGeom>
          <a:noFill/>
          <a:ln/>
        </p:spPr>
        <p:txBody>
          <a:bodyPr wrap="square" lIns="25400" tIns="25400" rIns="25400" bIns="25400" rtlCol="0" anchor="t">
            <a:normAutofit/>
          </a:bodyPr>
          <a:lstStyle/>
          <a:p>
            <a:pPr marL="0" indent="0" algn="l">
              <a:lnSpc>
                <a:spcPct val="104211"/>
              </a:lnSpc>
              <a:buNone/>
            </a:pPr>
            <a:r>
              <a:rPr lang="en-US" sz="3300" b="1" kern="0" spc="-33" dirty="0">
                <a:solidFill>
                  <a:srgbClr val="141414"/>
                </a:solidFill>
                <a:latin typeface="Helvetica" pitchFamily="34" charset="0"/>
                <a:ea typeface="Helvetica" pitchFamily="34" charset="-122"/>
                <a:cs typeface="Helvetica" pitchFamily="34" charset="-120"/>
              </a:rPr>
              <a:t>Terms change in channels the contract never sees.</a:t>
            </a:r>
            <a:endParaRPr lang="en-US" sz="3300" dirty="0"/>
          </a:p>
        </p:txBody>
      </p:sp>
      <p:sp>
        <p:nvSpPr>
          <p:cNvPr id="12" name="Text 10"/>
          <p:cNvSpPr/>
          <p:nvPr/>
        </p:nvSpPr>
        <p:spPr>
          <a:xfrm>
            <a:off x="9753600" y="5452864"/>
            <a:ext cx="7809357" cy="1398091"/>
          </a:xfrm>
          <a:prstGeom prst="rect">
            <a:avLst/>
          </a:prstGeom>
          <a:noFill/>
          <a:ln/>
        </p:spPr>
        <p:txBody>
          <a:bodyPr wrap="square" lIns="25400" tIns="25400" rIns="25400" bIns="25400" rtlCol="0" anchor="t">
            <a:normAutofit/>
          </a:bodyPr>
          <a:lstStyle/>
          <a:p>
            <a:pPr marL="0" indent="0" algn="l">
              <a:lnSpc>
                <a:spcPct val="121017"/>
              </a:lnSpc>
              <a:buNone/>
            </a:pPr>
            <a:r>
              <a:rPr lang="en-US" sz="2550" dirty="0">
                <a:solidFill>
                  <a:srgbClr val="141414"/>
                </a:solidFill>
                <a:latin typeface="Helvetica" pitchFamily="34" charset="0"/>
                <a:ea typeface="Helvetica" pitchFamily="34" charset="-122"/>
                <a:cs typeface="Helvetica" pitchFamily="34" charset="-120"/>
              </a:rPr>
              <a:t>Rates and terms are negotiated in parallel. An ad hoc call leaves no minutes but can still change the deal.</a:t>
            </a:r>
            <a:endParaRPr lang="en-US" sz="2550" dirty="0"/>
          </a:p>
        </p:txBody>
      </p:sp>
      <p:sp>
        <p:nvSpPr>
          <p:cNvPr id="13" name="Shape 11"/>
          <p:cNvSpPr/>
          <p:nvPr/>
        </p:nvSpPr>
        <p:spPr>
          <a:xfrm>
            <a:off x="9753600" y="7193856"/>
            <a:ext cx="1586012" cy="469900"/>
          </a:xfrm>
          <a:prstGeom prst="rect">
            <a:avLst/>
          </a:prstGeom>
          <a:ln w="6350">
            <a:solidFill>
              <a:srgbClr val="141414"/>
            </a:solidFill>
            <a:prstDash val="solid"/>
          </a:ln>
        </p:spPr>
      </p:sp>
      <p:sp>
        <p:nvSpPr>
          <p:cNvPr id="14" name="Text 12"/>
          <p:cNvSpPr/>
          <p:nvPr/>
        </p:nvSpPr>
        <p:spPr>
          <a:xfrm>
            <a:off x="9931400" y="7276406"/>
            <a:ext cx="1306612" cy="342900"/>
          </a:xfrm>
          <a:prstGeom prst="rect">
            <a:avLst/>
          </a:prstGeom>
          <a:noFill/>
          <a:ln/>
        </p:spPr>
        <p:txBody>
          <a:bodyPr wrap="square" lIns="25400" tIns="25400" rIns="25400" bIns="25400" rtlCol="0" anchor="t">
            <a:normAutofit/>
          </a:bodyPr>
          <a:lstStyle/>
          <a:p>
            <a:pPr marL="0" indent="0" algn="l">
              <a:buNone/>
            </a:pPr>
            <a:r>
              <a:rPr lang="en-US" sz="2100" dirty="0">
                <a:solidFill>
                  <a:srgbClr val="141414"/>
                </a:solidFill>
                <a:latin typeface="Helvetica" pitchFamily="34" charset="0"/>
                <a:ea typeface="Helvetica" pitchFamily="34" charset="-122"/>
                <a:cs typeface="Helvetica" pitchFamily="34" charset="-120"/>
              </a:rPr>
              <a:t>WhatsApp</a:t>
            </a:r>
            <a:endParaRPr lang="en-US" sz="2100" dirty="0"/>
          </a:p>
        </p:txBody>
      </p:sp>
      <p:sp>
        <p:nvSpPr>
          <p:cNvPr id="15" name="Shape 13"/>
          <p:cNvSpPr/>
          <p:nvPr/>
        </p:nvSpPr>
        <p:spPr>
          <a:xfrm>
            <a:off x="11453912" y="7193856"/>
            <a:ext cx="1022548" cy="469900"/>
          </a:xfrm>
          <a:prstGeom prst="rect">
            <a:avLst/>
          </a:prstGeom>
          <a:ln w="6350">
            <a:solidFill>
              <a:srgbClr val="141414"/>
            </a:solidFill>
            <a:prstDash val="solid"/>
          </a:ln>
        </p:spPr>
      </p:sp>
      <p:sp>
        <p:nvSpPr>
          <p:cNvPr id="16" name="Text 14"/>
          <p:cNvSpPr/>
          <p:nvPr/>
        </p:nvSpPr>
        <p:spPr>
          <a:xfrm>
            <a:off x="11631712" y="7276406"/>
            <a:ext cx="743148" cy="342900"/>
          </a:xfrm>
          <a:prstGeom prst="rect">
            <a:avLst/>
          </a:prstGeom>
          <a:noFill/>
          <a:ln/>
        </p:spPr>
        <p:txBody>
          <a:bodyPr wrap="square" lIns="25400" tIns="25400" rIns="25400" bIns="25400" rtlCol="0" anchor="t">
            <a:normAutofit/>
          </a:bodyPr>
          <a:lstStyle/>
          <a:p>
            <a:pPr marL="0" indent="0" algn="l">
              <a:buNone/>
            </a:pPr>
            <a:r>
              <a:rPr lang="en-US" sz="2100" dirty="0">
                <a:solidFill>
                  <a:srgbClr val="141414"/>
                </a:solidFill>
                <a:latin typeface="Helvetica" pitchFamily="34" charset="0"/>
                <a:ea typeface="Helvetica" pitchFamily="34" charset="-122"/>
                <a:cs typeface="Helvetica" pitchFamily="34" charset="-120"/>
              </a:rPr>
              <a:t>Email</a:t>
            </a:r>
            <a:endParaRPr lang="en-US" sz="2100" dirty="0"/>
          </a:p>
        </p:txBody>
      </p:sp>
      <p:sp>
        <p:nvSpPr>
          <p:cNvPr id="17" name="Shape 15"/>
          <p:cNvSpPr/>
          <p:nvPr/>
        </p:nvSpPr>
        <p:spPr>
          <a:xfrm>
            <a:off x="12590761" y="7193856"/>
            <a:ext cx="1141115" cy="469900"/>
          </a:xfrm>
          <a:prstGeom prst="rect">
            <a:avLst/>
          </a:prstGeom>
          <a:ln w="6350">
            <a:solidFill>
              <a:srgbClr val="141414"/>
            </a:solidFill>
            <a:prstDash val="solid"/>
          </a:ln>
        </p:spPr>
      </p:sp>
      <p:sp>
        <p:nvSpPr>
          <p:cNvPr id="18" name="Text 16"/>
          <p:cNvSpPr/>
          <p:nvPr/>
        </p:nvSpPr>
        <p:spPr>
          <a:xfrm>
            <a:off x="12768561" y="7276406"/>
            <a:ext cx="861715" cy="342900"/>
          </a:xfrm>
          <a:prstGeom prst="rect">
            <a:avLst/>
          </a:prstGeom>
          <a:noFill/>
          <a:ln/>
        </p:spPr>
        <p:txBody>
          <a:bodyPr wrap="square" lIns="25400" tIns="25400" rIns="25400" bIns="25400" rtlCol="0" anchor="t">
            <a:normAutofit/>
          </a:bodyPr>
          <a:lstStyle/>
          <a:p>
            <a:pPr marL="0" indent="0" algn="l">
              <a:buNone/>
            </a:pPr>
            <a:r>
              <a:rPr lang="en-US" sz="2100" dirty="0">
                <a:solidFill>
                  <a:srgbClr val="141414"/>
                </a:solidFill>
                <a:latin typeface="Helvetica" pitchFamily="34" charset="0"/>
                <a:ea typeface="Helvetica" pitchFamily="34" charset="-122"/>
                <a:cs typeface="Helvetica" pitchFamily="34" charset="-120"/>
              </a:rPr>
              <a:t>Teams</a:t>
            </a:r>
            <a:endParaRPr lang="en-US" sz="2100" dirty="0"/>
          </a:p>
        </p:txBody>
      </p:sp>
      <p:sp>
        <p:nvSpPr>
          <p:cNvPr id="19" name="Shape 17"/>
          <p:cNvSpPr/>
          <p:nvPr/>
        </p:nvSpPr>
        <p:spPr>
          <a:xfrm>
            <a:off x="13846176" y="7193856"/>
            <a:ext cx="1007765" cy="469900"/>
          </a:xfrm>
          <a:prstGeom prst="rect">
            <a:avLst/>
          </a:prstGeom>
          <a:ln w="6350">
            <a:solidFill>
              <a:srgbClr val="141414"/>
            </a:solidFill>
            <a:prstDash val="solid"/>
          </a:ln>
        </p:spPr>
      </p:sp>
      <p:sp>
        <p:nvSpPr>
          <p:cNvPr id="20" name="Text 18"/>
          <p:cNvSpPr/>
          <p:nvPr/>
        </p:nvSpPr>
        <p:spPr>
          <a:xfrm>
            <a:off x="14023976" y="7276406"/>
            <a:ext cx="728365" cy="342900"/>
          </a:xfrm>
          <a:prstGeom prst="rect">
            <a:avLst/>
          </a:prstGeom>
          <a:noFill/>
          <a:ln/>
        </p:spPr>
        <p:txBody>
          <a:bodyPr wrap="square" lIns="25400" tIns="25400" rIns="25400" bIns="25400" rtlCol="0" anchor="t">
            <a:normAutofit/>
          </a:bodyPr>
          <a:lstStyle/>
          <a:p>
            <a:pPr marL="0" indent="0" algn="l">
              <a:buNone/>
            </a:pPr>
            <a:r>
              <a:rPr lang="en-US" sz="2100" dirty="0">
                <a:solidFill>
                  <a:srgbClr val="141414"/>
                </a:solidFill>
                <a:latin typeface="Helvetica" pitchFamily="34" charset="0"/>
                <a:ea typeface="Helvetica" pitchFamily="34" charset="-122"/>
                <a:cs typeface="Helvetica" pitchFamily="34" charset="-120"/>
              </a:rPr>
              <a:t>Slack</a:t>
            </a:r>
            <a:endParaRPr lang="en-US" sz="2100" dirty="0"/>
          </a:p>
        </p:txBody>
      </p:sp>
      <p:sp>
        <p:nvSpPr>
          <p:cNvPr id="21" name="Shape 19"/>
          <p:cNvSpPr/>
          <p:nvPr/>
        </p:nvSpPr>
        <p:spPr>
          <a:xfrm>
            <a:off x="14968240" y="7193856"/>
            <a:ext cx="1126827" cy="469900"/>
          </a:xfrm>
          <a:prstGeom prst="rect">
            <a:avLst/>
          </a:prstGeom>
          <a:ln w="6350">
            <a:solidFill>
              <a:srgbClr val="141414"/>
            </a:solidFill>
            <a:prstDash val="solid"/>
          </a:ln>
        </p:spPr>
      </p:sp>
      <p:sp>
        <p:nvSpPr>
          <p:cNvPr id="22" name="Text 20"/>
          <p:cNvSpPr/>
          <p:nvPr/>
        </p:nvSpPr>
        <p:spPr>
          <a:xfrm>
            <a:off x="15146040" y="7276406"/>
            <a:ext cx="847427" cy="342900"/>
          </a:xfrm>
          <a:prstGeom prst="rect">
            <a:avLst/>
          </a:prstGeom>
          <a:noFill/>
          <a:ln/>
        </p:spPr>
        <p:txBody>
          <a:bodyPr wrap="square" lIns="25400" tIns="25400" rIns="25400" bIns="25400" rtlCol="0" anchor="t">
            <a:normAutofit/>
          </a:bodyPr>
          <a:lstStyle/>
          <a:p>
            <a:pPr marL="0" indent="0" algn="l">
              <a:buNone/>
            </a:pPr>
            <a:r>
              <a:rPr lang="en-US" sz="2100" dirty="0">
                <a:solidFill>
                  <a:srgbClr val="141414"/>
                </a:solidFill>
                <a:latin typeface="Helvetica" pitchFamily="34" charset="0"/>
                <a:ea typeface="Helvetica" pitchFamily="34" charset="-122"/>
                <a:cs typeface="Helvetica" pitchFamily="34" charset="-120"/>
              </a:rPr>
              <a:t>Phone</a:t>
            </a:r>
            <a:endParaRPr lang="en-US" sz="2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AFAF8"/>
        </a:solidFill>
        <a:effectLst/>
      </p:bgPr>
    </p:bg>
    <p:spTree>
      <p:nvGrpSpPr>
        <p:cNvPr id="1" name=""/>
        <p:cNvGrpSpPr/>
        <p:nvPr/>
      </p:nvGrpSpPr>
      <p:grpSpPr>
        <a:xfrm>
          <a:off x="0" y="0"/>
          <a:ext cx="0" cy="0"/>
          <a:chOff x="0" y="0"/>
          <a:chExt cx="0" cy="0"/>
        </a:xfrm>
      </p:grpSpPr>
      <p:sp>
        <p:nvSpPr>
          <p:cNvPr id="2" name="Shape 0"/>
          <p:cNvSpPr/>
          <p:nvPr/>
        </p:nvSpPr>
        <p:spPr>
          <a:xfrm>
            <a:off x="952500" y="857250"/>
            <a:ext cx="16383000" cy="25400"/>
          </a:xfrm>
          <a:prstGeom prst="rect">
            <a:avLst/>
          </a:prstGeom>
          <a:solidFill>
            <a:srgbClr val="141414"/>
          </a:solidFill>
          <a:ln/>
        </p:spPr>
      </p:sp>
      <p:sp>
        <p:nvSpPr>
          <p:cNvPr id="3" name="Text 1"/>
          <p:cNvSpPr/>
          <p:nvPr/>
        </p:nvSpPr>
        <p:spPr>
          <a:xfrm>
            <a:off x="952500" y="1073150"/>
            <a:ext cx="3695283" cy="304800"/>
          </a:xfrm>
          <a:prstGeom prst="rect">
            <a:avLst/>
          </a:prstGeom>
          <a:noFill/>
          <a:ln/>
        </p:spPr>
        <p:txBody>
          <a:bodyPr wrap="square" lIns="25400" tIns="25400" rIns="25400" bIns="25400" rtlCol="0" anchor="t">
            <a:normAutofit/>
          </a:bodyPr>
          <a:lstStyle/>
          <a:p>
            <a:pPr marL="0" indent="0" algn="l">
              <a:buNone/>
            </a:pPr>
            <a:r>
              <a:rPr lang="en-US" sz="1800" kern="0" spc="108" dirty="0">
                <a:solidFill>
                  <a:srgbClr val="141414"/>
                </a:solidFill>
                <a:latin typeface="Helvetica" pitchFamily="34" charset="0"/>
                <a:ea typeface="Helvetica" pitchFamily="34" charset="-122"/>
                <a:cs typeface="Helvetica" pitchFamily="34" charset="-120"/>
              </a:rPr>
              <a:t>01 PROBLEM &amp; DISCOVERY</a:t>
            </a:r>
            <a:endParaRPr lang="en-US" sz="1800" dirty="0"/>
          </a:p>
        </p:txBody>
      </p:sp>
      <p:sp>
        <p:nvSpPr>
          <p:cNvPr id="4" name="Text 2"/>
          <p:cNvSpPr/>
          <p:nvPr/>
        </p:nvSpPr>
        <p:spPr>
          <a:xfrm>
            <a:off x="13140630" y="1073150"/>
            <a:ext cx="4614356" cy="304800"/>
          </a:xfrm>
          <a:prstGeom prst="rect">
            <a:avLst/>
          </a:prstGeom>
          <a:noFill/>
          <a:ln/>
        </p:spPr>
        <p:txBody>
          <a:bodyPr wrap="square" lIns="25400" tIns="25400" rIns="25400" bIns="25400" rtlCol="0" anchor="t">
            <a:normAutofit/>
          </a:bodyPr>
          <a:lstStyle/>
          <a:p>
            <a:pPr marL="0" indent="0" algn="l">
              <a:buNone/>
            </a:pPr>
            <a:r>
              <a:rPr lang="en-US" sz="1800" kern="0" spc="108" dirty="0">
                <a:solidFill>
                  <a:srgbClr val="141414"/>
                </a:solidFill>
                <a:latin typeface="Helvetica" pitchFamily="34" charset="0"/>
                <a:ea typeface="Helvetica" pitchFamily="34" charset="-122"/>
                <a:cs typeface="Helvetica" pitchFamily="34" charset="-120"/>
              </a:rPr>
              <a:t>ATLIQ CONTRACT RISK ANALYZER</a:t>
            </a:r>
            <a:endParaRPr lang="en-US" sz="1800" dirty="0"/>
          </a:p>
        </p:txBody>
      </p:sp>
      <p:sp>
        <p:nvSpPr>
          <p:cNvPr id="5" name="Text 3"/>
          <p:cNvSpPr/>
          <p:nvPr/>
        </p:nvSpPr>
        <p:spPr>
          <a:xfrm>
            <a:off x="952500" y="1797050"/>
            <a:ext cx="15716250" cy="696416"/>
          </a:xfrm>
          <a:prstGeom prst="rect">
            <a:avLst/>
          </a:prstGeom>
          <a:noFill/>
          <a:ln/>
        </p:spPr>
        <p:txBody>
          <a:bodyPr wrap="square" lIns="25400" tIns="25400" rIns="25400" bIns="25400" rtlCol="0" anchor="t">
            <a:normAutofit/>
          </a:bodyPr>
          <a:lstStyle/>
          <a:p>
            <a:pPr marL="0" indent="0" algn="l">
              <a:lnSpc>
                <a:spcPct val="94255"/>
              </a:lnSpc>
              <a:buNone/>
            </a:pPr>
            <a:r>
              <a:rPr lang="en-US" sz="4800" b="1" kern="0" spc="-120" dirty="0">
                <a:solidFill>
                  <a:srgbClr val="141414"/>
                </a:solidFill>
                <a:latin typeface="Helvetica" pitchFamily="34" charset="0"/>
                <a:ea typeface="Helvetica" pitchFamily="34" charset="-122"/>
                <a:cs typeface="Helvetica" pitchFamily="34" charset="-120"/>
              </a:rPr>
              <a:t>Discovery surfaced five recurring failure points</a:t>
            </a:r>
            <a:endParaRPr lang="en-US" sz="4800" dirty="0"/>
          </a:p>
        </p:txBody>
      </p:sp>
      <p:sp>
        <p:nvSpPr>
          <p:cNvPr id="6" name="Shape 4"/>
          <p:cNvSpPr/>
          <p:nvPr/>
        </p:nvSpPr>
        <p:spPr>
          <a:xfrm>
            <a:off x="952500" y="2988766"/>
            <a:ext cx="16383000" cy="9525"/>
          </a:xfrm>
          <a:prstGeom prst="rect">
            <a:avLst/>
          </a:prstGeom>
          <a:solidFill>
            <a:srgbClr val="141414"/>
          </a:solidFill>
          <a:ln/>
        </p:spPr>
      </p:sp>
      <p:sp>
        <p:nvSpPr>
          <p:cNvPr id="7" name="Text 5"/>
          <p:cNvSpPr/>
          <p:nvPr/>
        </p:nvSpPr>
        <p:spPr>
          <a:xfrm>
            <a:off x="952500" y="3261817"/>
            <a:ext cx="1028700" cy="342900"/>
          </a:xfrm>
          <a:prstGeom prst="rect">
            <a:avLst/>
          </a:prstGeom>
          <a:noFill/>
          <a:ln/>
        </p:spPr>
        <p:txBody>
          <a:bodyPr wrap="square" lIns="25400" tIns="25400" rIns="25400" bIns="25400" rtlCol="0" anchor="t">
            <a:normAutofit/>
          </a:bodyPr>
          <a:lstStyle/>
          <a:p>
            <a:pPr marL="0" indent="0" algn="l">
              <a:buNone/>
            </a:pPr>
            <a:r>
              <a:rPr lang="en-US" sz="2100" dirty="0">
                <a:solidFill>
                  <a:srgbClr val="5C5C58"/>
                </a:solidFill>
                <a:latin typeface="Helvetica" pitchFamily="34" charset="0"/>
                <a:ea typeface="Helvetica" pitchFamily="34" charset="-122"/>
                <a:cs typeface="Helvetica" pitchFamily="34" charset="-120"/>
              </a:rPr>
              <a:t>01</a:t>
            </a:r>
            <a:endParaRPr lang="en-US" sz="2100" dirty="0"/>
          </a:p>
        </p:txBody>
      </p:sp>
      <p:sp>
        <p:nvSpPr>
          <p:cNvPr id="8" name="Text 6"/>
          <p:cNvSpPr/>
          <p:nvPr/>
        </p:nvSpPr>
        <p:spPr>
          <a:xfrm>
            <a:off x="2209800" y="3204667"/>
            <a:ext cx="5867400" cy="412750"/>
          </a:xfrm>
          <a:prstGeom prst="rect">
            <a:avLst/>
          </a:prstGeom>
          <a:noFill/>
          <a:ln/>
        </p:spPr>
        <p:txBody>
          <a:bodyPr wrap="square" lIns="25400" tIns="25400" rIns="25400" bIns="25400" rtlCol="0" anchor="t">
            <a:normAutofit/>
          </a:bodyPr>
          <a:lstStyle/>
          <a:p>
            <a:pPr marL="0" indent="0" algn="l">
              <a:buNone/>
            </a:pPr>
            <a:r>
              <a:rPr lang="en-US" sz="2550" b="1" dirty="0">
                <a:solidFill>
                  <a:srgbClr val="141414"/>
                </a:solidFill>
                <a:latin typeface="Helvetica" pitchFamily="34" charset="0"/>
                <a:ea typeface="Helvetica" pitchFamily="34" charset="-122"/>
                <a:cs typeface="Helvetica" pitchFamily="34" charset="-120"/>
              </a:rPr>
              <a:t>Single-reviewer bottleneck</a:t>
            </a:r>
            <a:endParaRPr lang="en-US" sz="2550" dirty="0"/>
          </a:p>
        </p:txBody>
      </p:sp>
      <p:sp>
        <p:nvSpPr>
          <p:cNvPr id="9" name="Text 7"/>
          <p:cNvSpPr/>
          <p:nvPr/>
        </p:nvSpPr>
        <p:spPr>
          <a:xfrm>
            <a:off x="7848600" y="3236416"/>
            <a:ext cx="10435590" cy="398066"/>
          </a:xfrm>
          <a:prstGeom prst="rect">
            <a:avLst/>
          </a:prstGeom>
          <a:noFill/>
          <a:ln/>
        </p:spPr>
        <p:txBody>
          <a:bodyPr wrap="square" lIns="25400" tIns="25400" rIns="25400" bIns="25400" rtlCol="0" anchor="t">
            <a:normAutofit/>
          </a:bodyPr>
          <a:lstStyle/>
          <a:p>
            <a:pPr marL="0" indent="0" algn="l">
              <a:lnSpc>
                <a:spcPct val="118125"/>
              </a:lnSpc>
              <a:buNone/>
            </a:pPr>
            <a:r>
              <a:rPr lang="en-US" sz="2100" dirty="0">
                <a:solidFill>
                  <a:srgbClr val="141414"/>
                </a:solidFill>
                <a:latin typeface="Helvetica" pitchFamily="34" charset="0"/>
                <a:ea typeface="Helvetica" pitchFamily="34" charset="-122"/>
                <a:cs typeface="Helvetica" pitchFamily="34" charset="-120"/>
              </a:rPr>
              <a:t>Every material contract waits on the CEO's time and memory.</a:t>
            </a:r>
            <a:endParaRPr lang="en-US" sz="2100" dirty="0"/>
          </a:p>
        </p:txBody>
      </p:sp>
      <p:sp>
        <p:nvSpPr>
          <p:cNvPr id="10" name="Shape 8"/>
          <p:cNvSpPr/>
          <p:nvPr/>
        </p:nvSpPr>
        <p:spPr>
          <a:xfrm>
            <a:off x="952500" y="3805932"/>
            <a:ext cx="16383000" cy="9525"/>
          </a:xfrm>
          <a:prstGeom prst="rect">
            <a:avLst/>
          </a:prstGeom>
          <a:solidFill>
            <a:srgbClr val="D9D9D4"/>
          </a:solidFill>
          <a:ln/>
        </p:spPr>
      </p:sp>
      <p:sp>
        <p:nvSpPr>
          <p:cNvPr id="11" name="Text 9"/>
          <p:cNvSpPr/>
          <p:nvPr/>
        </p:nvSpPr>
        <p:spPr>
          <a:xfrm>
            <a:off x="952500" y="4078982"/>
            <a:ext cx="1028700" cy="342900"/>
          </a:xfrm>
          <a:prstGeom prst="rect">
            <a:avLst/>
          </a:prstGeom>
          <a:noFill/>
          <a:ln/>
        </p:spPr>
        <p:txBody>
          <a:bodyPr wrap="square" lIns="25400" tIns="25400" rIns="25400" bIns="25400" rtlCol="0" anchor="t">
            <a:normAutofit/>
          </a:bodyPr>
          <a:lstStyle/>
          <a:p>
            <a:pPr marL="0" indent="0" algn="l">
              <a:buNone/>
            </a:pPr>
            <a:r>
              <a:rPr lang="en-US" sz="2100" dirty="0">
                <a:solidFill>
                  <a:srgbClr val="5C5C58"/>
                </a:solidFill>
                <a:latin typeface="Helvetica" pitchFamily="34" charset="0"/>
                <a:ea typeface="Helvetica" pitchFamily="34" charset="-122"/>
                <a:cs typeface="Helvetica" pitchFamily="34" charset="-120"/>
              </a:rPr>
              <a:t>02</a:t>
            </a:r>
            <a:endParaRPr lang="en-US" sz="2100" dirty="0"/>
          </a:p>
        </p:txBody>
      </p:sp>
      <p:sp>
        <p:nvSpPr>
          <p:cNvPr id="12" name="Text 10"/>
          <p:cNvSpPr/>
          <p:nvPr/>
        </p:nvSpPr>
        <p:spPr>
          <a:xfrm>
            <a:off x="2209800" y="4021832"/>
            <a:ext cx="5867400" cy="412750"/>
          </a:xfrm>
          <a:prstGeom prst="rect">
            <a:avLst/>
          </a:prstGeom>
          <a:noFill/>
          <a:ln/>
        </p:spPr>
        <p:txBody>
          <a:bodyPr wrap="square" lIns="25400" tIns="25400" rIns="25400" bIns="25400" rtlCol="0" anchor="t">
            <a:normAutofit/>
          </a:bodyPr>
          <a:lstStyle/>
          <a:p>
            <a:pPr marL="0" indent="0" algn="l">
              <a:buNone/>
            </a:pPr>
            <a:r>
              <a:rPr lang="en-US" sz="2550" b="1" dirty="0">
                <a:solidFill>
                  <a:srgbClr val="141414"/>
                </a:solidFill>
                <a:latin typeface="Helvetica" pitchFamily="34" charset="0"/>
                <a:ea typeface="Helvetica" pitchFamily="34" charset="-122"/>
                <a:cs typeface="Helvetica" pitchFamily="34" charset="-120"/>
              </a:rPr>
              <a:t>Fragmented context</a:t>
            </a:r>
            <a:endParaRPr lang="en-US" sz="2550" dirty="0"/>
          </a:p>
        </p:txBody>
      </p:sp>
      <p:sp>
        <p:nvSpPr>
          <p:cNvPr id="13" name="Text 11"/>
          <p:cNvSpPr/>
          <p:nvPr/>
        </p:nvSpPr>
        <p:spPr>
          <a:xfrm>
            <a:off x="7848600" y="4053582"/>
            <a:ext cx="10435590" cy="398066"/>
          </a:xfrm>
          <a:prstGeom prst="rect">
            <a:avLst/>
          </a:prstGeom>
          <a:noFill/>
          <a:ln/>
        </p:spPr>
        <p:txBody>
          <a:bodyPr wrap="square" lIns="25400" tIns="25400" rIns="25400" bIns="25400" rtlCol="0" anchor="t">
            <a:normAutofit/>
          </a:bodyPr>
          <a:lstStyle/>
          <a:p>
            <a:pPr marL="0" indent="0" algn="l">
              <a:lnSpc>
                <a:spcPct val="118125"/>
              </a:lnSpc>
              <a:buNone/>
            </a:pPr>
            <a:r>
              <a:rPr lang="en-US" sz="2100" dirty="0">
                <a:solidFill>
                  <a:srgbClr val="141414"/>
                </a:solidFill>
                <a:latin typeface="Helvetica" pitchFamily="34" charset="0"/>
                <a:ea typeface="Helvetica" pitchFamily="34" charset="-122"/>
                <a:cs typeface="Helvetica" pitchFamily="34" charset="-120"/>
              </a:rPr>
              <a:t>Tracker, signed contracts, inbox and negotiation notes all live apart.</a:t>
            </a:r>
            <a:endParaRPr lang="en-US" sz="2100" dirty="0"/>
          </a:p>
        </p:txBody>
      </p:sp>
      <p:sp>
        <p:nvSpPr>
          <p:cNvPr id="14" name="Shape 12"/>
          <p:cNvSpPr/>
          <p:nvPr/>
        </p:nvSpPr>
        <p:spPr>
          <a:xfrm>
            <a:off x="952500" y="4623098"/>
            <a:ext cx="16383000" cy="9525"/>
          </a:xfrm>
          <a:prstGeom prst="rect">
            <a:avLst/>
          </a:prstGeom>
          <a:solidFill>
            <a:srgbClr val="D9D9D4"/>
          </a:solidFill>
          <a:ln/>
        </p:spPr>
      </p:sp>
      <p:sp>
        <p:nvSpPr>
          <p:cNvPr id="15" name="Text 13"/>
          <p:cNvSpPr/>
          <p:nvPr/>
        </p:nvSpPr>
        <p:spPr>
          <a:xfrm>
            <a:off x="952500" y="4896148"/>
            <a:ext cx="1028700" cy="342900"/>
          </a:xfrm>
          <a:prstGeom prst="rect">
            <a:avLst/>
          </a:prstGeom>
          <a:noFill/>
          <a:ln/>
        </p:spPr>
        <p:txBody>
          <a:bodyPr wrap="square" lIns="25400" tIns="25400" rIns="25400" bIns="25400" rtlCol="0" anchor="t">
            <a:normAutofit/>
          </a:bodyPr>
          <a:lstStyle/>
          <a:p>
            <a:pPr marL="0" indent="0" algn="l">
              <a:buNone/>
            </a:pPr>
            <a:r>
              <a:rPr lang="en-US" sz="2100" dirty="0">
                <a:solidFill>
                  <a:srgbClr val="5C5C58"/>
                </a:solidFill>
                <a:latin typeface="Helvetica" pitchFamily="34" charset="0"/>
                <a:ea typeface="Helvetica" pitchFamily="34" charset="-122"/>
                <a:cs typeface="Helvetica" pitchFamily="34" charset="-120"/>
              </a:rPr>
              <a:t>03</a:t>
            </a:r>
            <a:endParaRPr lang="en-US" sz="2100" dirty="0"/>
          </a:p>
        </p:txBody>
      </p:sp>
      <p:sp>
        <p:nvSpPr>
          <p:cNvPr id="16" name="Text 14"/>
          <p:cNvSpPr/>
          <p:nvPr/>
        </p:nvSpPr>
        <p:spPr>
          <a:xfrm>
            <a:off x="2209800" y="4838998"/>
            <a:ext cx="5867400" cy="412750"/>
          </a:xfrm>
          <a:prstGeom prst="rect">
            <a:avLst/>
          </a:prstGeom>
          <a:noFill/>
          <a:ln/>
        </p:spPr>
        <p:txBody>
          <a:bodyPr wrap="square" lIns="25400" tIns="25400" rIns="25400" bIns="25400" rtlCol="0" anchor="t">
            <a:normAutofit/>
          </a:bodyPr>
          <a:lstStyle/>
          <a:p>
            <a:pPr marL="0" indent="0" algn="l">
              <a:buNone/>
            </a:pPr>
            <a:r>
              <a:rPr lang="en-US" sz="2550" b="1" dirty="0">
                <a:solidFill>
                  <a:srgbClr val="141414"/>
                </a:solidFill>
                <a:latin typeface="Helvetica" pitchFamily="34" charset="0"/>
                <a:ea typeface="Helvetica" pitchFamily="34" charset="-122"/>
                <a:cs typeface="Helvetica" pitchFamily="34" charset="-120"/>
              </a:rPr>
              <a:t>Hidden cross-contract conflicts</a:t>
            </a:r>
            <a:endParaRPr lang="en-US" sz="2550" dirty="0"/>
          </a:p>
        </p:txBody>
      </p:sp>
      <p:sp>
        <p:nvSpPr>
          <p:cNvPr id="17" name="Text 15"/>
          <p:cNvSpPr/>
          <p:nvPr/>
        </p:nvSpPr>
        <p:spPr>
          <a:xfrm>
            <a:off x="7848600" y="4870748"/>
            <a:ext cx="9771507" cy="758031"/>
          </a:xfrm>
          <a:prstGeom prst="rect">
            <a:avLst/>
          </a:prstGeom>
          <a:noFill/>
          <a:ln/>
        </p:spPr>
        <p:txBody>
          <a:bodyPr wrap="square" lIns="25400" tIns="25400" rIns="25400" bIns="25400" rtlCol="0" anchor="t">
            <a:normAutofit/>
          </a:bodyPr>
          <a:lstStyle/>
          <a:p>
            <a:pPr marL="0" indent="0" algn="l">
              <a:lnSpc>
                <a:spcPct val="118125"/>
              </a:lnSpc>
              <a:buNone/>
            </a:pPr>
            <a:r>
              <a:rPr lang="en-US" sz="2100" dirty="0">
                <a:solidFill>
                  <a:srgbClr val="141414"/>
                </a:solidFill>
                <a:latin typeface="Helvetica" pitchFamily="34" charset="0"/>
                <a:ea typeface="Helvetica" pitchFamily="34" charset="-122"/>
                <a:cs typeface="Helvetica" pitchFamily="34" charset="-120"/>
              </a:rPr>
              <a:t>A clause can be fine alone but collide with an older exclusivity, pricing or IP promise.</a:t>
            </a:r>
            <a:endParaRPr lang="en-US" sz="2100" dirty="0"/>
          </a:p>
        </p:txBody>
      </p:sp>
      <p:sp>
        <p:nvSpPr>
          <p:cNvPr id="18" name="Shape 16"/>
          <p:cNvSpPr/>
          <p:nvPr/>
        </p:nvSpPr>
        <p:spPr>
          <a:xfrm>
            <a:off x="952500" y="5800229"/>
            <a:ext cx="16383000" cy="9525"/>
          </a:xfrm>
          <a:prstGeom prst="rect">
            <a:avLst/>
          </a:prstGeom>
          <a:solidFill>
            <a:srgbClr val="D9D9D4"/>
          </a:solidFill>
          <a:ln/>
        </p:spPr>
      </p:sp>
      <p:sp>
        <p:nvSpPr>
          <p:cNvPr id="19" name="Text 17"/>
          <p:cNvSpPr/>
          <p:nvPr/>
        </p:nvSpPr>
        <p:spPr>
          <a:xfrm>
            <a:off x="952500" y="6073279"/>
            <a:ext cx="1028700" cy="342900"/>
          </a:xfrm>
          <a:prstGeom prst="rect">
            <a:avLst/>
          </a:prstGeom>
          <a:noFill/>
          <a:ln/>
        </p:spPr>
        <p:txBody>
          <a:bodyPr wrap="square" lIns="25400" tIns="25400" rIns="25400" bIns="25400" rtlCol="0" anchor="t">
            <a:normAutofit/>
          </a:bodyPr>
          <a:lstStyle/>
          <a:p>
            <a:pPr marL="0" indent="0" algn="l">
              <a:buNone/>
            </a:pPr>
            <a:r>
              <a:rPr lang="en-US" sz="2100" dirty="0">
                <a:solidFill>
                  <a:srgbClr val="5C5C58"/>
                </a:solidFill>
                <a:latin typeface="Helvetica" pitchFamily="34" charset="0"/>
                <a:ea typeface="Helvetica" pitchFamily="34" charset="-122"/>
                <a:cs typeface="Helvetica" pitchFamily="34" charset="-120"/>
              </a:rPr>
              <a:t>04</a:t>
            </a:r>
            <a:endParaRPr lang="en-US" sz="2100" dirty="0"/>
          </a:p>
        </p:txBody>
      </p:sp>
      <p:sp>
        <p:nvSpPr>
          <p:cNvPr id="20" name="Text 18"/>
          <p:cNvSpPr/>
          <p:nvPr/>
        </p:nvSpPr>
        <p:spPr>
          <a:xfrm>
            <a:off x="2209800" y="6016129"/>
            <a:ext cx="5867400" cy="412750"/>
          </a:xfrm>
          <a:prstGeom prst="rect">
            <a:avLst/>
          </a:prstGeom>
          <a:noFill/>
          <a:ln/>
        </p:spPr>
        <p:txBody>
          <a:bodyPr wrap="square" lIns="25400" tIns="25400" rIns="25400" bIns="25400" rtlCol="0" anchor="t">
            <a:normAutofit/>
          </a:bodyPr>
          <a:lstStyle/>
          <a:p>
            <a:pPr marL="0" indent="0" algn="l">
              <a:buNone/>
            </a:pPr>
            <a:r>
              <a:rPr lang="en-US" sz="2550" b="1" dirty="0">
                <a:solidFill>
                  <a:srgbClr val="141414"/>
                </a:solidFill>
                <a:latin typeface="Helvetica" pitchFamily="34" charset="0"/>
                <a:ea typeface="Helvetica" pitchFamily="34" charset="-122"/>
                <a:cs typeface="Helvetica" pitchFamily="34" charset="-120"/>
              </a:rPr>
              <a:t>Entity mistakes</a:t>
            </a:r>
            <a:endParaRPr lang="en-US" sz="2550" dirty="0"/>
          </a:p>
        </p:txBody>
      </p:sp>
      <p:sp>
        <p:nvSpPr>
          <p:cNvPr id="21" name="Text 19"/>
          <p:cNvSpPr/>
          <p:nvPr/>
        </p:nvSpPr>
        <p:spPr>
          <a:xfrm>
            <a:off x="7848600" y="6047879"/>
            <a:ext cx="10435590" cy="398066"/>
          </a:xfrm>
          <a:prstGeom prst="rect">
            <a:avLst/>
          </a:prstGeom>
          <a:noFill/>
          <a:ln/>
        </p:spPr>
        <p:txBody>
          <a:bodyPr wrap="square" lIns="25400" tIns="25400" rIns="25400" bIns="25400" rtlCol="0" anchor="t">
            <a:normAutofit/>
          </a:bodyPr>
          <a:lstStyle/>
          <a:p>
            <a:pPr marL="0" indent="0" algn="l">
              <a:lnSpc>
                <a:spcPct val="118125"/>
              </a:lnSpc>
              <a:buNone/>
            </a:pPr>
            <a:r>
              <a:rPr lang="en-US" sz="2100" dirty="0">
                <a:solidFill>
                  <a:srgbClr val="141414"/>
                </a:solidFill>
                <a:latin typeface="Helvetica" pitchFamily="34" charset="0"/>
                <a:ea typeface="Helvetica" pitchFamily="34" charset="-122"/>
                <a:cs typeface="Helvetica" pitchFamily="34" charset="-120"/>
              </a:rPr>
              <a:t>The wrong AtliQ entity creates tax, invoicing and payment problems.</a:t>
            </a:r>
            <a:endParaRPr lang="en-US" sz="2100" dirty="0"/>
          </a:p>
        </p:txBody>
      </p:sp>
      <p:sp>
        <p:nvSpPr>
          <p:cNvPr id="22" name="Shape 20"/>
          <p:cNvSpPr/>
          <p:nvPr/>
        </p:nvSpPr>
        <p:spPr>
          <a:xfrm>
            <a:off x="952500" y="7434561"/>
            <a:ext cx="16383000" cy="9525"/>
          </a:xfrm>
          <a:prstGeom prst="rect">
            <a:avLst/>
          </a:prstGeom>
          <a:solidFill>
            <a:srgbClr val="141414"/>
          </a:solidFill>
          <a:ln/>
        </p:spPr>
      </p:sp>
      <p:sp>
        <p:nvSpPr>
          <p:cNvPr id="23" name="Shape 21"/>
          <p:cNvSpPr/>
          <p:nvPr/>
        </p:nvSpPr>
        <p:spPr>
          <a:xfrm>
            <a:off x="952500" y="6617395"/>
            <a:ext cx="16383000" cy="9525"/>
          </a:xfrm>
          <a:prstGeom prst="rect">
            <a:avLst/>
          </a:prstGeom>
          <a:solidFill>
            <a:srgbClr val="D9D9D4"/>
          </a:solidFill>
          <a:ln/>
        </p:spPr>
      </p:sp>
      <p:sp>
        <p:nvSpPr>
          <p:cNvPr id="24" name="Text 22"/>
          <p:cNvSpPr/>
          <p:nvPr/>
        </p:nvSpPr>
        <p:spPr>
          <a:xfrm>
            <a:off x="952500" y="6890445"/>
            <a:ext cx="1028700" cy="342900"/>
          </a:xfrm>
          <a:prstGeom prst="rect">
            <a:avLst/>
          </a:prstGeom>
          <a:noFill/>
          <a:ln/>
        </p:spPr>
        <p:txBody>
          <a:bodyPr wrap="square" lIns="25400" tIns="25400" rIns="25400" bIns="25400" rtlCol="0" anchor="t">
            <a:normAutofit/>
          </a:bodyPr>
          <a:lstStyle/>
          <a:p>
            <a:pPr marL="0" indent="0" algn="l">
              <a:buNone/>
            </a:pPr>
            <a:r>
              <a:rPr lang="en-US" sz="2100" dirty="0">
                <a:solidFill>
                  <a:srgbClr val="5C5C58"/>
                </a:solidFill>
                <a:latin typeface="Helvetica" pitchFamily="34" charset="0"/>
                <a:ea typeface="Helvetica" pitchFamily="34" charset="-122"/>
                <a:cs typeface="Helvetica" pitchFamily="34" charset="-120"/>
              </a:rPr>
              <a:t>05</a:t>
            </a:r>
            <a:endParaRPr lang="en-US" sz="2100" dirty="0"/>
          </a:p>
        </p:txBody>
      </p:sp>
      <p:sp>
        <p:nvSpPr>
          <p:cNvPr id="25" name="Text 23"/>
          <p:cNvSpPr/>
          <p:nvPr/>
        </p:nvSpPr>
        <p:spPr>
          <a:xfrm>
            <a:off x="2209800" y="6833295"/>
            <a:ext cx="5867400" cy="412750"/>
          </a:xfrm>
          <a:prstGeom prst="rect">
            <a:avLst/>
          </a:prstGeom>
          <a:noFill/>
          <a:ln/>
        </p:spPr>
        <p:txBody>
          <a:bodyPr wrap="square" lIns="25400" tIns="25400" rIns="25400" bIns="25400" rtlCol="0" anchor="t">
            <a:normAutofit lnSpcReduction="10000"/>
          </a:bodyPr>
          <a:lstStyle/>
          <a:p>
            <a:pPr marL="0" indent="0" algn="l">
              <a:buNone/>
            </a:pPr>
            <a:r>
              <a:rPr lang="en-US" sz="2550" b="1" dirty="0">
                <a:solidFill>
                  <a:srgbClr val="141414"/>
                </a:solidFill>
                <a:latin typeface="Helvetica" pitchFamily="34" charset="0"/>
                <a:ea typeface="Helvetica" pitchFamily="34" charset="-122"/>
                <a:cs typeface="Helvetica" pitchFamily="34" charset="-120"/>
              </a:rPr>
              <a:t>The mutual label trap</a:t>
            </a:r>
            <a:endParaRPr lang="en-US" sz="2550" dirty="0"/>
          </a:p>
        </p:txBody>
      </p:sp>
      <p:sp>
        <p:nvSpPr>
          <p:cNvPr id="26" name="Text 24"/>
          <p:cNvSpPr/>
          <p:nvPr/>
        </p:nvSpPr>
        <p:spPr>
          <a:xfrm>
            <a:off x="7848600" y="6865045"/>
            <a:ext cx="10435590" cy="398066"/>
          </a:xfrm>
          <a:prstGeom prst="rect">
            <a:avLst/>
          </a:prstGeom>
          <a:noFill/>
          <a:ln/>
        </p:spPr>
        <p:txBody>
          <a:bodyPr wrap="square" lIns="25400" tIns="25400" rIns="25400" bIns="25400" rtlCol="0" anchor="t">
            <a:normAutofit/>
          </a:bodyPr>
          <a:lstStyle/>
          <a:p>
            <a:pPr marL="0" indent="0" algn="l">
              <a:lnSpc>
                <a:spcPct val="118125"/>
              </a:lnSpc>
              <a:buNone/>
            </a:pPr>
            <a:r>
              <a:rPr lang="en-US" sz="2100" dirty="0">
                <a:solidFill>
                  <a:srgbClr val="141414"/>
                </a:solidFill>
                <a:latin typeface="Helvetica" pitchFamily="34" charset="0"/>
                <a:ea typeface="Helvetica" pitchFamily="34" charset="-122"/>
                <a:cs typeface="Helvetica" pitchFamily="34" charset="-120"/>
              </a:rPr>
              <a:t>Treating a mutual NDA as low-risk has backfired repeatedly.</a:t>
            </a:r>
            <a:endParaRPr lang="en-US" sz="2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AFAF8"/>
        </a:solidFill>
        <a:effectLst/>
      </p:bgPr>
    </p:bg>
    <p:spTree>
      <p:nvGrpSpPr>
        <p:cNvPr id="1" name=""/>
        <p:cNvGrpSpPr/>
        <p:nvPr/>
      </p:nvGrpSpPr>
      <p:grpSpPr>
        <a:xfrm>
          <a:off x="0" y="0"/>
          <a:ext cx="0" cy="0"/>
          <a:chOff x="0" y="0"/>
          <a:chExt cx="0" cy="0"/>
        </a:xfrm>
      </p:grpSpPr>
      <p:sp>
        <p:nvSpPr>
          <p:cNvPr id="2" name="Shape 0"/>
          <p:cNvSpPr/>
          <p:nvPr/>
        </p:nvSpPr>
        <p:spPr>
          <a:xfrm>
            <a:off x="952500" y="857250"/>
            <a:ext cx="16383000" cy="25400"/>
          </a:xfrm>
          <a:prstGeom prst="rect">
            <a:avLst/>
          </a:prstGeom>
          <a:solidFill>
            <a:srgbClr val="141414"/>
          </a:solidFill>
          <a:ln/>
        </p:spPr>
      </p:sp>
      <p:sp>
        <p:nvSpPr>
          <p:cNvPr id="3" name="Text 1"/>
          <p:cNvSpPr/>
          <p:nvPr/>
        </p:nvSpPr>
        <p:spPr>
          <a:xfrm>
            <a:off x="952500" y="1073150"/>
            <a:ext cx="2372499" cy="304800"/>
          </a:xfrm>
          <a:prstGeom prst="rect">
            <a:avLst/>
          </a:prstGeom>
          <a:noFill/>
          <a:ln/>
        </p:spPr>
        <p:txBody>
          <a:bodyPr wrap="square" lIns="25400" tIns="25400" rIns="25400" bIns="25400" rtlCol="0" anchor="t">
            <a:normAutofit/>
          </a:bodyPr>
          <a:lstStyle/>
          <a:p>
            <a:pPr marL="0" indent="0" algn="l">
              <a:buNone/>
            </a:pPr>
            <a:r>
              <a:rPr lang="en-US" sz="1800" kern="0" spc="108" dirty="0">
                <a:solidFill>
                  <a:srgbClr val="141414"/>
                </a:solidFill>
                <a:latin typeface="Helvetica" pitchFamily="34" charset="0"/>
                <a:ea typeface="Helvetica" pitchFamily="34" charset="-122"/>
                <a:cs typeface="Helvetica" pitchFamily="34" charset="-120"/>
              </a:rPr>
              <a:t>02 OPPORTUNITY</a:t>
            </a:r>
            <a:endParaRPr lang="en-US" sz="1800" dirty="0"/>
          </a:p>
        </p:txBody>
      </p:sp>
      <p:sp>
        <p:nvSpPr>
          <p:cNvPr id="4" name="Text 2"/>
          <p:cNvSpPr/>
          <p:nvPr/>
        </p:nvSpPr>
        <p:spPr>
          <a:xfrm>
            <a:off x="13140630" y="1073150"/>
            <a:ext cx="4614356" cy="304800"/>
          </a:xfrm>
          <a:prstGeom prst="rect">
            <a:avLst/>
          </a:prstGeom>
          <a:noFill/>
          <a:ln/>
        </p:spPr>
        <p:txBody>
          <a:bodyPr wrap="square" lIns="25400" tIns="25400" rIns="25400" bIns="25400" rtlCol="0" anchor="t">
            <a:normAutofit/>
          </a:bodyPr>
          <a:lstStyle/>
          <a:p>
            <a:pPr marL="0" indent="0" algn="l">
              <a:buNone/>
            </a:pPr>
            <a:r>
              <a:rPr lang="en-US" sz="1800" kern="0" spc="108" dirty="0">
                <a:solidFill>
                  <a:srgbClr val="141414"/>
                </a:solidFill>
                <a:latin typeface="Helvetica" pitchFamily="34" charset="0"/>
                <a:ea typeface="Helvetica" pitchFamily="34" charset="-122"/>
                <a:cs typeface="Helvetica" pitchFamily="34" charset="-120"/>
              </a:rPr>
              <a:t>ATLIQ CONTRACT RISK ANALYZER</a:t>
            </a:r>
            <a:endParaRPr lang="en-US" sz="1800" dirty="0"/>
          </a:p>
        </p:txBody>
      </p:sp>
      <p:sp>
        <p:nvSpPr>
          <p:cNvPr id="5" name="Text 3"/>
          <p:cNvSpPr/>
          <p:nvPr/>
        </p:nvSpPr>
        <p:spPr>
          <a:xfrm>
            <a:off x="952500" y="1797050"/>
            <a:ext cx="14716125" cy="1354733"/>
          </a:xfrm>
          <a:prstGeom prst="rect">
            <a:avLst/>
          </a:prstGeom>
          <a:noFill/>
          <a:ln/>
        </p:spPr>
        <p:txBody>
          <a:bodyPr wrap="square" lIns="25400" tIns="25400" rIns="25400" bIns="25400" rtlCol="0" anchor="t">
            <a:normAutofit/>
          </a:bodyPr>
          <a:lstStyle/>
          <a:p>
            <a:pPr marL="0" indent="0" algn="l">
              <a:lnSpc>
                <a:spcPct val="94255"/>
              </a:lnSpc>
              <a:buNone/>
            </a:pPr>
            <a:r>
              <a:rPr lang="en-US" sz="4800" b="1" kern="0" spc="-120" dirty="0">
                <a:solidFill>
                  <a:srgbClr val="141414"/>
                </a:solidFill>
                <a:latin typeface="Helvetica" pitchFamily="34" charset="0"/>
                <a:ea typeface="Helvetica" pitchFamily="34" charset="-122"/>
                <a:cs typeface="Helvetica" pitchFamily="34" charset="-120"/>
              </a:rPr>
              <a:t>The job is a decision-ready review in under five minutes</a:t>
            </a:r>
            <a:endParaRPr lang="en-US" sz="4800" dirty="0"/>
          </a:p>
        </p:txBody>
      </p:sp>
      <p:sp>
        <p:nvSpPr>
          <p:cNvPr id="6" name="Text 4"/>
          <p:cNvSpPr/>
          <p:nvPr/>
        </p:nvSpPr>
        <p:spPr>
          <a:xfrm>
            <a:off x="952500" y="3647083"/>
            <a:ext cx="15697200" cy="1850827"/>
          </a:xfrm>
          <a:prstGeom prst="rect">
            <a:avLst/>
          </a:prstGeom>
          <a:noFill/>
          <a:ln/>
        </p:spPr>
        <p:txBody>
          <a:bodyPr wrap="square" lIns="25400" tIns="25400" rIns="25400" bIns="25400" rtlCol="0" anchor="t">
            <a:normAutofit/>
          </a:bodyPr>
          <a:lstStyle/>
          <a:p>
            <a:pPr marL="0" indent="0" algn="l">
              <a:lnSpc>
                <a:spcPct val="104571"/>
              </a:lnSpc>
              <a:buNone/>
            </a:pPr>
            <a:r>
              <a:rPr lang="en-US" sz="3900" kern="0" spc="-58" dirty="0">
                <a:solidFill>
                  <a:srgbClr val="141414"/>
                </a:solidFill>
                <a:latin typeface="Helvetica" pitchFamily="34" charset="0"/>
                <a:ea typeface="Helvetica" pitchFamily="34" charset="-122"/>
                <a:cs typeface="Helvetica" pitchFamily="34" charset="-120"/>
              </a:rPr>
              <a:t>"When a contract arrives, help me understand what is risky, what AtliQ has agreed before, whether this conflicts with existing obligations, and what I should do next."</a:t>
            </a:r>
            <a:endParaRPr lang="en-US" sz="3900" dirty="0"/>
          </a:p>
        </p:txBody>
      </p:sp>
      <p:sp>
        <p:nvSpPr>
          <p:cNvPr id="7" name="Shape 5"/>
          <p:cNvSpPr/>
          <p:nvPr/>
        </p:nvSpPr>
        <p:spPr>
          <a:xfrm>
            <a:off x="952500" y="7867254"/>
            <a:ext cx="5156200" cy="9525"/>
          </a:xfrm>
          <a:prstGeom prst="rect">
            <a:avLst/>
          </a:prstGeom>
          <a:solidFill>
            <a:srgbClr val="141414"/>
          </a:solidFill>
          <a:ln/>
        </p:spPr>
      </p:sp>
      <p:sp>
        <p:nvSpPr>
          <p:cNvPr id="8" name="Text 6"/>
          <p:cNvSpPr/>
          <p:nvPr/>
        </p:nvSpPr>
        <p:spPr>
          <a:xfrm>
            <a:off x="952500" y="8064103"/>
            <a:ext cx="5671820" cy="304800"/>
          </a:xfrm>
          <a:prstGeom prst="rect">
            <a:avLst/>
          </a:prstGeom>
          <a:noFill/>
          <a:ln/>
        </p:spPr>
        <p:txBody>
          <a:bodyPr wrap="square" lIns="25400" tIns="25400" rIns="25400" bIns="25400" rtlCol="0" anchor="t">
            <a:normAutofit/>
          </a:bodyPr>
          <a:lstStyle/>
          <a:p>
            <a:pPr marL="0" indent="0" algn="l">
              <a:buNone/>
            </a:pPr>
            <a:r>
              <a:rPr lang="en-US" sz="1800" kern="0" spc="108" dirty="0">
                <a:solidFill>
                  <a:srgbClr val="5C5C58"/>
                </a:solidFill>
                <a:latin typeface="Helvetica" pitchFamily="34" charset="0"/>
                <a:ea typeface="Helvetica" pitchFamily="34" charset="-122"/>
                <a:cs typeface="Helvetica" pitchFamily="34" charset="-120"/>
              </a:rPr>
              <a:t>TRIGGER</a:t>
            </a:r>
            <a:endParaRPr lang="en-US" sz="1800" dirty="0"/>
          </a:p>
        </p:txBody>
      </p:sp>
      <p:sp>
        <p:nvSpPr>
          <p:cNvPr id="9" name="Text 7"/>
          <p:cNvSpPr/>
          <p:nvPr/>
        </p:nvSpPr>
        <p:spPr>
          <a:xfrm>
            <a:off x="952500" y="8445103"/>
            <a:ext cx="5310886" cy="758031"/>
          </a:xfrm>
          <a:prstGeom prst="rect">
            <a:avLst/>
          </a:prstGeom>
          <a:noFill/>
          <a:ln/>
        </p:spPr>
        <p:txBody>
          <a:bodyPr wrap="square" lIns="25400" tIns="25400" rIns="25400" bIns="25400" rtlCol="0" anchor="t">
            <a:normAutofit/>
          </a:bodyPr>
          <a:lstStyle/>
          <a:p>
            <a:pPr marL="0" indent="0" algn="l">
              <a:lnSpc>
                <a:spcPct val="118125"/>
              </a:lnSpc>
              <a:buNone/>
            </a:pPr>
            <a:r>
              <a:rPr lang="en-US" sz="2100" dirty="0">
                <a:solidFill>
                  <a:srgbClr val="141414"/>
                </a:solidFill>
                <a:latin typeface="Helvetica" pitchFamily="34" charset="0"/>
                <a:ea typeface="Helvetica" pitchFamily="34" charset="-122"/>
                <a:cs typeface="Helvetica" pitchFamily="34" charset="-120"/>
              </a:rPr>
              <a:t>A client, partner or NDA document arrives, or an AtliQ draft is ready to send</a:t>
            </a:r>
            <a:endParaRPr lang="en-US" sz="2100" dirty="0"/>
          </a:p>
        </p:txBody>
      </p:sp>
      <p:sp>
        <p:nvSpPr>
          <p:cNvPr id="10" name="Shape 8"/>
          <p:cNvSpPr/>
          <p:nvPr/>
        </p:nvSpPr>
        <p:spPr>
          <a:xfrm>
            <a:off x="6565900" y="7867254"/>
            <a:ext cx="5156200" cy="9525"/>
          </a:xfrm>
          <a:prstGeom prst="rect">
            <a:avLst/>
          </a:prstGeom>
          <a:solidFill>
            <a:srgbClr val="141414"/>
          </a:solidFill>
          <a:ln/>
        </p:spPr>
      </p:sp>
      <p:sp>
        <p:nvSpPr>
          <p:cNvPr id="11" name="Text 9"/>
          <p:cNvSpPr/>
          <p:nvPr/>
        </p:nvSpPr>
        <p:spPr>
          <a:xfrm>
            <a:off x="6565900" y="8064103"/>
            <a:ext cx="5671820" cy="304800"/>
          </a:xfrm>
          <a:prstGeom prst="rect">
            <a:avLst/>
          </a:prstGeom>
          <a:noFill/>
          <a:ln/>
        </p:spPr>
        <p:txBody>
          <a:bodyPr wrap="square" lIns="25400" tIns="25400" rIns="25400" bIns="25400" rtlCol="0" anchor="t">
            <a:normAutofit/>
          </a:bodyPr>
          <a:lstStyle/>
          <a:p>
            <a:pPr marL="0" indent="0" algn="l">
              <a:buNone/>
            </a:pPr>
            <a:r>
              <a:rPr lang="en-US" sz="1800" kern="0" spc="108" dirty="0">
                <a:solidFill>
                  <a:srgbClr val="5C5C58"/>
                </a:solidFill>
                <a:latin typeface="Helvetica" pitchFamily="34" charset="0"/>
                <a:ea typeface="Helvetica" pitchFamily="34" charset="-122"/>
                <a:cs typeface="Helvetica" pitchFamily="34" charset="-120"/>
              </a:rPr>
              <a:t>OUTCOME</a:t>
            </a:r>
            <a:endParaRPr lang="en-US" sz="1800" dirty="0"/>
          </a:p>
        </p:txBody>
      </p:sp>
      <p:sp>
        <p:nvSpPr>
          <p:cNvPr id="12" name="Text 10"/>
          <p:cNvSpPr/>
          <p:nvPr/>
        </p:nvSpPr>
        <p:spPr>
          <a:xfrm>
            <a:off x="6565900" y="8445103"/>
            <a:ext cx="5310886" cy="758031"/>
          </a:xfrm>
          <a:prstGeom prst="rect">
            <a:avLst/>
          </a:prstGeom>
          <a:noFill/>
          <a:ln/>
        </p:spPr>
        <p:txBody>
          <a:bodyPr wrap="square" lIns="25400" tIns="25400" rIns="25400" bIns="25400" rtlCol="0" anchor="t">
            <a:normAutofit/>
          </a:bodyPr>
          <a:lstStyle/>
          <a:p>
            <a:pPr marL="0" indent="0" algn="l">
              <a:lnSpc>
                <a:spcPct val="118125"/>
              </a:lnSpc>
              <a:buNone/>
            </a:pPr>
            <a:r>
              <a:rPr lang="en-US" sz="2100" dirty="0">
                <a:solidFill>
                  <a:srgbClr val="141414"/>
                </a:solidFill>
                <a:latin typeface="Helvetica" pitchFamily="34" charset="0"/>
                <a:ea typeface="Helvetica" pitchFamily="34" charset="-122"/>
                <a:cs typeface="Helvetica" pitchFamily="34" charset="-120"/>
              </a:rPr>
              <a:t>Under 5 minutes, no clause skipped, with evidence, precedent and next step</a:t>
            </a:r>
            <a:endParaRPr lang="en-US" sz="2100" dirty="0"/>
          </a:p>
        </p:txBody>
      </p:sp>
      <p:sp>
        <p:nvSpPr>
          <p:cNvPr id="13" name="Shape 11"/>
          <p:cNvSpPr/>
          <p:nvPr/>
        </p:nvSpPr>
        <p:spPr>
          <a:xfrm>
            <a:off x="12179301" y="7867254"/>
            <a:ext cx="5156200" cy="9525"/>
          </a:xfrm>
          <a:prstGeom prst="rect">
            <a:avLst/>
          </a:prstGeom>
          <a:solidFill>
            <a:srgbClr val="141414"/>
          </a:solidFill>
          <a:ln/>
        </p:spPr>
      </p:sp>
      <p:sp>
        <p:nvSpPr>
          <p:cNvPr id="14" name="Text 12"/>
          <p:cNvSpPr/>
          <p:nvPr/>
        </p:nvSpPr>
        <p:spPr>
          <a:xfrm>
            <a:off x="12179301" y="8064103"/>
            <a:ext cx="5671820" cy="304800"/>
          </a:xfrm>
          <a:prstGeom prst="rect">
            <a:avLst/>
          </a:prstGeom>
          <a:noFill/>
          <a:ln/>
        </p:spPr>
        <p:txBody>
          <a:bodyPr wrap="square" lIns="25400" tIns="25400" rIns="25400" bIns="25400" rtlCol="0" anchor="t">
            <a:normAutofit/>
          </a:bodyPr>
          <a:lstStyle/>
          <a:p>
            <a:pPr marL="0" indent="0" algn="l">
              <a:buNone/>
            </a:pPr>
            <a:r>
              <a:rPr lang="en-US" sz="1800" kern="0" spc="108" dirty="0">
                <a:solidFill>
                  <a:srgbClr val="5C5C58"/>
                </a:solidFill>
                <a:latin typeface="Helvetica" pitchFamily="34" charset="0"/>
                <a:ea typeface="Helvetica" pitchFamily="34" charset="-122"/>
                <a:cs typeface="Helvetica" pitchFamily="34" charset="-120"/>
              </a:rPr>
              <a:t>WHY AI</a:t>
            </a:r>
            <a:endParaRPr lang="en-US" sz="1800" dirty="0"/>
          </a:p>
        </p:txBody>
      </p:sp>
      <p:sp>
        <p:nvSpPr>
          <p:cNvPr id="15" name="Text 13"/>
          <p:cNvSpPr/>
          <p:nvPr/>
        </p:nvSpPr>
        <p:spPr>
          <a:xfrm>
            <a:off x="12179301" y="8445103"/>
            <a:ext cx="5310886" cy="1117997"/>
          </a:xfrm>
          <a:prstGeom prst="rect">
            <a:avLst/>
          </a:prstGeom>
          <a:noFill/>
          <a:ln/>
        </p:spPr>
        <p:txBody>
          <a:bodyPr wrap="square" lIns="25400" tIns="25400" rIns="25400" bIns="25400" rtlCol="0" anchor="t">
            <a:normAutofit/>
          </a:bodyPr>
          <a:lstStyle/>
          <a:p>
            <a:pPr marL="0" indent="0" algn="l">
              <a:lnSpc>
                <a:spcPct val="118125"/>
              </a:lnSpc>
              <a:buNone/>
            </a:pPr>
            <a:r>
              <a:rPr lang="en-US" sz="2100" dirty="0">
                <a:solidFill>
                  <a:srgbClr val="141414"/>
                </a:solidFill>
                <a:latin typeface="Helvetica" pitchFamily="34" charset="0"/>
                <a:ea typeface="Helvetica" pitchFamily="34" charset="-122"/>
                <a:cs typeface="Helvetica" pitchFamily="34" charset="-120"/>
              </a:rPr>
              <a:t>Long documents, varied templates and precedent reasoning that rules alone cannot cover</a:t>
            </a:r>
            <a:endParaRPr lang="en-US" sz="2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AFAF8"/>
        </a:solidFill>
        <a:effectLst/>
      </p:bgPr>
    </p:bg>
    <p:spTree>
      <p:nvGrpSpPr>
        <p:cNvPr id="1" name=""/>
        <p:cNvGrpSpPr/>
        <p:nvPr/>
      </p:nvGrpSpPr>
      <p:grpSpPr>
        <a:xfrm>
          <a:off x="0" y="0"/>
          <a:ext cx="0" cy="0"/>
          <a:chOff x="0" y="0"/>
          <a:chExt cx="0" cy="0"/>
        </a:xfrm>
      </p:grpSpPr>
      <p:sp>
        <p:nvSpPr>
          <p:cNvPr id="2" name="Shape 0"/>
          <p:cNvSpPr/>
          <p:nvPr/>
        </p:nvSpPr>
        <p:spPr>
          <a:xfrm>
            <a:off x="952500" y="857250"/>
            <a:ext cx="16383000" cy="25400"/>
          </a:xfrm>
          <a:prstGeom prst="rect">
            <a:avLst/>
          </a:prstGeom>
          <a:solidFill>
            <a:srgbClr val="141414"/>
          </a:solidFill>
          <a:ln/>
        </p:spPr>
      </p:sp>
      <p:sp>
        <p:nvSpPr>
          <p:cNvPr id="3" name="Text 1"/>
          <p:cNvSpPr/>
          <p:nvPr/>
        </p:nvSpPr>
        <p:spPr>
          <a:xfrm>
            <a:off x="952500" y="1073150"/>
            <a:ext cx="2372499" cy="304800"/>
          </a:xfrm>
          <a:prstGeom prst="rect">
            <a:avLst/>
          </a:prstGeom>
          <a:noFill/>
          <a:ln/>
        </p:spPr>
        <p:txBody>
          <a:bodyPr wrap="square" lIns="25400" tIns="25400" rIns="25400" bIns="25400" rtlCol="0" anchor="t">
            <a:normAutofit/>
          </a:bodyPr>
          <a:lstStyle/>
          <a:p>
            <a:pPr marL="0" indent="0" algn="l">
              <a:buNone/>
            </a:pPr>
            <a:r>
              <a:rPr lang="en-US" sz="1800" kern="0" spc="108" dirty="0">
                <a:solidFill>
                  <a:srgbClr val="141414"/>
                </a:solidFill>
                <a:latin typeface="Helvetica" pitchFamily="34" charset="0"/>
                <a:ea typeface="Helvetica" pitchFamily="34" charset="-122"/>
                <a:cs typeface="Helvetica" pitchFamily="34" charset="-120"/>
              </a:rPr>
              <a:t>02 OPPORTUNITY</a:t>
            </a:r>
            <a:endParaRPr lang="en-US" sz="1800" dirty="0"/>
          </a:p>
        </p:txBody>
      </p:sp>
      <p:sp>
        <p:nvSpPr>
          <p:cNvPr id="4" name="Text 2"/>
          <p:cNvSpPr/>
          <p:nvPr/>
        </p:nvSpPr>
        <p:spPr>
          <a:xfrm>
            <a:off x="13140630" y="1073150"/>
            <a:ext cx="4614356" cy="304800"/>
          </a:xfrm>
          <a:prstGeom prst="rect">
            <a:avLst/>
          </a:prstGeom>
          <a:noFill/>
          <a:ln/>
        </p:spPr>
        <p:txBody>
          <a:bodyPr wrap="square" lIns="25400" tIns="25400" rIns="25400" bIns="25400" rtlCol="0" anchor="t">
            <a:normAutofit/>
          </a:bodyPr>
          <a:lstStyle/>
          <a:p>
            <a:pPr marL="0" indent="0" algn="l">
              <a:buNone/>
            </a:pPr>
            <a:r>
              <a:rPr lang="en-US" sz="1800" kern="0" spc="108" dirty="0">
                <a:solidFill>
                  <a:srgbClr val="141414"/>
                </a:solidFill>
                <a:latin typeface="Helvetica" pitchFamily="34" charset="0"/>
                <a:ea typeface="Helvetica" pitchFamily="34" charset="-122"/>
                <a:cs typeface="Helvetica" pitchFamily="34" charset="-120"/>
              </a:rPr>
              <a:t>ATLIQ CONTRACT RISK ANALYZER</a:t>
            </a:r>
            <a:endParaRPr lang="en-US" sz="1800" dirty="0"/>
          </a:p>
        </p:txBody>
      </p:sp>
      <p:sp>
        <p:nvSpPr>
          <p:cNvPr id="5" name="Text 3"/>
          <p:cNvSpPr/>
          <p:nvPr/>
        </p:nvSpPr>
        <p:spPr>
          <a:xfrm>
            <a:off x="952500" y="1797050"/>
            <a:ext cx="14716125" cy="1354733"/>
          </a:xfrm>
          <a:prstGeom prst="rect">
            <a:avLst/>
          </a:prstGeom>
          <a:noFill/>
          <a:ln/>
        </p:spPr>
        <p:txBody>
          <a:bodyPr wrap="square" lIns="25400" tIns="25400" rIns="25400" bIns="25400" rtlCol="0" anchor="t">
            <a:normAutofit/>
          </a:bodyPr>
          <a:lstStyle/>
          <a:p>
            <a:pPr marL="0" indent="0" algn="l">
              <a:lnSpc>
                <a:spcPct val="94255"/>
              </a:lnSpc>
              <a:buNone/>
            </a:pPr>
            <a:r>
              <a:rPr lang="en-US" sz="4800" b="1" kern="0" spc="-120" dirty="0">
                <a:solidFill>
                  <a:srgbClr val="141414"/>
                </a:solidFill>
                <a:latin typeface="Helvetica" pitchFamily="34" charset="0"/>
                <a:ea typeface="Helvetica" pitchFamily="34" charset="-122"/>
                <a:cs typeface="Helvetica" pitchFamily="34" charset="-120"/>
              </a:rPr>
              <a:t>V1 targets the review stage and defers channel capture</a:t>
            </a:r>
            <a:endParaRPr lang="en-US" sz="4800" dirty="0"/>
          </a:p>
        </p:txBody>
      </p:sp>
      <p:sp>
        <p:nvSpPr>
          <p:cNvPr id="6" name="Shape 4"/>
          <p:cNvSpPr/>
          <p:nvPr/>
        </p:nvSpPr>
        <p:spPr>
          <a:xfrm>
            <a:off x="952500" y="4047133"/>
            <a:ext cx="7810500" cy="25400"/>
          </a:xfrm>
          <a:prstGeom prst="rect">
            <a:avLst/>
          </a:prstGeom>
          <a:solidFill>
            <a:srgbClr val="141414"/>
          </a:solidFill>
          <a:ln/>
        </p:spPr>
      </p:sp>
      <p:sp>
        <p:nvSpPr>
          <p:cNvPr id="7" name="Text 5"/>
          <p:cNvSpPr/>
          <p:nvPr/>
        </p:nvSpPr>
        <p:spPr>
          <a:xfrm>
            <a:off x="952500" y="3647083"/>
            <a:ext cx="8044815" cy="304800"/>
          </a:xfrm>
          <a:prstGeom prst="rect">
            <a:avLst/>
          </a:prstGeom>
          <a:noFill/>
          <a:ln/>
        </p:spPr>
        <p:txBody>
          <a:bodyPr wrap="square" lIns="25400" tIns="25400" rIns="25400" bIns="25400" rtlCol="0" anchor="t">
            <a:normAutofit/>
          </a:bodyPr>
          <a:lstStyle/>
          <a:p>
            <a:pPr marL="0" indent="0" algn="l">
              <a:buNone/>
            </a:pPr>
            <a:r>
              <a:rPr lang="en-US" sz="1800" kern="0" spc="108" dirty="0">
                <a:solidFill>
                  <a:srgbClr val="141414"/>
                </a:solidFill>
                <a:latin typeface="Helvetica" pitchFamily="34" charset="0"/>
                <a:ea typeface="Helvetica" pitchFamily="34" charset="-122"/>
                <a:cs typeface="Helvetica" pitchFamily="34" charset="-120"/>
              </a:rPr>
              <a:t>V1 SHIPS</a:t>
            </a:r>
            <a:endParaRPr lang="en-US" sz="1800" dirty="0"/>
          </a:p>
        </p:txBody>
      </p:sp>
      <p:sp>
        <p:nvSpPr>
          <p:cNvPr id="8" name="Shape 6"/>
          <p:cNvSpPr/>
          <p:nvPr/>
        </p:nvSpPr>
        <p:spPr>
          <a:xfrm>
            <a:off x="952500" y="4644033"/>
            <a:ext cx="7810500" cy="9525"/>
          </a:xfrm>
          <a:prstGeom prst="rect">
            <a:avLst/>
          </a:prstGeom>
          <a:solidFill>
            <a:srgbClr val="D9D9D4"/>
          </a:solidFill>
          <a:ln/>
        </p:spPr>
      </p:sp>
      <p:sp>
        <p:nvSpPr>
          <p:cNvPr id="9" name="Text 7"/>
          <p:cNvSpPr/>
          <p:nvPr/>
        </p:nvSpPr>
        <p:spPr>
          <a:xfrm>
            <a:off x="952500" y="4205883"/>
            <a:ext cx="8044815" cy="342900"/>
          </a:xfrm>
          <a:prstGeom prst="rect">
            <a:avLst/>
          </a:prstGeom>
          <a:noFill/>
          <a:ln/>
        </p:spPr>
        <p:txBody>
          <a:bodyPr wrap="square" lIns="25400" tIns="25400" rIns="25400" bIns="25400" rtlCol="0" anchor="t">
            <a:normAutofit/>
          </a:bodyPr>
          <a:lstStyle/>
          <a:p>
            <a:pPr marL="0" indent="0" algn="l">
              <a:buNone/>
            </a:pPr>
            <a:r>
              <a:rPr lang="en-US" sz="2100" dirty="0">
                <a:solidFill>
                  <a:srgbClr val="141414"/>
                </a:solidFill>
                <a:latin typeface="Helvetica" pitchFamily="34" charset="0"/>
                <a:ea typeface="Helvetica" pitchFamily="34" charset="-122"/>
                <a:cs typeface="Helvetica" pitchFamily="34" charset="-120"/>
              </a:rPr>
              <a:t>Full clause segmentation with coverage</a:t>
            </a:r>
            <a:endParaRPr lang="en-US" sz="2100" dirty="0"/>
          </a:p>
        </p:txBody>
      </p:sp>
      <p:sp>
        <p:nvSpPr>
          <p:cNvPr id="10" name="Shape 8"/>
          <p:cNvSpPr/>
          <p:nvPr/>
        </p:nvSpPr>
        <p:spPr>
          <a:xfrm>
            <a:off x="952500" y="5221883"/>
            <a:ext cx="7810500" cy="9525"/>
          </a:xfrm>
          <a:prstGeom prst="rect">
            <a:avLst/>
          </a:prstGeom>
          <a:solidFill>
            <a:srgbClr val="D9D9D4"/>
          </a:solidFill>
          <a:ln/>
        </p:spPr>
      </p:sp>
      <p:sp>
        <p:nvSpPr>
          <p:cNvPr id="11" name="Text 9"/>
          <p:cNvSpPr/>
          <p:nvPr/>
        </p:nvSpPr>
        <p:spPr>
          <a:xfrm>
            <a:off x="952500" y="4783733"/>
            <a:ext cx="8044815" cy="342900"/>
          </a:xfrm>
          <a:prstGeom prst="rect">
            <a:avLst/>
          </a:prstGeom>
          <a:noFill/>
          <a:ln/>
        </p:spPr>
        <p:txBody>
          <a:bodyPr wrap="square" lIns="25400" tIns="25400" rIns="25400" bIns="25400" rtlCol="0" anchor="t">
            <a:normAutofit/>
          </a:bodyPr>
          <a:lstStyle/>
          <a:p>
            <a:pPr marL="0" indent="0" algn="l">
              <a:buNone/>
            </a:pPr>
            <a:r>
              <a:rPr lang="en-US" sz="2100" dirty="0">
                <a:solidFill>
                  <a:srgbClr val="141414"/>
                </a:solidFill>
                <a:latin typeface="Helvetica" pitchFamily="34" charset="0"/>
                <a:ea typeface="Helvetica" pitchFamily="34" charset="-122"/>
                <a:cs typeface="Helvetica" pitchFamily="34" charset="-120"/>
              </a:rPr>
              <a:t>Risk severity, evidence and next action</a:t>
            </a:r>
            <a:endParaRPr lang="en-US" sz="2100" dirty="0"/>
          </a:p>
        </p:txBody>
      </p:sp>
      <p:sp>
        <p:nvSpPr>
          <p:cNvPr id="12" name="Shape 10"/>
          <p:cNvSpPr/>
          <p:nvPr/>
        </p:nvSpPr>
        <p:spPr>
          <a:xfrm>
            <a:off x="952500" y="5799733"/>
            <a:ext cx="7810500" cy="9525"/>
          </a:xfrm>
          <a:prstGeom prst="rect">
            <a:avLst/>
          </a:prstGeom>
          <a:solidFill>
            <a:srgbClr val="D9D9D4"/>
          </a:solidFill>
          <a:ln/>
        </p:spPr>
      </p:sp>
      <p:sp>
        <p:nvSpPr>
          <p:cNvPr id="13" name="Text 11"/>
          <p:cNvSpPr/>
          <p:nvPr/>
        </p:nvSpPr>
        <p:spPr>
          <a:xfrm>
            <a:off x="952500" y="5361583"/>
            <a:ext cx="8044815" cy="342900"/>
          </a:xfrm>
          <a:prstGeom prst="rect">
            <a:avLst/>
          </a:prstGeom>
          <a:noFill/>
          <a:ln/>
        </p:spPr>
        <p:txBody>
          <a:bodyPr wrap="square" lIns="25400" tIns="25400" rIns="25400" bIns="25400" rtlCol="0" anchor="t">
            <a:normAutofit/>
          </a:bodyPr>
          <a:lstStyle/>
          <a:p>
            <a:pPr marL="0" indent="0" algn="l">
              <a:buNone/>
            </a:pPr>
            <a:r>
              <a:rPr lang="en-US" sz="2100" dirty="0">
                <a:solidFill>
                  <a:srgbClr val="141414"/>
                </a:solidFill>
                <a:latin typeface="Helvetica" pitchFamily="34" charset="0"/>
                <a:ea typeface="Helvetica" pitchFamily="34" charset="-122"/>
                <a:cs typeface="Helvetica" pitchFamily="34" charset="-120"/>
              </a:rPr>
              <a:t>Search over signed contracts and precedent</a:t>
            </a:r>
            <a:endParaRPr lang="en-US" sz="2100" dirty="0"/>
          </a:p>
        </p:txBody>
      </p:sp>
      <p:sp>
        <p:nvSpPr>
          <p:cNvPr id="14" name="Shape 12"/>
          <p:cNvSpPr/>
          <p:nvPr/>
        </p:nvSpPr>
        <p:spPr>
          <a:xfrm>
            <a:off x="952500" y="6377583"/>
            <a:ext cx="7810500" cy="9525"/>
          </a:xfrm>
          <a:prstGeom prst="rect">
            <a:avLst/>
          </a:prstGeom>
          <a:solidFill>
            <a:srgbClr val="D9D9D4"/>
          </a:solidFill>
          <a:ln/>
        </p:spPr>
      </p:sp>
      <p:sp>
        <p:nvSpPr>
          <p:cNvPr id="15" name="Text 13"/>
          <p:cNvSpPr/>
          <p:nvPr/>
        </p:nvSpPr>
        <p:spPr>
          <a:xfrm>
            <a:off x="952500" y="5939433"/>
            <a:ext cx="8044815" cy="342900"/>
          </a:xfrm>
          <a:prstGeom prst="rect">
            <a:avLst/>
          </a:prstGeom>
          <a:noFill/>
          <a:ln/>
        </p:spPr>
        <p:txBody>
          <a:bodyPr wrap="square" lIns="25400" tIns="25400" rIns="25400" bIns="25400" rtlCol="0" anchor="t">
            <a:normAutofit/>
          </a:bodyPr>
          <a:lstStyle/>
          <a:p>
            <a:pPr marL="0" indent="0" algn="l">
              <a:buNone/>
            </a:pPr>
            <a:r>
              <a:rPr lang="en-US" sz="2100" dirty="0">
                <a:solidFill>
                  <a:srgbClr val="141414"/>
                </a:solidFill>
                <a:latin typeface="Helvetica" pitchFamily="34" charset="0"/>
                <a:ea typeface="Helvetica" pitchFamily="34" charset="-122"/>
                <a:cs typeface="Helvetica" pitchFamily="34" charset="-120"/>
              </a:rPr>
              <a:t>Conflict detection with live / expired status</a:t>
            </a:r>
            <a:endParaRPr lang="en-US" sz="2100" dirty="0"/>
          </a:p>
        </p:txBody>
      </p:sp>
      <p:sp>
        <p:nvSpPr>
          <p:cNvPr id="16" name="Shape 14"/>
          <p:cNvSpPr/>
          <p:nvPr/>
        </p:nvSpPr>
        <p:spPr>
          <a:xfrm>
            <a:off x="952500" y="6955433"/>
            <a:ext cx="7810500" cy="9525"/>
          </a:xfrm>
          <a:prstGeom prst="rect">
            <a:avLst/>
          </a:prstGeom>
          <a:solidFill>
            <a:srgbClr val="D9D9D4"/>
          </a:solidFill>
          <a:ln/>
        </p:spPr>
      </p:sp>
      <p:sp>
        <p:nvSpPr>
          <p:cNvPr id="17" name="Text 15"/>
          <p:cNvSpPr/>
          <p:nvPr/>
        </p:nvSpPr>
        <p:spPr>
          <a:xfrm>
            <a:off x="952500" y="6517283"/>
            <a:ext cx="8044815" cy="342900"/>
          </a:xfrm>
          <a:prstGeom prst="rect">
            <a:avLst/>
          </a:prstGeom>
          <a:noFill/>
          <a:ln/>
        </p:spPr>
        <p:txBody>
          <a:bodyPr wrap="square" lIns="25400" tIns="25400" rIns="25400" bIns="25400" rtlCol="0" anchor="t">
            <a:normAutofit/>
          </a:bodyPr>
          <a:lstStyle/>
          <a:p>
            <a:pPr marL="0" indent="0" algn="l">
              <a:buNone/>
            </a:pPr>
            <a:r>
              <a:rPr lang="en-US" sz="2100" dirty="0">
                <a:solidFill>
                  <a:srgbClr val="141414"/>
                </a:solidFill>
                <a:latin typeface="Helvetica" pitchFamily="34" charset="0"/>
                <a:ea typeface="Helvetica" pitchFamily="34" charset="-122"/>
                <a:cs typeface="Helvetica" pitchFamily="34" charset="-120"/>
              </a:rPr>
              <a:t>Entity, brand and counterparty checks</a:t>
            </a:r>
            <a:endParaRPr lang="en-US" sz="2100" dirty="0"/>
          </a:p>
        </p:txBody>
      </p:sp>
      <p:sp>
        <p:nvSpPr>
          <p:cNvPr id="18" name="Shape 16"/>
          <p:cNvSpPr/>
          <p:nvPr/>
        </p:nvSpPr>
        <p:spPr>
          <a:xfrm>
            <a:off x="952500" y="7533283"/>
            <a:ext cx="7810500" cy="9525"/>
          </a:xfrm>
          <a:prstGeom prst="rect">
            <a:avLst/>
          </a:prstGeom>
          <a:solidFill>
            <a:srgbClr val="D9D9D4"/>
          </a:solidFill>
          <a:ln/>
        </p:spPr>
      </p:sp>
      <p:sp>
        <p:nvSpPr>
          <p:cNvPr id="19" name="Text 17"/>
          <p:cNvSpPr/>
          <p:nvPr/>
        </p:nvSpPr>
        <p:spPr>
          <a:xfrm>
            <a:off x="952500" y="7095133"/>
            <a:ext cx="8044815" cy="342900"/>
          </a:xfrm>
          <a:prstGeom prst="rect">
            <a:avLst/>
          </a:prstGeom>
          <a:noFill/>
          <a:ln/>
        </p:spPr>
        <p:txBody>
          <a:bodyPr wrap="square" lIns="25400" tIns="25400" rIns="25400" bIns="25400" rtlCol="0" anchor="t">
            <a:normAutofit/>
          </a:bodyPr>
          <a:lstStyle/>
          <a:p>
            <a:pPr marL="0" indent="0" algn="l">
              <a:buNone/>
            </a:pPr>
            <a:r>
              <a:rPr lang="en-US" sz="2100" dirty="0">
                <a:solidFill>
                  <a:srgbClr val="141414"/>
                </a:solidFill>
                <a:latin typeface="Helvetica" pitchFamily="34" charset="0"/>
                <a:ea typeface="Helvetica" pitchFamily="34" charset="-122"/>
                <a:cs typeface="Helvetica" pitchFamily="34" charset="-120"/>
              </a:rPr>
              <a:t>Delegation, second reviewer, audit log</a:t>
            </a:r>
            <a:endParaRPr lang="en-US" sz="2100" dirty="0"/>
          </a:p>
        </p:txBody>
      </p:sp>
      <p:sp>
        <p:nvSpPr>
          <p:cNvPr id="20" name="Shape 18"/>
          <p:cNvSpPr/>
          <p:nvPr/>
        </p:nvSpPr>
        <p:spPr>
          <a:xfrm>
            <a:off x="9525000" y="4047133"/>
            <a:ext cx="7810500" cy="25400"/>
          </a:xfrm>
          <a:prstGeom prst="rect">
            <a:avLst/>
          </a:prstGeom>
          <a:solidFill>
            <a:srgbClr val="5C5C58"/>
          </a:solidFill>
          <a:ln/>
        </p:spPr>
      </p:sp>
      <p:sp>
        <p:nvSpPr>
          <p:cNvPr id="21" name="Text 19"/>
          <p:cNvSpPr/>
          <p:nvPr/>
        </p:nvSpPr>
        <p:spPr>
          <a:xfrm>
            <a:off x="9525000" y="3647083"/>
            <a:ext cx="8044815" cy="304800"/>
          </a:xfrm>
          <a:prstGeom prst="rect">
            <a:avLst/>
          </a:prstGeom>
          <a:noFill/>
          <a:ln/>
        </p:spPr>
        <p:txBody>
          <a:bodyPr wrap="square" lIns="25400" tIns="25400" rIns="25400" bIns="25400" rtlCol="0" anchor="t">
            <a:normAutofit/>
          </a:bodyPr>
          <a:lstStyle/>
          <a:p>
            <a:pPr marL="0" indent="0" algn="l">
              <a:buNone/>
            </a:pPr>
            <a:r>
              <a:rPr lang="en-US" sz="1800" kern="0" spc="108" dirty="0">
                <a:solidFill>
                  <a:srgbClr val="5C5C58"/>
                </a:solidFill>
                <a:latin typeface="Helvetica" pitchFamily="34" charset="0"/>
                <a:ea typeface="Helvetica" pitchFamily="34" charset="-122"/>
                <a:cs typeface="Helvetica" pitchFamily="34" charset="-120"/>
              </a:rPr>
              <a:t>DEFERRED</a:t>
            </a:r>
            <a:endParaRPr lang="en-US" sz="1800" dirty="0"/>
          </a:p>
        </p:txBody>
      </p:sp>
      <p:sp>
        <p:nvSpPr>
          <p:cNvPr id="22" name="Shape 20"/>
          <p:cNvSpPr/>
          <p:nvPr/>
        </p:nvSpPr>
        <p:spPr>
          <a:xfrm>
            <a:off x="9525000" y="4644033"/>
            <a:ext cx="7810500" cy="9525"/>
          </a:xfrm>
          <a:prstGeom prst="rect">
            <a:avLst/>
          </a:prstGeom>
          <a:solidFill>
            <a:srgbClr val="D9D9D4"/>
          </a:solidFill>
          <a:ln/>
        </p:spPr>
      </p:sp>
      <p:sp>
        <p:nvSpPr>
          <p:cNvPr id="23" name="Text 21"/>
          <p:cNvSpPr/>
          <p:nvPr/>
        </p:nvSpPr>
        <p:spPr>
          <a:xfrm>
            <a:off x="9525000" y="4205883"/>
            <a:ext cx="8044815" cy="342900"/>
          </a:xfrm>
          <a:prstGeom prst="rect">
            <a:avLst/>
          </a:prstGeom>
          <a:noFill/>
          <a:ln/>
        </p:spPr>
        <p:txBody>
          <a:bodyPr wrap="square" lIns="25400" tIns="25400" rIns="25400" bIns="25400" rtlCol="0" anchor="t">
            <a:normAutofit/>
          </a:bodyPr>
          <a:lstStyle/>
          <a:p>
            <a:pPr marL="0" indent="0" algn="l">
              <a:buNone/>
            </a:pPr>
            <a:r>
              <a:rPr lang="en-US" sz="2100" dirty="0">
                <a:solidFill>
                  <a:srgbClr val="5C5C58"/>
                </a:solidFill>
                <a:latin typeface="Helvetica" pitchFamily="34" charset="0"/>
                <a:ea typeface="Helvetica" pitchFamily="34" charset="-122"/>
                <a:cs typeface="Helvetica" pitchFamily="34" charset="-120"/>
              </a:rPr>
              <a:t>Commitments from calls, WhatsApp, Teams, Slack</a:t>
            </a:r>
            <a:endParaRPr lang="en-US" sz="2100" dirty="0"/>
          </a:p>
        </p:txBody>
      </p:sp>
      <p:sp>
        <p:nvSpPr>
          <p:cNvPr id="24" name="Shape 22"/>
          <p:cNvSpPr/>
          <p:nvPr/>
        </p:nvSpPr>
        <p:spPr>
          <a:xfrm>
            <a:off x="9525000" y="5221883"/>
            <a:ext cx="7810500" cy="9525"/>
          </a:xfrm>
          <a:prstGeom prst="rect">
            <a:avLst/>
          </a:prstGeom>
          <a:solidFill>
            <a:srgbClr val="D9D9D4"/>
          </a:solidFill>
          <a:ln/>
        </p:spPr>
      </p:sp>
      <p:sp>
        <p:nvSpPr>
          <p:cNvPr id="25" name="Text 23"/>
          <p:cNvSpPr/>
          <p:nvPr/>
        </p:nvSpPr>
        <p:spPr>
          <a:xfrm>
            <a:off x="9525000" y="4783733"/>
            <a:ext cx="8044815" cy="342900"/>
          </a:xfrm>
          <a:prstGeom prst="rect">
            <a:avLst/>
          </a:prstGeom>
          <a:noFill/>
          <a:ln/>
        </p:spPr>
        <p:txBody>
          <a:bodyPr wrap="square" lIns="25400" tIns="25400" rIns="25400" bIns="25400" rtlCol="0" anchor="t">
            <a:normAutofit/>
          </a:bodyPr>
          <a:lstStyle/>
          <a:p>
            <a:pPr marL="0" indent="0" algn="l">
              <a:buNone/>
            </a:pPr>
            <a:r>
              <a:rPr lang="en-US" sz="2100" dirty="0">
                <a:solidFill>
                  <a:srgbClr val="5C5C58"/>
                </a:solidFill>
                <a:latin typeface="Helvetica" pitchFamily="34" charset="0"/>
                <a:ea typeface="Helvetica" pitchFamily="34" charset="-122"/>
                <a:cs typeface="Helvetica" pitchFamily="34" charset="-120"/>
              </a:rPr>
              <a:t>Email, Drive and SharePoint ingestion</a:t>
            </a:r>
            <a:endParaRPr lang="en-US" sz="2100" dirty="0"/>
          </a:p>
        </p:txBody>
      </p:sp>
      <p:sp>
        <p:nvSpPr>
          <p:cNvPr id="26" name="Shape 24"/>
          <p:cNvSpPr/>
          <p:nvPr/>
        </p:nvSpPr>
        <p:spPr>
          <a:xfrm>
            <a:off x="9525000" y="5799733"/>
            <a:ext cx="7810500" cy="9525"/>
          </a:xfrm>
          <a:prstGeom prst="rect">
            <a:avLst/>
          </a:prstGeom>
          <a:solidFill>
            <a:srgbClr val="D9D9D4"/>
          </a:solidFill>
          <a:ln/>
        </p:spPr>
      </p:sp>
      <p:sp>
        <p:nvSpPr>
          <p:cNvPr id="27" name="Text 25"/>
          <p:cNvSpPr/>
          <p:nvPr/>
        </p:nvSpPr>
        <p:spPr>
          <a:xfrm>
            <a:off x="9525000" y="5361583"/>
            <a:ext cx="8044815" cy="342900"/>
          </a:xfrm>
          <a:prstGeom prst="rect">
            <a:avLst/>
          </a:prstGeom>
          <a:noFill/>
          <a:ln/>
        </p:spPr>
        <p:txBody>
          <a:bodyPr wrap="square" lIns="25400" tIns="25400" rIns="25400" bIns="25400" rtlCol="0" anchor="t">
            <a:normAutofit/>
          </a:bodyPr>
          <a:lstStyle/>
          <a:p>
            <a:pPr marL="0" indent="0" algn="l">
              <a:buNone/>
            </a:pPr>
            <a:r>
              <a:rPr lang="en-US" sz="2100" dirty="0">
                <a:solidFill>
                  <a:srgbClr val="5C5C58"/>
                </a:solidFill>
                <a:latin typeface="Helvetica" pitchFamily="34" charset="0"/>
                <a:ea typeface="Helvetica" pitchFamily="34" charset="-122"/>
                <a:cs typeface="Helvetica" pitchFamily="34" charset="-120"/>
              </a:rPr>
              <a:t>Meeting-minutes ingestion</a:t>
            </a:r>
            <a:endParaRPr lang="en-US" sz="2100" dirty="0"/>
          </a:p>
        </p:txBody>
      </p:sp>
      <p:sp>
        <p:nvSpPr>
          <p:cNvPr id="28" name="Shape 26"/>
          <p:cNvSpPr/>
          <p:nvPr/>
        </p:nvSpPr>
        <p:spPr>
          <a:xfrm>
            <a:off x="9525000" y="6377583"/>
            <a:ext cx="7810500" cy="9525"/>
          </a:xfrm>
          <a:prstGeom prst="rect">
            <a:avLst/>
          </a:prstGeom>
          <a:solidFill>
            <a:srgbClr val="D9D9D4"/>
          </a:solidFill>
          <a:ln/>
        </p:spPr>
      </p:sp>
      <p:sp>
        <p:nvSpPr>
          <p:cNvPr id="29" name="Text 27"/>
          <p:cNvSpPr/>
          <p:nvPr/>
        </p:nvSpPr>
        <p:spPr>
          <a:xfrm>
            <a:off x="9525000" y="5939433"/>
            <a:ext cx="8044815" cy="342900"/>
          </a:xfrm>
          <a:prstGeom prst="rect">
            <a:avLst/>
          </a:prstGeom>
          <a:noFill/>
          <a:ln/>
        </p:spPr>
        <p:txBody>
          <a:bodyPr wrap="square" lIns="25400" tIns="25400" rIns="25400" bIns="25400" rtlCol="0" anchor="t">
            <a:normAutofit/>
          </a:bodyPr>
          <a:lstStyle/>
          <a:p>
            <a:pPr marL="0" indent="0" algn="l">
              <a:buNone/>
            </a:pPr>
            <a:r>
              <a:rPr lang="en-US" sz="2100" dirty="0">
                <a:solidFill>
                  <a:srgbClr val="5C5C58"/>
                </a:solidFill>
                <a:latin typeface="Helvetica" pitchFamily="34" charset="0"/>
                <a:ea typeface="Helvetica" pitchFamily="34" charset="-122"/>
                <a:cs typeface="Helvetica" pitchFamily="34" charset="-120"/>
              </a:rPr>
              <a:t>Automated redlines in Word</a:t>
            </a:r>
            <a:endParaRPr lang="en-US" sz="2100" dirty="0"/>
          </a:p>
        </p:txBody>
      </p:sp>
      <p:sp>
        <p:nvSpPr>
          <p:cNvPr id="30" name="Shape 28"/>
          <p:cNvSpPr/>
          <p:nvPr/>
        </p:nvSpPr>
        <p:spPr>
          <a:xfrm>
            <a:off x="9525000" y="6955433"/>
            <a:ext cx="7810500" cy="9525"/>
          </a:xfrm>
          <a:prstGeom prst="rect">
            <a:avLst/>
          </a:prstGeom>
          <a:solidFill>
            <a:srgbClr val="D9D9D4"/>
          </a:solidFill>
          <a:ln/>
        </p:spPr>
      </p:sp>
      <p:sp>
        <p:nvSpPr>
          <p:cNvPr id="31" name="Text 29"/>
          <p:cNvSpPr/>
          <p:nvPr/>
        </p:nvSpPr>
        <p:spPr>
          <a:xfrm>
            <a:off x="9525000" y="6517283"/>
            <a:ext cx="8044815" cy="342900"/>
          </a:xfrm>
          <a:prstGeom prst="rect">
            <a:avLst/>
          </a:prstGeom>
          <a:noFill/>
          <a:ln/>
        </p:spPr>
        <p:txBody>
          <a:bodyPr wrap="square" lIns="25400" tIns="25400" rIns="25400" bIns="25400" rtlCol="0" anchor="t">
            <a:normAutofit/>
          </a:bodyPr>
          <a:lstStyle/>
          <a:p>
            <a:pPr marL="0" indent="0" algn="l">
              <a:buNone/>
            </a:pPr>
            <a:r>
              <a:rPr lang="en-US" sz="2100" dirty="0">
                <a:solidFill>
                  <a:srgbClr val="5C5C58"/>
                </a:solidFill>
                <a:latin typeface="Helvetica" pitchFamily="34" charset="0"/>
                <a:ea typeface="Helvetica" pitchFamily="34" charset="-122"/>
                <a:cs typeface="Helvetica" pitchFamily="34" charset="-120"/>
              </a:rPr>
              <a:t>E-signature and multi-language review</a:t>
            </a:r>
            <a:endParaRPr lang="en-US" sz="2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AFAF8"/>
        </a:solidFill>
        <a:effectLst/>
      </p:bgPr>
    </p:bg>
    <p:spTree>
      <p:nvGrpSpPr>
        <p:cNvPr id="1" name=""/>
        <p:cNvGrpSpPr/>
        <p:nvPr/>
      </p:nvGrpSpPr>
      <p:grpSpPr>
        <a:xfrm>
          <a:off x="0" y="0"/>
          <a:ext cx="0" cy="0"/>
          <a:chOff x="0" y="0"/>
          <a:chExt cx="0" cy="0"/>
        </a:xfrm>
      </p:grpSpPr>
      <p:sp>
        <p:nvSpPr>
          <p:cNvPr id="2" name="Shape 0"/>
          <p:cNvSpPr/>
          <p:nvPr/>
        </p:nvSpPr>
        <p:spPr>
          <a:xfrm>
            <a:off x="952500" y="857250"/>
            <a:ext cx="16383000" cy="25400"/>
          </a:xfrm>
          <a:prstGeom prst="rect">
            <a:avLst/>
          </a:prstGeom>
          <a:solidFill>
            <a:srgbClr val="141414"/>
          </a:solidFill>
          <a:ln/>
        </p:spPr>
      </p:sp>
      <p:sp>
        <p:nvSpPr>
          <p:cNvPr id="3" name="Text 1"/>
          <p:cNvSpPr/>
          <p:nvPr/>
        </p:nvSpPr>
        <p:spPr>
          <a:xfrm>
            <a:off x="952500" y="1073150"/>
            <a:ext cx="2372499" cy="304800"/>
          </a:xfrm>
          <a:prstGeom prst="rect">
            <a:avLst/>
          </a:prstGeom>
          <a:noFill/>
          <a:ln/>
        </p:spPr>
        <p:txBody>
          <a:bodyPr wrap="square" lIns="25400" tIns="25400" rIns="25400" bIns="25400" rtlCol="0" anchor="t">
            <a:normAutofit/>
          </a:bodyPr>
          <a:lstStyle/>
          <a:p>
            <a:pPr marL="0" indent="0" algn="l">
              <a:buNone/>
            </a:pPr>
            <a:r>
              <a:rPr lang="en-US" sz="1800" kern="0" spc="108" dirty="0">
                <a:solidFill>
                  <a:srgbClr val="141414"/>
                </a:solidFill>
                <a:latin typeface="Helvetica" pitchFamily="34" charset="0"/>
                <a:ea typeface="Helvetica" pitchFamily="34" charset="-122"/>
                <a:cs typeface="Helvetica" pitchFamily="34" charset="-120"/>
              </a:rPr>
              <a:t>02 OPPORTUNITY</a:t>
            </a:r>
            <a:endParaRPr lang="en-US" sz="1800" dirty="0"/>
          </a:p>
        </p:txBody>
      </p:sp>
      <p:sp>
        <p:nvSpPr>
          <p:cNvPr id="4" name="Text 2"/>
          <p:cNvSpPr/>
          <p:nvPr/>
        </p:nvSpPr>
        <p:spPr>
          <a:xfrm>
            <a:off x="13140630" y="1073150"/>
            <a:ext cx="4614356" cy="304800"/>
          </a:xfrm>
          <a:prstGeom prst="rect">
            <a:avLst/>
          </a:prstGeom>
          <a:noFill/>
          <a:ln/>
        </p:spPr>
        <p:txBody>
          <a:bodyPr wrap="square" lIns="25400" tIns="25400" rIns="25400" bIns="25400" rtlCol="0" anchor="t">
            <a:normAutofit/>
          </a:bodyPr>
          <a:lstStyle/>
          <a:p>
            <a:pPr marL="0" indent="0" algn="l">
              <a:buNone/>
            </a:pPr>
            <a:r>
              <a:rPr lang="en-US" sz="1800" kern="0" spc="108" dirty="0">
                <a:solidFill>
                  <a:srgbClr val="141414"/>
                </a:solidFill>
                <a:latin typeface="Helvetica" pitchFamily="34" charset="0"/>
                <a:ea typeface="Helvetica" pitchFamily="34" charset="-122"/>
                <a:cs typeface="Helvetica" pitchFamily="34" charset="-120"/>
              </a:rPr>
              <a:t>ATLIQ CONTRACT RISK ANALYZER</a:t>
            </a:r>
            <a:endParaRPr lang="en-US" sz="1800" dirty="0"/>
          </a:p>
        </p:txBody>
      </p:sp>
      <p:sp>
        <p:nvSpPr>
          <p:cNvPr id="5" name="Text 3"/>
          <p:cNvSpPr/>
          <p:nvPr/>
        </p:nvSpPr>
        <p:spPr>
          <a:xfrm>
            <a:off x="952500" y="1797050"/>
            <a:ext cx="14716125" cy="1354733"/>
          </a:xfrm>
          <a:prstGeom prst="rect">
            <a:avLst/>
          </a:prstGeom>
          <a:noFill/>
          <a:ln/>
        </p:spPr>
        <p:txBody>
          <a:bodyPr wrap="square" lIns="25400" tIns="25400" rIns="25400" bIns="25400" rtlCol="0" anchor="t">
            <a:normAutofit/>
          </a:bodyPr>
          <a:lstStyle/>
          <a:p>
            <a:pPr marL="0" indent="0" algn="l">
              <a:lnSpc>
                <a:spcPct val="94255"/>
              </a:lnSpc>
              <a:buNone/>
            </a:pPr>
            <a:r>
              <a:rPr lang="en-US" sz="4800" b="1" kern="0" spc="-120" dirty="0">
                <a:solidFill>
                  <a:srgbClr val="141414"/>
                </a:solidFill>
                <a:latin typeface="Helvetica" pitchFamily="34" charset="0"/>
                <a:ea typeface="Helvetica" pitchFamily="34" charset="-122"/>
                <a:cs typeface="Helvetica" pitchFamily="34" charset="-120"/>
              </a:rPr>
              <a:t>The tool serves the CEO and three management reviewers</a:t>
            </a:r>
            <a:endParaRPr lang="en-US" sz="4800" dirty="0"/>
          </a:p>
        </p:txBody>
      </p:sp>
      <p:sp>
        <p:nvSpPr>
          <p:cNvPr id="6" name="Shape 4"/>
          <p:cNvSpPr/>
          <p:nvPr/>
        </p:nvSpPr>
        <p:spPr>
          <a:xfrm>
            <a:off x="952500" y="3647083"/>
            <a:ext cx="5681762" cy="25400"/>
          </a:xfrm>
          <a:prstGeom prst="rect">
            <a:avLst/>
          </a:prstGeom>
          <a:solidFill>
            <a:srgbClr val="141414"/>
          </a:solidFill>
          <a:ln/>
        </p:spPr>
      </p:sp>
      <p:sp>
        <p:nvSpPr>
          <p:cNvPr id="7" name="Text 5"/>
          <p:cNvSpPr/>
          <p:nvPr/>
        </p:nvSpPr>
        <p:spPr>
          <a:xfrm>
            <a:off x="952500" y="3901083"/>
            <a:ext cx="6249938" cy="304800"/>
          </a:xfrm>
          <a:prstGeom prst="rect">
            <a:avLst/>
          </a:prstGeom>
          <a:noFill/>
          <a:ln/>
        </p:spPr>
        <p:txBody>
          <a:bodyPr wrap="square" lIns="25400" tIns="25400" rIns="25400" bIns="25400" rtlCol="0" anchor="t">
            <a:normAutofit/>
          </a:bodyPr>
          <a:lstStyle/>
          <a:p>
            <a:pPr marL="0" indent="0" algn="l">
              <a:buNone/>
            </a:pPr>
            <a:r>
              <a:rPr lang="en-US" sz="1800" kern="0" spc="108" dirty="0">
                <a:solidFill>
                  <a:srgbClr val="5C5C58"/>
                </a:solidFill>
                <a:latin typeface="Helvetica" pitchFamily="34" charset="0"/>
                <a:ea typeface="Helvetica" pitchFamily="34" charset="-122"/>
                <a:cs typeface="Helvetica" pitchFamily="34" charset="-120"/>
              </a:rPr>
              <a:t>PRIMARY</a:t>
            </a:r>
            <a:endParaRPr lang="en-US" sz="1800" dirty="0"/>
          </a:p>
        </p:txBody>
      </p:sp>
      <p:sp>
        <p:nvSpPr>
          <p:cNvPr id="8" name="Text 6"/>
          <p:cNvSpPr/>
          <p:nvPr/>
        </p:nvSpPr>
        <p:spPr>
          <a:xfrm>
            <a:off x="952500" y="4358283"/>
            <a:ext cx="6249938" cy="499070"/>
          </a:xfrm>
          <a:prstGeom prst="rect">
            <a:avLst/>
          </a:prstGeom>
          <a:noFill/>
          <a:ln/>
        </p:spPr>
        <p:txBody>
          <a:bodyPr wrap="square" lIns="25400" tIns="25400" rIns="25400" bIns="25400" rtlCol="0" anchor="t">
            <a:normAutofit/>
          </a:bodyPr>
          <a:lstStyle/>
          <a:p>
            <a:pPr marL="0" indent="0" algn="l">
              <a:lnSpc>
                <a:spcPct val="95526"/>
              </a:lnSpc>
              <a:buNone/>
            </a:pPr>
            <a:r>
              <a:rPr lang="en-US" sz="3300" b="1" dirty="0">
                <a:solidFill>
                  <a:srgbClr val="141414"/>
                </a:solidFill>
                <a:latin typeface="Helvetica" pitchFamily="34" charset="0"/>
                <a:ea typeface="Helvetica" pitchFamily="34" charset="-122"/>
                <a:cs typeface="Helvetica" pitchFamily="34" charset="-120"/>
              </a:rPr>
              <a:t>Karandeep, CEO</a:t>
            </a:r>
            <a:endParaRPr lang="en-US" sz="3300" dirty="0"/>
          </a:p>
        </p:txBody>
      </p:sp>
      <p:sp>
        <p:nvSpPr>
          <p:cNvPr id="9" name="Text 7"/>
          <p:cNvSpPr/>
          <p:nvPr/>
        </p:nvSpPr>
        <p:spPr>
          <a:xfrm>
            <a:off x="952500" y="5009754"/>
            <a:ext cx="5852215" cy="784820"/>
          </a:xfrm>
          <a:prstGeom prst="rect">
            <a:avLst/>
          </a:prstGeom>
          <a:noFill/>
          <a:ln/>
        </p:spPr>
        <p:txBody>
          <a:bodyPr wrap="square" lIns="25400" tIns="25400" rIns="25400" bIns="25400" rtlCol="0" anchor="t">
            <a:normAutofit/>
          </a:bodyPr>
          <a:lstStyle/>
          <a:p>
            <a:pPr marL="0" indent="0" algn="l">
              <a:lnSpc>
                <a:spcPct val="122500"/>
              </a:lnSpc>
              <a:buNone/>
            </a:pPr>
            <a:r>
              <a:rPr lang="en-US" sz="2100" dirty="0">
                <a:solidFill>
                  <a:srgbClr val="141414"/>
                </a:solidFill>
                <a:latin typeface="Helvetica" pitchFamily="34" charset="0"/>
                <a:ea typeface="Helvetica" pitchFamily="34" charset="-122"/>
                <a:cs typeface="Helvetica" pitchFamily="34" charset="-120"/>
              </a:rPr>
              <a:t>Default reviewer, sole signatory and super-admin. Can delegate approval when busy.</a:t>
            </a:r>
            <a:endParaRPr lang="en-US" sz="2100" dirty="0"/>
          </a:p>
        </p:txBody>
      </p:sp>
      <p:sp>
        <p:nvSpPr>
          <p:cNvPr id="10" name="Shape 8"/>
          <p:cNvSpPr/>
          <p:nvPr/>
        </p:nvSpPr>
        <p:spPr>
          <a:xfrm>
            <a:off x="952500" y="8619530"/>
            <a:ext cx="5681762" cy="9525"/>
          </a:xfrm>
          <a:prstGeom prst="rect">
            <a:avLst/>
          </a:prstGeom>
          <a:solidFill>
            <a:srgbClr val="D9D9D4"/>
          </a:solidFill>
          <a:ln/>
        </p:spPr>
      </p:sp>
      <p:sp>
        <p:nvSpPr>
          <p:cNvPr id="11" name="Text 9"/>
          <p:cNvSpPr/>
          <p:nvPr/>
        </p:nvSpPr>
        <p:spPr>
          <a:xfrm>
            <a:off x="952500" y="8778280"/>
            <a:ext cx="5852215" cy="784820"/>
          </a:xfrm>
          <a:prstGeom prst="rect">
            <a:avLst/>
          </a:prstGeom>
          <a:noFill/>
          <a:ln/>
        </p:spPr>
        <p:txBody>
          <a:bodyPr wrap="square" lIns="25400" tIns="25400" rIns="25400" bIns="25400" rtlCol="0" anchor="t">
            <a:normAutofit/>
          </a:bodyPr>
          <a:lstStyle/>
          <a:p>
            <a:pPr marL="0" indent="0" algn="l">
              <a:lnSpc>
                <a:spcPct val="122500"/>
              </a:lnSpc>
              <a:buNone/>
            </a:pPr>
            <a:r>
              <a:rPr lang="en-US" sz="2100" b="1" dirty="0">
                <a:solidFill>
                  <a:srgbClr val="141414"/>
                </a:solidFill>
                <a:latin typeface="Helvetica" pitchFamily="34" charset="0"/>
                <a:ea typeface="Helvetica" pitchFamily="34" charset="-122"/>
                <a:cs typeface="Helvetica" pitchFamily="34" charset="-120"/>
              </a:rPr>
              <a:t>Needs </a:t>
            </a:r>
            <a:r>
              <a:rPr lang="en-US" sz="2100" dirty="0">
                <a:solidFill>
                  <a:srgbClr val="141414"/>
                </a:solidFill>
                <a:latin typeface="Helvetica" pitchFamily="34" charset="0"/>
                <a:ea typeface="Helvetica" pitchFamily="34" charset="-122"/>
                <a:cs typeface="Helvetica" pitchFamily="34" charset="-120"/>
              </a:rPr>
              <a:t>safe, fast and consistent decisions without late-night reading</a:t>
            </a:r>
            <a:endParaRPr lang="en-US" sz="2100" dirty="0"/>
          </a:p>
        </p:txBody>
      </p:sp>
      <p:sp>
        <p:nvSpPr>
          <p:cNvPr id="12" name="Shape 10"/>
          <p:cNvSpPr/>
          <p:nvPr/>
        </p:nvSpPr>
        <p:spPr>
          <a:xfrm>
            <a:off x="7167662" y="3647083"/>
            <a:ext cx="5681861" cy="25400"/>
          </a:xfrm>
          <a:prstGeom prst="rect">
            <a:avLst/>
          </a:prstGeom>
          <a:solidFill>
            <a:srgbClr val="141414"/>
          </a:solidFill>
          <a:ln/>
        </p:spPr>
      </p:sp>
      <p:sp>
        <p:nvSpPr>
          <p:cNvPr id="13" name="Text 11"/>
          <p:cNvSpPr/>
          <p:nvPr/>
        </p:nvSpPr>
        <p:spPr>
          <a:xfrm>
            <a:off x="7167662" y="3901083"/>
            <a:ext cx="6250047" cy="304800"/>
          </a:xfrm>
          <a:prstGeom prst="rect">
            <a:avLst/>
          </a:prstGeom>
          <a:noFill/>
          <a:ln/>
        </p:spPr>
        <p:txBody>
          <a:bodyPr wrap="square" lIns="25400" tIns="25400" rIns="25400" bIns="25400" rtlCol="0" anchor="t">
            <a:normAutofit/>
          </a:bodyPr>
          <a:lstStyle/>
          <a:p>
            <a:pPr marL="0" indent="0" algn="l">
              <a:buNone/>
            </a:pPr>
            <a:r>
              <a:rPr lang="en-US" sz="1800" kern="0" spc="108" dirty="0">
                <a:solidFill>
                  <a:srgbClr val="5C5C58"/>
                </a:solidFill>
                <a:latin typeface="Helvetica" pitchFamily="34" charset="0"/>
                <a:ea typeface="Helvetica" pitchFamily="34" charset="-122"/>
                <a:cs typeface="Helvetica" pitchFamily="34" charset="-120"/>
              </a:rPr>
              <a:t>SECONDARY</a:t>
            </a:r>
            <a:endParaRPr lang="en-US" sz="1800" dirty="0"/>
          </a:p>
        </p:txBody>
      </p:sp>
      <p:sp>
        <p:nvSpPr>
          <p:cNvPr id="14" name="Text 12"/>
          <p:cNvSpPr/>
          <p:nvPr/>
        </p:nvSpPr>
        <p:spPr>
          <a:xfrm>
            <a:off x="7167662" y="4358283"/>
            <a:ext cx="6250047" cy="499070"/>
          </a:xfrm>
          <a:prstGeom prst="rect">
            <a:avLst/>
          </a:prstGeom>
          <a:noFill/>
          <a:ln/>
        </p:spPr>
        <p:txBody>
          <a:bodyPr wrap="square" lIns="25400" tIns="25400" rIns="25400" bIns="25400" rtlCol="0" anchor="t">
            <a:normAutofit/>
          </a:bodyPr>
          <a:lstStyle/>
          <a:p>
            <a:pPr marL="0" indent="0" algn="l">
              <a:lnSpc>
                <a:spcPct val="95526"/>
              </a:lnSpc>
              <a:buNone/>
            </a:pPr>
            <a:r>
              <a:rPr lang="en-US" sz="3300" b="1" dirty="0">
                <a:solidFill>
                  <a:srgbClr val="141414"/>
                </a:solidFill>
                <a:latin typeface="Helvetica" pitchFamily="34" charset="0"/>
                <a:ea typeface="Helvetica" pitchFamily="34" charset="-122"/>
                <a:cs typeface="Helvetica" pitchFamily="34" charset="-120"/>
              </a:rPr>
              <a:t>Bhavin, Dhaval, Jay</a:t>
            </a:r>
            <a:endParaRPr lang="en-US" sz="3300" dirty="0"/>
          </a:p>
        </p:txBody>
      </p:sp>
      <p:sp>
        <p:nvSpPr>
          <p:cNvPr id="15" name="Text 13"/>
          <p:cNvSpPr/>
          <p:nvPr/>
        </p:nvSpPr>
        <p:spPr>
          <a:xfrm>
            <a:off x="7167662" y="5009754"/>
            <a:ext cx="5852317" cy="784820"/>
          </a:xfrm>
          <a:prstGeom prst="rect">
            <a:avLst/>
          </a:prstGeom>
          <a:noFill/>
          <a:ln/>
        </p:spPr>
        <p:txBody>
          <a:bodyPr wrap="square" lIns="25400" tIns="25400" rIns="25400" bIns="25400" rtlCol="0" anchor="t">
            <a:normAutofit/>
          </a:bodyPr>
          <a:lstStyle/>
          <a:p>
            <a:pPr marL="0" indent="0" algn="l">
              <a:lnSpc>
                <a:spcPct val="122500"/>
              </a:lnSpc>
              <a:buNone/>
            </a:pPr>
            <a:r>
              <a:rPr lang="en-US" sz="2100" dirty="0">
                <a:solidFill>
                  <a:srgbClr val="141414"/>
                </a:solidFill>
                <a:latin typeface="Helvetica" pitchFamily="34" charset="0"/>
                <a:ea typeface="Helvetica" pitchFamily="34" charset="-122"/>
                <a:cs typeface="Helvetica" pitchFamily="34" charset="-120"/>
              </a:rPr>
              <a:t>Primary or secondary reviewers, delegated approvers and negotiators.</a:t>
            </a:r>
            <a:endParaRPr lang="en-US" sz="2100" dirty="0"/>
          </a:p>
        </p:txBody>
      </p:sp>
      <p:sp>
        <p:nvSpPr>
          <p:cNvPr id="16" name="Shape 14"/>
          <p:cNvSpPr/>
          <p:nvPr/>
        </p:nvSpPr>
        <p:spPr>
          <a:xfrm>
            <a:off x="7167662" y="8619530"/>
            <a:ext cx="5681861" cy="9525"/>
          </a:xfrm>
          <a:prstGeom prst="rect">
            <a:avLst/>
          </a:prstGeom>
          <a:solidFill>
            <a:srgbClr val="D9D9D4"/>
          </a:solidFill>
          <a:ln/>
        </p:spPr>
      </p:sp>
      <p:sp>
        <p:nvSpPr>
          <p:cNvPr id="17" name="Text 15"/>
          <p:cNvSpPr/>
          <p:nvPr/>
        </p:nvSpPr>
        <p:spPr>
          <a:xfrm>
            <a:off x="7167662" y="8778280"/>
            <a:ext cx="5852317" cy="784820"/>
          </a:xfrm>
          <a:prstGeom prst="rect">
            <a:avLst/>
          </a:prstGeom>
          <a:noFill/>
          <a:ln/>
        </p:spPr>
        <p:txBody>
          <a:bodyPr wrap="square" lIns="25400" tIns="25400" rIns="25400" bIns="25400" rtlCol="0" anchor="t">
            <a:normAutofit/>
          </a:bodyPr>
          <a:lstStyle/>
          <a:p>
            <a:pPr marL="0" indent="0" algn="l">
              <a:lnSpc>
                <a:spcPct val="122500"/>
              </a:lnSpc>
              <a:buNone/>
            </a:pPr>
            <a:r>
              <a:rPr lang="en-US" sz="2100" b="1" dirty="0">
                <a:solidFill>
                  <a:srgbClr val="141414"/>
                </a:solidFill>
                <a:latin typeface="Helvetica" pitchFamily="34" charset="0"/>
                <a:ea typeface="Helvetica" pitchFamily="34" charset="-122"/>
                <a:cs typeface="Helvetica" pitchFamily="34" charset="-120"/>
              </a:rPr>
              <a:t>Needs </a:t>
            </a:r>
            <a:r>
              <a:rPr lang="en-US" sz="2100" dirty="0">
                <a:solidFill>
                  <a:srgbClr val="141414"/>
                </a:solidFill>
                <a:latin typeface="Helvetica" pitchFamily="34" charset="0"/>
                <a:ea typeface="Helvetica" pitchFamily="34" charset="-122"/>
                <a:cs typeface="Helvetica" pitchFamily="34" charset="-120"/>
              </a:rPr>
              <a:t>to share the load and keep deals moving when KD is away</a:t>
            </a:r>
            <a:endParaRPr lang="en-US" sz="2100" dirty="0"/>
          </a:p>
        </p:txBody>
      </p:sp>
      <p:sp>
        <p:nvSpPr>
          <p:cNvPr id="18" name="Shape 16"/>
          <p:cNvSpPr/>
          <p:nvPr/>
        </p:nvSpPr>
        <p:spPr>
          <a:xfrm>
            <a:off x="13382923" y="3647083"/>
            <a:ext cx="3952478" cy="25400"/>
          </a:xfrm>
          <a:prstGeom prst="rect">
            <a:avLst/>
          </a:prstGeom>
          <a:solidFill>
            <a:srgbClr val="D9D9D4"/>
          </a:solidFill>
          <a:ln/>
        </p:spPr>
      </p:sp>
      <p:sp>
        <p:nvSpPr>
          <p:cNvPr id="19" name="Text 17"/>
          <p:cNvSpPr/>
          <p:nvPr/>
        </p:nvSpPr>
        <p:spPr>
          <a:xfrm>
            <a:off x="13382923" y="3901083"/>
            <a:ext cx="4347726" cy="304800"/>
          </a:xfrm>
          <a:prstGeom prst="rect">
            <a:avLst/>
          </a:prstGeom>
          <a:noFill/>
          <a:ln/>
        </p:spPr>
        <p:txBody>
          <a:bodyPr wrap="square" lIns="25400" tIns="25400" rIns="25400" bIns="25400" rtlCol="0" anchor="t">
            <a:normAutofit/>
          </a:bodyPr>
          <a:lstStyle/>
          <a:p>
            <a:pPr marL="0" indent="0" algn="l">
              <a:buNone/>
            </a:pPr>
            <a:r>
              <a:rPr lang="en-US" sz="1800" kern="0" spc="108" dirty="0">
                <a:solidFill>
                  <a:srgbClr val="5C5C58"/>
                </a:solidFill>
                <a:latin typeface="Helvetica" pitchFamily="34" charset="0"/>
                <a:ea typeface="Helvetica" pitchFamily="34" charset="-122"/>
                <a:cs typeface="Helvetica" pitchFamily="34" charset="-120"/>
              </a:rPr>
              <a:t>NON-USER</a:t>
            </a:r>
            <a:endParaRPr lang="en-US" sz="1800" dirty="0"/>
          </a:p>
        </p:txBody>
      </p:sp>
      <p:sp>
        <p:nvSpPr>
          <p:cNvPr id="20" name="Text 18"/>
          <p:cNvSpPr/>
          <p:nvPr/>
        </p:nvSpPr>
        <p:spPr>
          <a:xfrm>
            <a:off x="13382923" y="4358283"/>
            <a:ext cx="4347726" cy="499070"/>
          </a:xfrm>
          <a:prstGeom prst="rect">
            <a:avLst/>
          </a:prstGeom>
          <a:noFill/>
          <a:ln/>
        </p:spPr>
        <p:txBody>
          <a:bodyPr wrap="square" lIns="25400" tIns="25400" rIns="25400" bIns="25400" rtlCol="0" anchor="t">
            <a:normAutofit/>
          </a:bodyPr>
          <a:lstStyle/>
          <a:p>
            <a:pPr marL="0" indent="0" algn="l">
              <a:lnSpc>
                <a:spcPct val="95526"/>
              </a:lnSpc>
              <a:buNone/>
            </a:pPr>
            <a:r>
              <a:rPr lang="en-US" sz="3300" b="1" dirty="0">
                <a:solidFill>
                  <a:srgbClr val="5C5C58"/>
                </a:solidFill>
                <a:latin typeface="Helvetica" pitchFamily="34" charset="0"/>
                <a:ea typeface="Helvetica" pitchFamily="34" charset="-122"/>
                <a:cs typeface="Helvetica" pitchFamily="34" charset="-120"/>
              </a:rPr>
              <a:t>External counsel</a:t>
            </a:r>
            <a:endParaRPr lang="en-US" sz="3300" dirty="0"/>
          </a:p>
        </p:txBody>
      </p:sp>
      <p:sp>
        <p:nvSpPr>
          <p:cNvPr id="21" name="Text 19"/>
          <p:cNvSpPr/>
          <p:nvPr/>
        </p:nvSpPr>
        <p:spPr>
          <a:xfrm>
            <a:off x="13382923" y="5009754"/>
            <a:ext cx="4071053" cy="784820"/>
          </a:xfrm>
          <a:prstGeom prst="rect">
            <a:avLst/>
          </a:prstGeom>
          <a:noFill/>
          <a:ln/>
        </p:spPr>
        <p:txBody>
          <a:bodyPr wrap="square" lIns="25400" tIns="25400" rIns="25400" bIns="25400" rtlCol="0" anchor="t">
            <a:normAutofit/>
          </a:bodyPr>
          <a:lstStyle/>
          <a:p>
            <a:pPr marL="0" indent="0" algn="l">
              <a:lnSpc>
                <a:spcPct val="122500"/>
              </a:lnSpc>
              <a:buNone/>
            </a:pPr>
            <a:r>
              <a:rPr lang="en-US" sz="2100" dirty="0">
                <a:solidFill>
                  <a:srgbClr val="5C5C58"/>
                </a:solidFill>
                <a:latin typeface="Helvetica" pitchFamily="34" charset="0"/>
                <a:ea typeface="Helvetica" pitchFamily="34" charset="-122"/>
                <a:cs typeface="Helvetica" pitchFamily="34" charset="-120"/>
              </a:rPr>
              <a:t>Receives escalations as documents. No system access.</a:t>
            </a:r>
            <a:endParaRPr lang="en-US" sz="2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AFAF8"/>
        </a:solidFill>
        <a:effectLst/>
      </p:bgPr>
    </p:bg>
    <p:spTree>
      <p:nvGrpSpPr>
        <p:cNvPr id="1" name=""/>
        <p:cNvGrpSpPr/>
        <p:nvPr/>
      </p:nvGrpSpPr>
      <p:grpSpPr>
        <a:xfrm>
          <a:off x="0" y="0"/>
          <a:ext cx="0" cy="0"/>
          <a:chOff x="0" y="0"/>
          <a:chExt cx="0" cy="0"/>
        </a:xfrm>
      </p:grpSpPr>
      <p:sp>
        <p:nvSpPr>
          <p:cNvPr id="2" name="Shape 0"/>
          <p:cNvSpPr/>
          <p:nvPr/>
        </p:nvSpPr>
        <p:spPr>
          <a:xfrm>
            <a:off x="952500" y="857250"/>
            <a:ext cx="16383000" cy="25400"/>
          </a:xfrm>
          <a:prstGeom prst="rect">
            <a:avLst/>
          </a:prstGeom>
          <a:solidFill>
            <a:srgbClr val="141414"/>
          </a:solidFill>
          <a:ln/>
        </p:spPr>
      </p:sp>
      <p:sp>
        <p:nvSpPr>
          <p:cNvPr id="3" name="Text 1"/>
          <p:cNvSpPr/>
          <p:nvPr/>
        </p:nvSpPr>
        <p:spPr>
          <a:xfrm>
            <a:off x="952500" y="1073150"/>
            <a:ext cx="1801039" cy="304800"/>
          </a:xfrm>
          <a:prstGeom prst="rect">
            <a:avLst/>
          </a:prstGeom>
          <a:noFill/>
          <a:ln/>
        </p:spPr>
        <p:txBody>
          <a:bodyPr wrap="square" lIns="25400" tIns="25400" rIns="25400" bIns="25400" rtlCol="0" anchor="t">
            <a:normAutofit/>
          </a:bodyPr>
          <a:lstStyle/>
          <a:p>
            <a:pPr marL="0" indent="0" algn="l">
              <a:buNone/>
            </a:pPr>
            <a:r>
              <a:rPr lang="en-US" sz="1800" kern="0" spc="108" dirty="0">
                <a:solidFill>
                  <a:srgbClr val="141414"/>
                </a:solidFill>
                <a:latin typeface="Helvetica" pitchFamily="34" charset="0"/>
                <a:ea typeface="Helvetica" pitchFamily="34" charset="-122"/>
                <a:cs typeface="Helvetica" pitchFamily="34" charset="-120"/>
              </a:rPr>
              <a:t>03 SOLUTION</a:t>
            </a:r>
            <a:endParaRPr lang="en-US" sz="1800" dirty="0"/>
          </a:p>
        </p:txBody>
      </p:sp>
      <p:sp>
        <p:nvSpPr>
          <p:cNvPr id="4" name="Text 2"/>
          <p:cNvSpPr/>
          <p:nvPr/>
        </p:nvSpPr>
        <p:spPr>
          <a:xfrm>
            <a:off x="13140630" y="1073150"/>
            <a:ext cx="4614356" cy="304800"/>
          </a:xfrm>
          <a:prstGeom prst="rect">
            <a:avLst/>
          </a:prstGeom>
          <a:noFill/>
          <a:ln/>
        </p:spPr>
        <p:txBody>
          <a:bodyPr wrap="square" lIns="25400" tIns="25400" rIns="25400" bIns="25400" rtlCol="0" anchor="t">
            <a:normAutofit/>
          </a:bodyPr>
          <a:lstStyle/>
          <a:p>
            <a:pPr marL="0" indent="0" algn="l">
              <a:buNone/>
            </a:pPr>
            <a:r>
              <a:rPr lang="en-US" sz="1800" kern="0" spc="108" dirty="0">
                <a:solidFill>
                  <a:srgbClr val="141414"/>
                </a:solidFill>
                <a:latin typeface="Helvetica" pitchFamily="34" charset="0"/>
                <a:ea typeface="Helvetica" pitchFamily="34" charset="-122"/>
                <a:cs typeface="Helvetica" pitchFamily="34" charset="-120"/>
              </a:rPr>
              <a:t>ATLIQ CONTRACT RISK ANALYZER</a:t>
            </a:r>
            <a:endParaRPr lang="en-US" sz="1800" dirty="0"/>
          </a:p>
        </p:txBody>
      </p:sp>
      <p:sp>
        <p:nvSpPr>
          <p:cNvPr id="5" name="Text 3"/>
          <p:cNvSpPr/>
          <p:nvPr/>
        </p:nvSpPr>
        <p:spPr>
          <a:xfrm>
            <a:off x="952500" y="1797050"/>
            <a:ext cx="14716125" cy="1354733"/>
          </a:xfrm>
          <a:prstGeom prst="rect">
            <a:avLst/>
          </a:prstGeom>
          <a:noFill/>
          <a:ln/>
        </p:spPr>
        <p:txBody>
          <a:bodyPr wrap="square" lIns="25400" tIns="25400" rIns="25400" bIns="25400" rtlCol="0" anchor="t">
            <a:normAutofit/>
          </a:bodyPr>
          <a:lstStyle/>
          <a:p>
            <a:pPr marL="0" indent="0" algn="l">
              <a:lnSpc>
                <a:spcPct val="94255"/>
              </a:lnSpc>
              <a:buNone/>
            </a:pPr>
            <a:r>
              <a:rPr lang="en-US" sz="4800" b="1" kern="0" spc="-120" dirty="0">
                <a:solidFill>
                  <a:srgbClr val="141414"/>
                </a:solidFill>
                <a:latin typeface="Helvetica" pitchFamily="34" charset="0"/>
                <a:ea typeface="Helvetica" pitchFamily="34" charset="-122"/>
                <a:cs typeface="Helvetica" pitchFamily="34" charset="-120"/>
              </a:rPr>
              <a:t>A contract moves through six stages from upload to memory</a:t>
            </a:r>
            <a:endParaRPr lang="en-US" sz="4800" dirty="0"/>
          </a:p>
        </p:txBody>
      </p:sp>
      <p:sp>
        <p:nvSpPr>
          <p:cNvPr id="6" name="Shape 4"/>
          <p:cNvSpPr/>
          <p:nvPr/>
        </p:nvSpPr>
        <p:spPr>
          <a:xfrm>
            <a:off x="952500" y="8851900"/>
            <a:ext cx="2730500" cy="19050"/>
          </a:xfrm>
          <a:prstGeom prst="rect">
            <a:avLst/>
          </a:prstGeom>
          <a:solidFill>
            <a:srgbClr val="141414"/>
          </a:solidFill>
          <a:ln/>
        </p:spPr>
      </p:sp>
      <p:sp>
        <p:nvSpPr>
          <p:cNvPr id="7" name="Shape 5"/>
          <p:cNvSpPr/>
          <p:nvPr/>
        </p:nvSpPr>
        <p:spPr>
          <a:xfrm>
            <a:off x="952500" y="4298950"/>
            <a:ext cx="2730500" cy="19050"/>
          </a:xfrm>
          <a:prstGeom prst="rect">
            <a:avLst/>
          </a:prstGeom>
          <a:solidFill>
            <a:srgbClr val="141414"/>
          </a:solidFill>
          <a:ln/>
        </p:spPr>
      </p:sp>
      <p:sp>
        <p:nvSpPr>
          <p:cNvPr id="8" name="Shape 6"/>
          <p:cNvSpPr/>
          <p:nvPr/>
        </p:nvSpPr>
        <p:spPr>
          <a:xfrm>
            <a:off x="952500" y="4298950"/>
            <a:ext cx="19050" cy="4572000"/>
          </a:xfrm>
          <a:prstGeom prst="rect">
            <a:avLst/>
          </a:prstGeom>
          <a:solidFill>
            <a:srgbClr val="141414"/>
          </a:solidFill>
          <a:ln/>
        </p:spPr>
      </p:sp>
      <p:sp>
        <p:nvSpPr>
          <p:cNvPr id="9" name="Text 7"/>
          <p:cNvSpPr/>
          <p:nvPr/>
        </p:nvSpPr>
        <p:spPr>
          <a:xfrm>
            <a:off x="1200150" y="4584700"/>
            <a:ext cx="2479675" cy="304800"/>
          </a:xfrm>
          <a:prstGeom prst="rect">
            <a:avLst/>
          </a:prstGeom>
          <a:noFill/>
          <a:ln/>
        </p:spPr>
        <p:txBody>
          <a:bodyPr wrap="square" lIns="25400" tIns="25400" rIns="25400" bIns="25400" rtlCol="0" anchor="t">
            <a:normAutofit/>
          </a:bodyPr>
          <a:lstStyle/>
          <a:p>
            <a:pPr marL="0" indent="0" algn="l">
              <a:buNone/>
            </a:pPr>
            <a:r>
              <a:rPr lang="en-US" sz="1800" dirty="0">
                <a:solidFill>
                  <a:srgbClr val="5C5C58"/>
                </a:solidFill>
                <a:latin typeface="Helvetica" pitchFamily="34" charset="0"/>
                <a:ea typeface="Helvetica" pitchFamily="34" charset="-122"/>
                <a:cs typeface="Helvetica" pitchFamily="34" charset="-120"/>
              </a:rPr>
              <a:t>01</a:t>
            </a:r>
            <a:endParaRPr lang="en-US" sz="1800" dirty="0"/>
          </a:p>
        </p:txBody>
      </p:sp>
      <p:sp>
        <p:nvSpPr>
          <p:cNvPr id="10" name="Text 8"/>
          <p:cNvSpPr/>
          <p:nvPr/>
        </p:nvSpPr>
        <p:spPr>
          <a:xfrm>
            <a:off x="1200150" y="5003800"/>
            <a:ext cx="2479675" cy="394295"/>
          </a:xfrm>
          <a:prstGeom prst="rect">
            <a:avLst/>
          </a:prstGeom>
          <a:noFill/>
          <a:ln/>
        </p:spPr>
        <p:txBody>
          <a:bodyPr wrap="square" lIns="25400" tIns="25400" rIns="25400" bIns="25400" rtlCol="0" anchor="t">
            <a:normAutofit/>
          </a:bodyPr>
          <a:lstStyle/>
          <a:p>
            <a:pPr marL="0" indent="0" algn="l">
              <a:lnSpc>
                <a:spcPct val="95085"/>
              </a:lnSpc>
              <a:buNone/>
            </a:pPr>
            <a:r>
              <a:rPr lang="en-US" sz="2550" b="1" dirty="0">
                <a:solidFill>
                  <a:srgbClr val="141414"/>
                </a:solidFill>
                <a:latin typeface="Helvetica" pitchFamily="34" charset="0"/>
                <a:ea typeface="Helvetica" pitchFamily="34" charset="-122"/>
                <a:cs typeface="Helvetica" pitchFamily="34" charset="-120"/>
              </a:rPr>
              <a:t>Submit</a:t>
            </a:r>
            <a:endParaRPr lang="en-US" sz="2550" dirty="0"/>
          </a:p>
        </p:txBody>
      </p:sp>
      <p:sp>
        <p:nvSpPr>
          <p:cNvPr id="11" name="Text 9"/>
          <p:cNvSpPr/>
          <p:nvPr/>
        </p:nvSpPr>
        <p:spPr>
          <a:xfrm>
            <a:off x="1200150" y="7350919"/>
            <a:ext cx="2330450" cy="1272381"/>
          </a:xfrm>
          <a:prstGeom prst="rect">
            <a:avLst/>
          </a:prstGeom>
          <a:noFill/>
          <a:ln/>
        </p:spPr>
        <p:txBody>
          <a:bodyPr wrap="square" lIns="25400" tIns="25400" rIns="25400" bIns="25400" rtlCol="0" anchor="t">
            <a:normAutofit/>
          </a:bodyPr>
          <a:lstStyle/>
          <a:p>
            <a:pPr marL="0" indent="0" algn="l">
              <a:lnSpc>
                <a:spcPct val="115714"/>
              </a:lnSpc>
              <a:buNone/>
            </a:pPr>
            <a:r>
              <a:rPr lang="en-US" sz="1800" dirty="0">
                <a:solidFill>
                  <a:srgbClr val="141414"/>
                </a:solidFill>
                <a:latin typeface="Helvetica" pitchFamily="34" charset="0"/>
                <a:ea typeface="Helvetica" pitchFamily="34" charset="-122"/>
                <a:cs typeface="Helvetica" pitchFamily="34" charset="-120"/>
              </a:rPr>
              <a:t>Contract and metadata arrive from a client, partner or AtliQ draft</a:t>
            </a:r>
            <a:endParaRPr lang="en-US" sz="1800" dirty="0"/>
          </a:p>
        </p:txBody>
      </p:sp>
      <p:sp>
        <p:nvSpPr>
          <p:cNvPr id="12" name="Shape 10"/>
          <p:cNvSpPr/>
          <p:nvPr/>
        </p:nvSpPr>
        <p:spPr>
          <a:xfrm>
            <a:off x="3683000" y="8851900"/>
            <a:ext cx="2730500" cy="19050"/>
          </a:xfrm>
          <a:prstGeom prst="rect">
            <a:avLst/>
          </a:prstGeom>
          <a:solidFill>
            <a:srgbClr val="141414"/>
          </a:solidFill>
          <a:ln/>
        </p:spPr>
      </p:sp>
      <p:sp>
        <p:nvSpPr>
          <p:cNvPr id="13" name="Shape 11"/>
          <p:cNvSpPr/>
          <p:nvPr/>
        </p:nvSpPr>
        <p:spPr>
          <a:xfrm>
            <a:off x="3683000" y="4298950"/>
            <a:ext cx="2730500" cy="19050"/>
          </a:xfrm>
          <a:prstGeom prst="rect">
            <a:avLst/>
          </a:prstGeom>
          <a:solidFill>
            <a:srgbClr val="141414"/>
          </a:solidFill>
          <a:ln/>
        </p:spPr>
      </p:sp>
      <p:sp>
        <p:nvSpPr>
          <p:cNvPr id="14" name="Shape 12"/>
          <p:cNvSpPr/>
          <p:nvPr/>
        </p:nvSpPr>
        <p:spPr>
          <a:xfrm>
            <a:off x="3683000" y="4298950"/>
            <a:ext cx="19050" cy="4572000"/>
          </a:xfrm>
          <a:prstGeom prst="rect">
            <a:avLst/>
          </a:prstGeom>
          <a:solidFill>
            <a:srgbClr val="141414"/>
          </a:solidFill>
          <a:ln/>
        </p:spPr>
      </p:sp>
      <p:sp>
        <p:nvSpPr>
          <p:cNvPr id="15" name="Text 13"/>
          <p:cNvSpPr/>
          <p:nvPr/>
        </p:nvSpPr>
        <p:spPr>
          <a:xfrm>
            <a:off x="3930650" y="4584700"/>
            <a:ext cx="2479675" cy="304800"/>
          </a:xfrm>
          <a:prstGeom prst="rect">
            <a:avLst/>
          </a:prstGeom>
          <a:noFill/>
          <a:ln/>
        </p:spPr>
        <p:txBody>
          <a:bodyPr wrap="square" lIns="25400" tIns="25400" rIns="25400" bIns="25400" rtlCol="0" anchor="t">
            <a:normAutofit/>
          </a:bodyPr>
          <a:lstStyle/>
          <a:p>
            <a:pPr marL="0" indent="0" algn="l">
              <a:buNone/>
            </a:pPr>
            <a:r>
              <a:rPr lang="en-US" sz="1800" dirty="0">
                <a:solidFill>
                  <a:srgbClr val="5C5C58"/>
                </a:solidFill>
                <a:latin typeface="Helvetica" pitchFamily="34" charset="0"/>
                <a:ea typeface="Helvetica" pitchFamily="34" charset="-122"/>
                <a:cs typeface="Helvetica" pitchFamily="34" charset="-120"/>
              </a:rPr>
              <a:t>02</a:t>
            </a:r>
            <a:endParaRPr lang="en-US" sz="1800" dirty="0"/>
          </a:p>
        </p:txBody>
      </p:sp>
      <p:sp>
        <p:nvSpPr>
          <p:cNvPr id="16" name="Text 14"/>
          <p:cNvSpPr/>
          <p:nvPr/>
        </p:nvSpPr>
        <p:spPr>
          <a:xfrm>
            <a:off x="3930650" y="5003800"/>
            <a:ext cx="2330450" cy="750491"/>
          </a:xfrm>
          <a:prstGeom prst="rect">
            <a:avLst/>
          </a:prstGeom>
          <a:noFill/>
          <a:ln/>
        </p:spPr>
        <p:txBody>
          <a:bodyPr wrap="square" lIns="25400" tIns="25400" rIns="25400" bIns="25400" rtlCol="0" anchor="t">
            <a:normAutofit/>
          </a:bodyPr>
          <a:lstStyle/>
          <a:p>
            <a:pPr marL="0" indent="0" algn="l">
              <a:lnSpc>
                <a:spcPct val="95085"/>
              </a:lnSpc>
              <a:buNone/>
            </a:pPr>
            <a:r>
              <a:rPr lang="en-US" sz="2550" b="1" dirty="0">
                <a:solidFill>
                  <a:srgbClr val="141414"/>
                </a:solidFill>
                <a:latin typeface="Helvetica" pitchFamily="34" charset="0"/>
                <a:ea typeface="Helvetica" pitchFamily="34" charset="-122"/>
                <a:cs typeface="Helvetica" pitchFamily="34" charset="-120"/>
              </a:rPr>
              <a:t>Extract &amp; classify</a:t>
            </a:r>
            <a:endParaRPr lang="en-US" sz="2550" dirty="0"/>
          </a:p>
        </p:txBody>
      </p:sp>
      <p:sp>
        <p:nvSpPr>
          <p:cNvPr id="17" name="Text 15"/>
          <p:cNvSpPr/>
          <p:nvPr/>
        </p:nvSpPr>
        <p:spPr>
          <a:xfrm>
            <a:off x="3930650" y="7659489"/>
            <a:ext cx="2330450" cy="963811"/>
          </a:xfrm>
          <a:prstGeom prst="rect">
            <a:avLst/>
          </a:prstGeom>
          <a:noFill/>
          <a:ln/>
        </p:spPr>
        <p:txBody>
          <a:bodyPr wrap="square" lIns="25400" tIns="25400" rIns="25400" bIns="25400" rtlCol="0" anchor="t">
            <a:normAutofit/>
          </a:bodyPr>
          <a:lstStyle/>
          <a:p>
            <a:pPr marL="0" indent="0" algn="l">
              <a:lnSpc>
                <a:spcPct val="115714"/>
              </a:lnSpc>
              <a:buNone/>
            </a:pPr>
            <a:r>
              <a:rPr lang="en-US" sz="1800" dirty="0">
                <a:solidFill>
                  <a:srgbClr val="141414"/>
                </a:solidFill>
                <a:latin typeface="Helvetica" pitchFamily="34" charset="0"/>
                <a:ea typeface="Helvetica" pitchFamily="34" charset="-122"/>
                <a:cs typeface="Helvetica" pitchFamily="34" charset="-120"/>
              </a:rPr>
              <a:t>Clauses, AtliQ role, entity, terms and coverage</a:t>
            </a:r>
            <a:endParaRPr lang="en-US" sz="1800" dirty="0"/>
          </a:p>
        </p:txBody>
      </p:sp>
      <p:sp>
        <p:nvSpPr>
          <p:cNvPr id="18" name="Shape 16"/>
          <p:cNvSpPr/>
          <p:nvPr/>
        </p:nvSpPr>
        <p:spPr>
          <a:xfrm>
            <a:off x="6413500" y="8851900"/>
            <a:ext cx="2730500" cy="19050"/>
          </a:xfrm>
          <a:prstGeom prst="rect">
            <a:avLst/>
          </a:prstGeom>
          <a:solidFill>
            <a:srgbClr val="141414"/>
          </a:solidFill>
          <a:ln/>
        </p:spPr>
      </p:sp>
      <p:sp>
        <p:nvSpPr>
          <p:cNvPr id="19" name="Shape 17"/>
          <p:cNvSpPr/>
          <p:nvPr/>
        </p:nvSpPr>
        <p:spPr>
          <a:xfrm>
            <a:off x="6413500" y="4298950"/>
            <a:ext cx="2730500" cy="19050"/>
          </a:xfrm>
          <a:prstGeom prst="rect">
            <a:avLst/>
          </a:prstGeom>
          <a:solidFill>
            <a:srgbClr val="141414"/>
          </a:solidFill>
          <a:ln/>
        </p:spPr>
      </p:sp>
      <p:sp>
        <p:nvSpPr>
          <p:cNvPr id="20" name="Shape 18"/>
          <p:cNvSpPr/>
          <p:nvPr/>
        </p:nvSpPr>
        <p:spPr>
          <a:xfrm>
            <a:off x="6413500" y="4298950"/>
            <a:ext cx="19050" cy="4572000"/>
          </a:xfrm>
          <a:prstGeom prst="rect">
            <a:avLst/>
          </a:prstGeom>
          <a:solidFill>
            <a:srgbClr val="141414"/>
          </a:solidFill>
          <a:ln/>
        </p:spPr>
      </p:sp>
      <p:sp>
        <p:nvSpPr>
          <p:cNvPr id="21" name="Text 19"/>
          <p:cNvSpPr/>
          <p:nvPr/>
        </p:nvSpPr>
        <p:spPr>
          <a:xfrm>
            <a:off x="6661150" y="4584700"/>
            <a:ext cx="2479675" cy="304800"/>
          </a:xfrm>
          <a:prstGeom prst="rect">
            <a:avLst/>
          </a:prstGeom>
          <a:noFill/>
          <a:ln/>
        </p:spPr>
        <p:txBody>
          <a:bodyPr wrap="square" lIns="25400" tIns="25400" rIns="25400" bIns="25400" rtlCol="0" anchor="t">
            <a:normAutofit/>
          </a:bodyPr>
          <a:lstStyle/>
          <a:p>
            <a:pPr marL="0" indent="0" algn="l">
              <a:buNone/>
            </a:pPr>
            <a:r>
              <a:rPr lang="en-US" sz="1800" dirty="0">
                <a:solidFill>
                  <a:srgbClr val="5C5C58"/>
                </a:solidFill>
                <a:latin typeface="Helvetica" pitchFamily="34" charset="0"/>
                <a:ea typeface="Helvetica" pitchFamily="34" charset="-122"/>
                <a:cs typeface="Helvetica" pitchFamily="34" charset="-120"/>
              </a:rPr>
              <a:t>03</a:t>
            </a:r>
            <a:endParaRPr lang="en-US" sz="1800" dirty="0"/>
          </a:p>
        </p:txBody>
      </p:sp>
      <p:sp>
        <p:nvSpPr>
          <p:cNvPr id="22" name="Text 20"/>
          <p:cNvSpPr/>
          <p:nvPr/>
        </p:nvSpPr>
        <p:spPr>
          <a:xfrm>
            <a:off x="6661150" y="5003800"/>
            <a:ext cx="2330450" cy="750491"/>
          </a:xfrm>
          <a:prstGeom prst="rect">
            <a:avLst/>
          </a:prstGeom>
          <a:noFill/>
          <a:ln/>
        </p:spPr>
        <p:txBody>
          <a:bodyPr wrap="square" lIns="25400" tIns="25400" rIns="25400" bIns="25400" rtlCol="0" anchor="t">
            <a:normAutofit/>
          </a:bodyPr>
          <a:lstStyle/>
          <a:p>
            <a:pPr marL="0" indent="0" algn="l">
              <a:lnSpc>
                <a:spcPct val="95085"/>
              </a:lnSpc>
              <a:buNone/>
            </a:pPr>
            <a:r>
              <a:rPr lang="en-US" sz="2550" b="1" dirty="0">
                <a:solidFill>
                  <a:srgbClr val="141414"/>
                </a:solidFill>
                <a:latin typeface="Helvetica" pitchFamily="34" charset="0"/>
                <a:ea typeface="Helvetica" pitchFamily="34" charset="-122"/>
                <a:cs typeface="Helvetica" pitchFamily="34" charset="-120"/>
              </a:rPr>
              <a:t>Retrieve context</a:t>
            </a:r>
            <a:endParaRPr lang="en-US" sz="2550" dirty="0"/>
          </a:p>
        </p:txBody>
      </p:sp>
      <p:sp>
        <p:nvSpPr>
          <p:cNvPr id="23" name="Text 21"/>
          <p:cNvSpPr/>
          <p:nvPr/>
        </p:nvSpPr>
        <p:spPr>
          <a:xfrm>
            <a:off x="6661150" y="7350919"/>
            <a:ext cx="2330450" cy="1272381"/>
          </a:xfrm>
          <a:prstGeom prst="rect">
            <a:avLst/>
          </a:prstGeom>
          <a:noFill/>
          <a:ln/>
        </p:spPr>
        <p:txBody>
          <a:bodyPr wrap="square" lIns="25400" tIns="25400" rIns="25400" bIns="25400" rtlCol="0" anchor="t">
            <a:normAutofit/>
          </a:bodyPr>
          <a:lstStyle/>
          <a:p>
            <a:pPr marL="0" indent="0" algn="l">
              <a:lnSpc>
                <a:spcPct val="115714"/>
              </a:lnSpc>
              <a:buNone/>
            </a:pPr>
            <a:r>
              <a:rPr lang="en-US" sz="1800" dirty="0">
                <a:solidFill>
                  <a:srgbClr val="141414"/>
                </a:solidFill>
                <a:latin typeface="Helvetica" pitchFamily="34" charset="0"/>
                <a:ea typeface="Helvetica" pitchFamily="34" charset="-122"/>
                <a:cs typeface="Helvetica" pitchFamily="34" charset="-120"/>
              </a:rPr>
              <a:t>Policy, signed contracts, live obligations and precedent</a:t>
            </a:r>
            <a:endParaRPr lang="en-US" sz="1800" dirty="0"/>
          </a:p>
        </p:txBody>
      </p:sp>
      <p:sp>
        <p:nvSpPr>
          <p:cNvPr id="24" name="Shape 22"/>
          <p:cNvSpPr/>
          <p:nvPr/>
        </p:nvSpPr>
        <p:spPr>
          <a:xfrm>
            <a:off x="9144000" y="4298950"/>
            <a:ext cx="2730500" cy="4572000"/>
          </a:xfrm>
          <a:prstGeom prst="rect">
            <a:avLst/>
          </a:prstGeom>
          <a:ln w="19050">
            <a:solidFill>
              <a:srgbClr val="141414"/>
            </a:solidFill>
            <a:prstDash val="solid"/>
          </a:ln>
        </p:spPr>
      </p:sp>
      <p:sp>
        <p:nvSpPr>
          <p:cNvPr id="25" name="Text 23"/>
          <p:cNvSpPr/>
          <p:nvPr/>
        </p:nvSpPr>
        <p:spPr>
          <a:xfrm>
            <a:off x="9391650" y="4584700"/>
            <a:ext cx="2458720" cy="304800"/>
          </a:xfrm>
          <a:prstGeom prst="rect">
            <a:avLst/>
          </a:prstGeom>
          <a:noFill/>
          <a:ln/>
        </p:spPr>
        <p:txBody>
          <a:bodyPr wrap="square" lIns="25400" tIns="25400" rIns="25400" bIns="25400" rtlCol="0" anchor="t">
            <a:normAutofit/>
          </a:bodyPr>
          <a:lstStyle/>
          <a:p>
            <a:pPr marL="0" indent="0" algn="l">
              <a:buNone/>
            </a:pPr>
            <a:r>
              <a:rPr lang="en-US" sz="1800" dirty="0">
                <a:solidFill>
                  <a:srgbClr val="5C5C58"/>
                </a:solidFill>
                <a:latin typeface="Helvetica" pitchFamily="34" charset="0"/>
                <a:ea typeface="Helvetica" pitchFamily="34" charset="-122"/>
                <a:cs typeface="Helvetica" pitchFamily="34" charset="-120"/>
              </a:rPr>
              <a:t>04</a:t>
            </a:r>
            <a:endParaRPr lang="en-US" sz="1800" dirty="0"/>
          </a:p>
        </p:txBody>
      </p:sp>
      <p:sp>
        <p:nvSpPr>
          <p:cNvPr id="26" name="Text 24"/>
          <p:cNvSpPr/>
          <p:nvPr/>
        </p:nvSpPr>
        <p:spPr>
          <a:xfrm>
            <a:off x="9391650" y="5003800"/>
            <a:ext cx="2311400" cy="750491"/>
          </a:xfrm>
          <a:prstGeom prst="rect">
            <a:avLst/>
          </a:prstGeom>
          <a:noFill/>
          <a:ln/>
        </p:spPr>
        <p:txBody>
          <a:bodyPr wrap="square" lIns="25400" tIns="25400" rIns="25400" bIns="25400" rtlCol="0" anchor="t">
            <a:normAutofit/>
          </a:bodyPr>
          <a:lstStyle/>
          <a:p>
            <a:pPr marL="0" indent="0" algn="l">
              <a:lnSpc>
                <a:spcPct val="95085"/>
              </a:lnSpc>
              <a:buNone/>
            </a:pPr>
            <a:r>
              <a:rPr lang="en-US" sz="2550" b="1" dirty="0">
                <a:solidFill>
                  <a:srgbClr val="141414"/>
                </a:solidFill>
                <a:latin typeface="Helvetica" pitchFamily="34" charset="0"/>
                <a:ea typeface="Helvetica" pitchFamily="34" charset="-122"/>
                <a:cs typeface="Helvetica" pitchFamily="34" charset="-120"/>
              </a:rPr>
              <a:t>Assess &amp; compare</a:t>
            </a:r>
            <a:endParaRPr lang="en-US" sz="2550" dirty="0"/>
          </a:p>
        </p:txBody>
      </p:sp>
      <p:sp>
        <p:nvSpPr>
          <p:cNvPr id="27" name="Text 25"/>
          <p:cNvSpPr/>
          <p:nvPr/>
        </p:nvSpPr>
        <p:spPr>
          <a:xfrm>
            <a:off x="9391650" y="7659489"/>
            <a:ext cx="2311400" cy="963811"/>
          </a:xfrm>
          <a:prstGeom prst="rect">
            <a:avLst/>
          </a:prstGeom>
          <a:noFill/>
          <a:ln/>
        </p:spPr>
        <p:txBody>
          <a:bodyPr wrap="square" lIns="25400" tIns="25400" rIns="25400" bIns="25400" rtlCol="0" anchor="t">
            <a:normAutofit/>
          </a:bodyPr>
          <a:lstStyle/>
          <a:p>
            <a:pPr marL="0" indent="0" algn="l">
              <a:lnSpc>
                <a:spcPct val="115714"/>
              </a:lnSpc>
              <a:buNone/>
            </a:pPr>
            <a:r>
              <a:rPr lang="en-US" sz="1800" dirty="0">
                <a:solidFill>
                  <a:srgbClr val="141414"/>
                </a:solidFill>
                <a:latin typeface="Helvetica" pitchFamily="34" charset="0"/>
                <a:ea typeface="Helvetica" pitchFamily="34" charset="-122"/>
                <a:cs typeface="Helvetica" pitchFamily="34" charset="-120"/>
              </a:rPr>
              <a:t>Risk, conflicts, severity and cited evidence</a:t>
            </a:r>
            <a:endParaRPr lang="en-US" sz="1800" dirty="0"/>
          </a:p>
        </p:txBody>
      </p:sp>
      <p:sp>
        <p:nvSpPr>
          <p:cNvPr id="28" name="Shape 26"/>
          <p:cNvSpPr/>
          <p:nvPr/>
        </p:nvSpPr>
        <p:spPr>
          <a:xfrm>
            <a:off x="11874501" y="4298950"/>
            <a:ext cx="2730500" cy="4572000"/>
          </a:xfrm>
          <a:prstGeom prst="rect">
            <a:avLst/>
          </a:prstGeom>
          <a:solidFill>
            <a:srgbClr val="141414"/>
          </a:solidFill>
          <a:ln w="19050">
            <a:solidFill>
              <a:srgbClr val="141414"/>
            </a:solidFill>
            <a:prstDash val="solid"/>
          </a:ln>
        </p:spPr>
      </p:sp>
      <p:sp>
        <p:nvSpPr>
          <p:cNvPr id="29" name="Text 27"/>
          <p:cNvSpPr/>
          <p:nvPr/>
        </p:nvSpPr>
        <p:spPr>
          <a:xfrm>
            <a:off x="12122151" y="4584700"/>
            <a:ext cx="2458720" cy="304800"/>
          </a:xfrm>
          <a:prstGeom prst="rect">
            <a:avLst/>
          </a:prstGeom>
          <a:noFill/>
          <a:ln/>
        </p:spPr>
        <p:txBody>
          <a:bodyPr wrap="square" lIns="25400" tIns="25400" rIns="25400" bIns="25400" rtlCol="0" anchor="t">
            <a:normAutofit/>
          </a:bodyPr>
          <a:lstStyle/>
          <a:p>
            <a:pPr marL="0" indent="0" algn="l">
              <a:buNone/>
            </a:pPr>
            <a:r>
              <a:rPr lang="en-US" sz="1800" dirty="0">
                <a:solidFill>
                  <a:srgbClr val="FAFAF8">
                    <a:alpha val="75000"/>
                  </a:srgbClr>
                </a:solidFill>
                <a:latin typeface="Helvetica" pitchFamily="34" charset="0"/>
                <a:ea typeface="Helvetica" pitchFamily="34" charset="-122"/>
                <a:cs typeface="Helvetica" pitchFamily="34" charset="-120"/>
              </a:rPr>
              <a:t>05 · Human</a:t>
            </a:r>
            <a:endParaRPr lang="en-US" sz="1800" dirty="0"/>
          </a:p>
        </p:txBody>
      </p:sp>
      <p:sp>
        <p:nvSpPr>
          <p:cNvPr id="30" name="Text 28"/>
          <p:cNvSpPr/>
          <p:nvPr/>
        </p:nvSpPr>
        <p:spPr>
          <a:xfrm>
            <a:off x="12122151" y="5003800"/>
            <a:ext cx="2458720" cy="394295"/>
          </a:xfrm>
          <a:prstGeom prst="rect">
            <a:avLst/>
          </a:prstGeom>
          <a:noFill/>
          <a:ln/>
        </p:spPr>
        <p:txBody>
          <a:bodyPr wrap="square" lIns="25400" tIns="25400" rIns="25400" bIns="25400" rtlCol="0" anchor="t">
            <a:normAutofit/>
          </a:bodyPr>
          <a:lstStyle/>
          <a:p>
            <a:pPr marL="0" indent="0" algn="l">
              <a:lnSpc>
                <a:spcPct val="95085"/>
              </a:lnSpc>
              <a:buNone/>
            </a:pPr>
            <a:r>
              <a:rPr lang="en-US" sz="2550" b="1" dirty="0">
                <a:solidFill>
                  <a:srgbClr val="FAFAF8"/>
                </a:solidFill>
                <a:latin typeface="Helvetica" pitchFamily="34" charset="0"/>
                <a:ea typeface="Helvetica" pitchFamily="34" charset="-122"/>
                <a:cs typeface="Helvetica" pitchFamily="34" charset="-120"/>
              </a:rPr>
              <a:t>Decide</a:t>
            </a:r>
            <a:endParaRPr lang="en-US" sz="2550" dirty="0"/>
          </a:p>
        </p:txBody>
      </p:sp>
      <p:sp>
        <p:nvSpPr>
          <p:cNvPr id="31" name="Text 29"/>
          <p:cNvSpPr/>
          <p:nvPr/>
        </p:nvSpPr>
        <p:spPr>
          <a:xfrm>
            <a:off x="12122151" y="7659489"/>
            <a:ext cx="2311400" cy="963811"/>
          </a:xfrm>
          <a:prstGeom prst="rect">
            <a:avLst/>
          </a:prstGeom>
          <a:noFill/>
          <a:ln/>
        </p:spPr>
        <p:txBody>
          <a:bodyPr wrap="square" lIns="25400" tIns="25400" rIns="25400" bIns="25400" rtlCol="0" anchor="t">
            <a:normAutofit/>
          </a:bodyPr>
          <a:lstStyle/>
          <a:p>
            <a:pPr marL="0" indent="0" algn="l">
              <a:lnSpc>
                <a:spcPct val="115714"/>
              </a:lnSpc>
              <a:buNone/>
            </a:pPr>
            <a:r>
              <a:rPr lang="en-US" sz="1800" dirty="0">
                <a:solidFill>
                  <a:srgbClr val="FAFAF8"/>
                </a:solidFill>
                <a:latin typeface="Helvetica" pitchFamily="34" charset="0"/>
                <a:ea typeface="Helvetica" pitchFamily="34" charset="-122"/>
                <a:cs typeface="Helvetica" pitchFamily="34" charset="-120"/>
              </a:rPr>
              <a:t>Sign, redline, confirm internally, send to counsel or reject</a:t>
            </a:r>
            <a:endParaRPr lang="en-US" sz="1800" dirty="0"/>
          </a:p>
        </p:txBody>
      </p:sp>
      <p:sp>
        <p:nvSpPr>
          <p:cNvPr id="32" name="Shape 30"/>
          <p:cNvSpPr/>
          <p:nvPr/>
        </p:nvSpPr>
        <p:spPr>
          <a:xfrm>
            <a:off x="14605000" y="8851900"/>
            <a:ext cx="2730500" cy="19050"/>
          </a:xfrm>
          <a:prstGeom prst="rect">
            <a:avLst/>
          </a:prstGeom>
          <a:solidFill>
            <a:srgbClr val="141414"/>
          </a:solidFill>
          <a:ln/>
        </p:spPr>
      </p:sp>
      <p:sp>
        <p:nvSpPr>
          <p:cNvPr id="33" name="Shape 31"/>
          <p:cNvSpPr/>
          <p:nvPr/>
        </p:nvSpPr>
        <p:spPr>
          <a:xfrm>
            <a:off x="14605000" y="4298950"/>
            <a:ext cx="2730500" cy="19050"/>
          </a:xfrm>
          <a:prstGeom prst="rect">
            <a:avLst/>
          </a:prstGeom>
          <a:solidFill>
            <a:srgbClr val="141414"/>
          </a:solidFill>
          <a:ln/>
        </p:spPr>
      </p:sp>
      <p:sp>
        <p:nvSpPr>
          <p:cNvPr id="34" name="Shape 32"/>
          <p:cNvSpPr/>
          <p:nvPr/>
        </p:nvSpPr>
        <p:spPr>
          <a:xfrm>
            <a:off x="17316451" y="4298950"/>
            <a:ext cx="19050" cy="4572000"/>
          </a:xfrm>
          <a:prstGeom prst="rect">
            <a:avLst/>
          </a:prstGeom>
          <a:solidFill>
            <a:srgbClr val="141414"/>
          </a:solidFill>
          <a:ln/>
        </p:spPr>
      </p:sp>
      <p:sp>
        <p:nvSpPr>
          <p:cNvPr id="35" name="Text 33"/>
          <p:cNvSpPr/>
          <p:nvPr/>
        </p:nvSpPr>
        <p:spPr>
          <a:xfrm>
            <a:off x="14833600" y="4584700"/>
            <a:ext cx="2479675" cy="304800"/>
          </a:xfrm>
          <a:prstGeom prst="rect">
            <a:avLst/>
          </a:prstGeom>
          <a:noFill/>
          <a:ln/>
        </p:spPr>
        <p:txBody>
          <a:bodyPr wrap="square" lIns="25400" tIns="25400" rIns="25400" bIns="25400" rtlCol="0" anchor="t">
            <a:normAutofit/>
          </a:bodyPr>
          <a:lstStyle/>
          <a:p>
            <a:pPr marL="0" indent="0" algn="l">
              <a:buNone/>
            </a:pPr>
            <a:r>
              <a:rPr lang="en-US" sz="1800" dirty="0">
                <a:solidFill>
                  <a:srgbClr val="5C5C58"/>
                </a:solidFill>
                <a:latin typeface="Helvetica" pitchFamily="34" charset="0"/>
                <a:ea typeface="Helvetica" pitchFamily="34" charset="-122"/>
                <a:cs typeface="Helvetica" pitchFamily="34" charset="-120"/>
              </a:rPr>
              <a:t>06</a:t>
            </a:r>
            <a:endParaRPr lang="en-US" sz="1800" dirty="0"/>
          </a:p>
        </p:txBody>
      </p:sp>
      <p:sp>
        <p:nvSpPr>
          <p:cNvPr id="36" name="Text 34"/>
          <p:cNvSpPr/>
          <p:nvPr/>
        </p:nvSpPr>
        <p:spPr>
          <a:xfrm>
            <a:off x="14833600" y="5003800"/>
            <a:ext cx="2479675" cy="394295"/>
          </a:xfrm>
          <a:prstGeom prst="rect">
            <a:avLst/>
          </a:prstGeom>
          <a:noFill/>
          <a:ln/>
        </p:spPr>
        <p:txBody>
          <a:bodyPr wrap="square" lIns="25400" tIns="25400" rIns="25400" bIns="25400" rtlCol="0" anchor="t">
            <a:normAutofit/>
          </a:bodyPr>
          <a:lstStyle/>
          <a:p>
            <a:pPr marL="0" indent="0" algn="l">
              <a:lnSpc>
                <a:spcPct val="95085"/>
              </a:lnSpc>
              <a:buNone/>
            </a:pPr>
            <a:r>
              <a:rPr lang="en-US" sz="2550" b="1" dirty="0">
                <a:solidFill>
                  <a:srgbClr val="141414"/>
                </a:solidFill>
                <a:latin typeface="Helvetica" pitchFamily="34" charset="0"/>
                <a:ea typeface="Helvetica" pitchFamily="34" charset="-122"/>
                <a:cs typeface="Helvetica" pitchFamily="34" charset="-120"/>
              </a:rPr>
              <a:t>Learn</a:t>
            </a:r>
            <a:endParaRPr lang="en-US" sz="2550" dirty="0"/>
          </a:p>
        </p:txBody>
      </p:sp>
      <p:sp>
        <p:nvSpPr>
          <p:cNvPr id="37" name="Text 35"/>
          <p:cNvSpPr/>
          <p:nvPr/>
        </p:nvSpPr>
        <p:spPr>
          <a:xfrm>
            <a:off x="14833600" y="7659489"/>
            <a:ext cx="2330450" cy="963811"/>
          </a:xfrm>
          <a:prstGeom prst="rect">
            <a:avLst/>
          </a:prstGeom>
          <a:noFill/>
          <a:ln/>
        </p:spPr>
        <p:txBody>
          <a:bodyPr wrap="square" lIns="25400" tIns="25400" rIns="25400" bIns="25400" rtlCol="0" anchor="t">
            <a:normAutofit/>
          </a:bodyPr>
          <a:lstStyle/>
          <a:p>
            <a:pPr marL="0" indent="0" algn="l">
              <a:lnSpc>
                <a:spcPct val="115714"/>
              </a:lnSpc>
              <a:buNone/>
            </a:pPr>
            <a:r>
              <a:rPr lang="en-US" sz="1800" dirty="0">
                <a:solidFill>
                  <a:srgbClr val="141414"/>
                </a:solidFill>
                <a:latin typeface="Helvetica" pitchFamily="34" charset="0"/>
                <a:ea typeface="Helvetica" pitchFamily="34" charset="-122"/>
                <a:cs typeface="Helvetica" pitchFamily="34" charset="-120"/>
              </a:rPr>
              <a:t>Only approved outcomes and dated obligations are stored</a:t>
            </a:r>
            <a:endParaRPr lang="en-US" sz="1800" dirty="0"/>
          </a:p>
        </p:txBody>
      </p:sp>
      <p:sp>
        <p:nvSpPr>
          <p:cNvPr id="38" name="Shape 36"/>
          <p:cNvSpPr/>
          <p:nvPr/>
        </p:nvSpPr>
        <p:spPr>
          <a:xfrm>
            <a:off x="952500" y="9137650"/>
            <a:ext cx="10922001" cy="9525"/>
          </a:xfrm>
          <a:prstGeom prst="rect">
            <a:avLst/>
          </a:prstGeom>
          <a:solidFill>
            <a:srgbClr val="5C5C58"/>
          </a:solidFill>
          <a:ln/>
        </p:spPr>
      </p:sp>
      <p:sp>
        <p:nvSpPr>
          <p:cNvPr id="40" name="Shape 38"/>
          <p:cNvSpPr/>
          <p:nvPr/>
        </p:nvSpPr>
        <p:spPr>
          <a:xfrm>
            <a:off x="11874501" y="9137650"/>
            <a:ext cx="5461000" cy="9525"/>
          </a:xfrm>
          <a:prstGeom prst="rect">
            <a:avLst/>
          </a:prstGeom>
          <a:solidFill>
            <a:srgbClr val="141414"/>
          </a:solidFill>
          <a:ln/>
        </p:spPr>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AFAF8"/>
        </a:solidFill>
        <a:effectLst/>
      </p:bgPr>
    </p:bg>
    <p:spTree>
      <p:nvGrpSpPr>
        <p:cNvPr id="1" name=""/>
        <p:cNvGrpSpPr/>
        <p:nvPr/>
      </p:nvGrpSpPr>
      <p:grpSpPr>
        <a:xfrm>
          <a:off x="0" y="0"/>
          <a:ext cx="0" cy="0"/>
          <a:chOff x="0" y="0"/>
          <a:chExt cx="0" cy="0"/>
        </a:xfrm>
      </p:grpSpPr>
      <p:sp>
        <p:nvSpPr>
          <p:cNvPr id="2" name="Shape 0"/>
          <p:cNvSpPr/>
          <p:nvPr/>
        </p:nvSpPr>
        <p:spPr>
          <a:xfrm>
            <a:off x="952500" y="857250"/>
            <a:ext cx="16383000" cy="25400"/>
          </a:xfrm>
          <a:prstGeom prst="rect">
            <a:avLst/>
          </a:prstGeom>
          <a:solidFill>
            <a:srgbClr val="141414"/>
          </a:solidFill>
          <a:ln/>
        </p:spPr>
      </p:sp>
      <p:sp>
        <p:nvSpPr>
          <p:cNvPr id="3" name="Text 1"/>
          <p:cNvSpPr/>
          <p:nvPr/>
        </p:nvSpPr>
        <p:spPr>
          <a:xfrm>
            <a:off x="952500" y="1073150"/>
            <a:ext cx="1801039" cy="304800"/>
          </a:xfrm>
          <a:prstGeom prst="rect">
            <a:avLst/>
          </a:prstGeom>
          <a:noFill/>
          <a:ln/>
        </p:spPr>
        <p:txBody>
          <a:bodyPr wrap="square" lIns="25400" tIns="25400" rIns="25400" bIns="25400" rtlCol="0" anchor="t">
            <a:normAutofit/>
          </a:bodyPr>
          <a:lstStyle/>
          <a:p>
            <a:pPr marL="0" indent="0" algn="l">
              <a:buNone/>
            </a:pPr>
            <a:r>
              <a:rPr lang="en-US" sz="1800" kern="0" spc="108" dirty="0">
                <a:solidFill>
                  <a:srgbClr val="141414"/>
                </a:solidFill>
                <a:latin typeface="Helvetica" pitchFamily="34" charset="0"/>
                <a:ea typeface="Helvetica" pitchFamily="34" charset="-122"/>
                <a:cs typeface="Helvetica" pitchFamily="34" charset="-120"/>
              </a:rPr>
              <a:t>03 SOLUTION</a:t>
            </a:r>
            <a:endParaRPr lang="en-US" sz="1800" dirty="0"/>
          </a:p>
        </p:txBody>
      </p:sp>
      <p:sp>
        <p:nvSpPr>
          <p:cNvPr id="4" name="Text 2"/>
          <p:cNvSpPr/>
          <p:nvPr/>
        </p:nvSpPr>
        <p:spPr>
          <a:xfrm>
            <a:off x="13140630" y="1073150"/>
            <a:ext cx="4614356" cy="304800"/>
          </a:xfrm>
          <a:prstGeom prst="rect">
            <a:avLst/>
          </a:prstGeom>
          <a:noFill/>
          <a:ln/>
        </p:spPr>
        <p:txBody>
          <a:bodyPr wrap="square" lIns="25400" tIns="25400" rIns="25400" bIns="25400" rtlCol="0" anchor="t">
            <a:normAutofit/>
          </a:bodyPr>
          <a:lstStyle/>
          <a:p>
            <a:pPr marL="0" indent="0" algn="l">
              <a:buNone/>
            </a:pPr>
            <a:r>
              <a:rPr lang="en-US" sz="1800" kern="0" spc="108" dirty="0">
                <a:solidFill>
                  <a:srgbClr val="141414"/>
                </a:solidFill>
                <a:latin typeface="Helvetica" pitchFamily="34" charset="0"/>
                <a:ea typeface="Helvetica" pitchFamily="34" charset="-122"/>
                <a:cs typeface="Helvetica" pitchFamily="34" charset="-120"/>
              </a:rPr>
              <a:t>ATLIQ CONTRACT RISK ANALYZER</a:t>
            </a:r>
            <a:endParaRPr lang="en-US" sz="1800" dirty="0"/>
          </a:p>
        </p:txBody>
      </p:sp>
      <p:sp>
        <p:nvSpPr>
          <p:cNvPr id="5" name="Text 3"/>
          <p:cNvSpPr/>
          <p:nvPr/>
        </p:nvSpPr>
        <p:spPr>
          <a:xfrm>
            <a:off x="952500" y="1797050"/>
            <a:ext cx="14716125" cy="1354733"/>
          </a:xfrm>
          <a:prstGeom prst="rect">
            <a:avLst/>
          </a:prstGeom>
          <a:noFill/>
          <a:ln/>
        </p:spPr>
        <p:txBody>
          <a:bodyPr wrap="square" lIns="25400" tIns="25400" rIns="25400" bIns="25400" rtlCol="0" anchor="t">
            <a:normAutofit/>
          </a:bodyPr>
          <a:lstStyle/>
          <a:p>
            <a:pPr marL="0" indent="0" algn="l">
              <a:lnSpc>
                <a:spcPct val="94255"/>
              </a:lnSpc>
              <a:buNone/>
            </a:pPr>
            <a:r>
              <a:rPr lang="en-US" sz="4800" b="1" kern="0" spc="-120" dirty="0">
                <a:solidFill>
                  <a:srgbClr val="141414"/>
                </a:solidFill>
                <a:latin typeface="Helvetica" pitchFamily="34" charset="0"/>
                <a:ea typeface="Helvetica" pitchFamily="34" charset="-122"/>
                <a:cs typeface="Helvetica" pitchFamily="34" charset="-120"/>
              </a:rPr>
              <a:t>Each review returns a decision memo in one of five states</a:t>
            </a:r>
            <a:endParaRPr lang="en-US" sz="4800" dirty="0"/>
          </a:p>
        </p:txBody>
      </p:sp>
      <p:sp>
        <p:nvSpPr>
          <p:cNvPr id="6" name="Text 4"/>
          <p:cNvSpPr/>
          <p:nvPr/>
        </p:nvSpPr>
        <p:spPr>
          <a:xfrm>
            <a:off x="952500" y="3532783"/>
            <a:ext cx="8938615" cy="304800"/>
          </a:xfrm>
          <a:prstGeom prst="rect">
            <a:avLst/>
          </a:prstGeom>
          <a:noFill/>
          <a:ln/>
        </p:spPr>
        <p:txBody>
          <a:bodyPr wrap="square" lIns="25400" tIns="25400" rIns="25400" bIns="25400" rtlCol="0" anchor="t">
            <a:normAutofit/>
          </a:bodyPr>
          <a:lstStyle/>
          <a:p>
            <a:pPr marL="0" indent="0" algn="l">
              <a:buNone/>
            </a:pPr>
            <a:r>
              <a:rPr lang="en-US" sz="1800" kern="0" spc="108" dirty="0">
                <a:solidFill>
                  <a:srgbClr val="5C5C58"/>
                </a:solidFill>
                <a:latin typeface="Helvetica" pitchFamily="34" charset="0"/>
                <a:ea typeface="Helvetica" pitchFamily="34" charset="-122"/>
                <a:cs typeface="Helvetica" pitchFamily="34" charset="-120"/>
              </a:rPr>
              <a:t>DECISION MEMO</a:t>
            </a:r>
            <a:endParaRPr lang="en-US" sz="1800" dirty="0"/>
          </a:p>
        </p:txBody>
      </p:sp>
      <p:sp>
        <p:nvSpPr>
          <p:cNvPr id="7" name="Shape 5"/>
          <p:cNvSpPr/>
          <p:nvPr/>
        </p:nvSpPr>
        <p:spPr>
          <a:xfrm>
            <a:off x="952500" y="3913783"/>
            <a:ext cx="4148634" cy="9525"/>
          </a:xfrm>
          <a:prstGeom prst="rect">
            <a:avLst/>
          </a:prstGeom>
          <a:solidFill>
            <a:srgbClr val="141414"/>
          </a:solidFill>
          <a:ln/>
        </p:spPr>
      </p:sp>
      <p:sp>
        <p:nvSpPr>
          <p:cNvPr id="8" name="Text 6"/>
          <p:cNvSpPr/>
          <p:nvPr/>
        </p:nvSpPr>
        <p:spPr>
          <a:xfrm>
            <a:off x="952500" y="4034433"/>
            <a:ext cx="609600" cy="857250"/>
          </a:xfrm>
          <a:prstGeom prst="rect">
            <a:avLst/>
          </a:prstGeom>
          <a:noFill/>
          <a:ln/>
        </p:spPr>
        <p:txBody>
          <a:bodyPr wrap="square" lIns="25400" tIns="25400" rIns="25400" bIns="25400" rtlCol="0" anchor="t">
            <a:normAutofit/>
          </a:bodyPr>
          <a:lstStyle/>
          <a:p>
            <a:pPr marL="0" indent="0" algn="l">
              <a:buNone/>
            </a:pPr>
            <a:r>
              <a:rPr lang="en-US" sz="1800" dirty="0">
                <a:solidFill>
                  <a:srgbClr val="5C5C58"/>
                </a:solidFill>
                <a:latin typeface="Helvetica" pitchFamily="34" charset="0"/>
                <a:ea typeface="Helvetica" pitchFamily="34" charset="-122"/>
                <a:cs typeface="Helvetica" pitchFamily="34" charset="-120"/>
              </a:rPr>
              <a:t>01</a:t>
            </a:r>
            <a:endParaRPr lang="en-US" sz="1800" dirty="0"/>
          </a:p>
        </p:txBody>
      </p:sp>
      <p:sp>
        <p:nvSpPr>
          <p:cNvPr id="9" name="Text 7"/>
          <p:cNvSpPr/>
          <p:nvPr/>
        </p:nvSpPr>
        <p:spPr>
          <a:xfrm>
            <a:off x="1600200" y="4034433"/>
            <a:ext cx="3851027" cy="304800"/>
          </a:xfrm>
          <a:prstGeom prst="rect">
            <a:avLst/>
          </a:prstGeom>
          <a:noFill/>
          <a:ln/>
        </p:spPr>
        <p:txBody>
          <a:bodyPr wrap="square" lIns="25400" tIns="25400" rIns="25400" bIns="25400" rtlCol="0" anchor="t">
            <a:normAutofit/>
          </a:bodyPr>
          <a:lstStyle/>
          <a:p>
            <a:pPr marL="0" indent="0" algn="l">
              <a:buNone/>
            </a:pPr>
            <a:r>
              <a:rPr lang="en-US" sz="1800" b="1" dirty="0">
                <a:solidFill>
                  <a:srgbClr val="141414"/>
                </a:solidFill>
                <a:latin typeface="Helvetica" pitchFamily="34" charset="0"/>
                <a:ea typeface="Helvetica" pitchFamily="34" charset="-122"/>
                <a:cs typeface="Helvetica" pitchFamily="34" charset="-120"/>
              </a:rPr>
              <a:t>Decision summary</a:t>
            </a:r>
            <a:endParaRPr lang="en-US" sz="1800" dirty="0"/>
          </a:p>
        </p:txBody>
      </p:sp>
      <p:sp>
        <p:nvSpPr>
          <p:cNvPr id="10" name="Text 8"/>
          <p:cNvSpPr/>
          <p:nvPr/>
        </p:nvSpPr>
        <p:spPr>
          <a:xfrm>
            <a:off x="1600200" y="4320183"/>
            <a:ext cx="3605962" cy="571500"/>
          </a:xfrm>
          <a:prstGeom prst="rect">
            <a:avLst/>
          </a:prstGeom>
          <a:noFill/>
          <a:ln/>
        </p:spPr>
        <p:txBody>
          <a:bodyPr wrap="square" lIns="25400" tIns="25400" rIns="25400" bIns="25400" rtlCol="0" anchor="t">
            <a:normAutofit/>
          </a:bodyPr>
          <a:lstStyle/>
          <a:p>
            <a:pPr marL="0" indent="0" algn="l">
              <a:buNone/>
            </a:pPr>
            <a:r>
              <a:rPr lang="en-US" sz="1800" dirty="0">
                <a:solidFill>
                  <a:srgbClr val="5C5C58"/>
                </a:solidFill>
                <a:latin typeface="Helvetica" pitchFamily="34" charset="0"/>
                <a:ea typeface="Helvetica" pitchFamily="34" charset="-122"/>
                <a:cs typeface="Helvetica" pitchFamily="34" charset="-120"/>
              </a:rPr>
              <a:t>Proceed, negotiate, confirm, counsel or hold</a:t>
            </a:r>
            <a:endParaRPr lang="en-US" sz="1800" dirty="0"/>
          </a:p>
        </p:txBody>
      </p:sp>
      <p:sp>
        <p:nvSpPr>
          <p:cNvPr id="11" name="Shape 9"/>
          <p:cNvSpPr/>
          <p:nvPr/>
        </p:nvSpPr>
        <p:spPr>
          <a:xfrm>
            <a:off x="952500" y="4967883"/>
            <a:ext cx="4148634" cy="9525"/>
          </a:xfrm>
          <a:prstGeom prst="rect">
            <a:avLst/>
          </a:prstGeom>
          <a:solidFill>
            <a:srgbClr val="D9D9D4"/>
          </a:solidFill>
          <a:ln/>
        </p:spPr>
      </p:sp>
      <p:sp>
        <p:nvSpPr>
          <p:cNvPr id="12" name="Text 10"/>
          <p:cNvSpPr/>
          <p:nvPr/>
        </p:nvSpPr>
        <p:spPr>
          <a:xfrm>
            <a:off x="952500" y="5088533"/>
            <a:ext cx="609600" cy="857250"/>
          </a:xfrm>
          <a:prstGeom prst="rect">
            <a:avLst/>
          </a:prstGeom>
          <a:noFill/>
          <a:ln/>
        </p:spPr>
        <p:txBody>
          <a:bodyPr wrap="square" lIns="25400" tIns="25400" rIns="25400" bIns="25400" rtlCol="0" anchor="t">
            <a:normAutofit/>
          </a:bodyPr>
          <a:lstStyle/>
          <a:p>
            <a:pPr marL="0" indent="0" algn="l">
              <a:buNone/>
            </a:pPr>
            <a:r>
              <a:rPr lang="en-US" sz="1800" dirty="0">
                <a:solidFill>
                  <a:srgbClr val="5C5C58"/>
                </a:solidFill>
                <a:latin typeface="Helvetica" pitchFamily="34" charset="0"/>
                <a:ea typeface="Helvetica" pitchFamily="34" charset="-122"/>
                <a:cs typeface="Helvetica" pitchFamily="34" charset="-120"/>
              </a:rPr>
              <a:t>02</a:t>
            </a:r>
            <a:endParaRPr lang="en-US" sz="1800" dirty="0"/>
          </a:p>
        </p:txBody>
      </p:sp>
      <p:sp>
        <p:nvSpPr>
          <p:cNvPr id="13" name="Text 11"/>
          <p:cNvSpPr/>
          <p:nvPr/>
        </p:nvSpPr>
        <p:spPr>
          <a:xfrm>
            <a:off x="1600200" y="5088533"/>
            <a:ext cx="3851027" cy="304800"/>
          </a:xfrm>
          <a:prstGeom prst="rect">
            <a:avLst/>
          </a:prstGeom>
          <a:noFill/>
          <a:ln/>
        </p:spPr>
        <p:txBody>
          <a:bodyPr wrap="square" lIns="25400" tIns="25400" rIns="25400" bIns="25400" rtlCol="0" anchor="t">
            <a:normAutofit/>
          </a:bodyPr>
          <a:lstStyle/>
          <a:p>
            <a:pPr marL="0" indent="0" algn="l">
              <a:buNone/>
            </a:pPr>
            <a:r>
              <a:rPr lang="en-US" sz="1800" b="1" dirty="0">
                <a:solidFill>
                  <a:srgbClr val="141414"/>
                </a:solidFill>
                <a:latin typeface="Helvetica" pitchFamily="34" charset="0"/>
                <a:ea typeface="Helvetica" pitchFamily="34" charset="-122"/>
                <a:cs typeface="Helvetica" pitchFamily="34" charset="-120"/>
              </a:rPr>
              <a:t>Clause coverage</a:t>
            </a:r>
            <a:endParaRPr lang="en-US" sz="1800" dirty="0"/>
          </a:p>
        </p:txBody>
      </p:sp>
      <p:sp>
        <p:nvSpPr>
          <p:cNvPr id="14" name="Text 12"/>
          <p:cNvSpPr/>
          <p:nvPr/>
        </p:nvSpPr>
        <p:spPr>
          <a:xfrm>
            <a:off x="1600200" y="5374283"/>
            <a:ext cx="3605962" cy="571500"/>
          </a:xfrm>
          <a:prstGeom prst="rect">
            <a:avLst/>
          </a:prstGeom>
          <a:noFill/>
          <a:ln/>
        </p:spPr>
        <p:txBody>
          <a:bodyPr wrap="square" lIns="25400" tIns="25400" rIns="25400" bIns="25400" rtlCol="0" anchor="t">
            <a:normAutofit/>
          </a:bodyPr>
          <a:lstStyle/>
          <a:p>
            <a:pPr marL="0" indent="0" algn="l">
              <a:buNone/>
            </a:pPr>
            <a:r>
              <a:rPr lang="en-US" sz="1800" dirty="0">
                <a:solidFill>
                  <a:srgbClr val="5C5C58"/>
                </a:solidFill>
                <a:latin typeface="Helvetica" pitchFamily="34" charset="0"/>
                <a:ea typeface="Helvetica" pitchFamily="34" charset="-122"/>
                <a:cs typeface="Helvetica" pitchFamily="34" charset="-120"/>
              </a:rPr>
              <a:t>Examined, flagged, no issue, coverage %</a:t>
            </a:r>
            <a:endParaRPr lang="en-US" sz="1800" dirty="0"/>
          </a:p>
        </p:txBody>
      </p:sp>
      <p:sp>
        <p:nvSpPr>
          <p:cNvPr id="15" name="Shape 13"/>
          <p:cNvSpPr/>
          <p:nvPr/>
        </p:nvSpPr>
        <p:spPr>
          <a:xfrm>
            <a:off x="952500" y="6021983"/>
            <a:ext cx="4148634" cy="9525"/>
          </a:xfrm>
          <a:prstGeom prst="rect">
            <a:avLst/>
          </a:prstGeom>
          <a:solidFill>
            <a:srgbClr val="D9D9D4"/>
          </a:solidFill>
          <a:ln/>
        </p:spPr>
      </p:sp>
      <p:sp>
        <p:nvSpPr>
          <p:cNvPr id="16" name="Text 14"/>
          <p:cNvSpPr/>
          <p:nvPr/>
        </p:nvSpPr>
        <p:spPr>
          <a:xfrm>
            <a:off x="952500" y="6142633"/>
            <a:ext cx="609600" cy="590550"/>
          </a:xfrm>
          <a:prstGeom prst="rect">
            <a:avLst/>
          </a:prstGeom>
          <a:noFill/>
          <a:ln/>
        </p:spPr>
        <p:txBody>
          <a:bodyPr wrap="square" lIns="25400" tIns="25400" rIns="25400" bIns="25400" rtlCol="0" anchor="t">
            <a:normAutofit/>
          </a:bodyPr>
          <a:lstStyle/>
          <a:p>
            <a:pPr marL="0" indent="0" algn="l">
              <a:buNone/>
            </a:pPr>
            <a:r>
              <a:rPr lang="en-US" sz="1800" dirty="0">
                <a:solidFill>
                  <a:srgbClr val="5C5C58"/>
                </a:solidFill>
                <a:latin typeface="Helvetica" pitchFamily="34" charset="0"/>
                <a:ea typeface="Helvetica" pitchFamily="34" charset="-122"/>
                <a:cs typeface="Helvetica" pitchFamily="34" charset="-120"/>
              </a:rPr>
              <a:t>03</a:t>
            </a:r>
            <a:endParaRPr lang="en-US" sz="1800" dirty="0"/>
          </a:p>
        </p:txBody>
      </p:sp>
      <p:sp>
        <p:nvSpPr>
          <p:cNvPr id="17" name="Text 15"/>
          <p:cNvSpPr/>
          <p:nvPr/>
        </p:nvSpPr>
        <p:spPr>
          <a:xfrm>
            <a:off x="1600200" y="6142633"/>
            <a:ext cx="3851027" cy="304800"/>
          </a:xfrm>
          <a:prstGeom prst="rect">
            <a:avLst/>
          </a:prstGeom>
          <a:noFill/>
          <a:ln/>
        </p:spPr>
        <p:txBody>
          <a:bodyPr wrap="square" lIns="25400" tIns="25400" rIns="25400" bIns="25400" rtlCol="0" anchor="t">
            <a:normAutofit/>
          </a:bodyPr>
          <a:lstStyle/>
          <a:p>
            <a:pPr marL="0" indent="0" algn="l">
              <a:buNone/>
            </a:pPr>
            <a:r>
              <a:rPr lang="en-US" sz="1800" b="1" dirty="0">
                <a:solidFill>
                  <a:srgbClr val="141414"/>
                </a:solidFill>
                <a:latin typeface="Helvetica" pitchFamily="34" charset="0"/>
                <a:ea typeface="Helvetica" pitchFamily="34" charset="-122"/>
                <a:cs typeface="Helvetica" pitchFamily="34" charset="-120"/>
              </a:rPr>
              <a:t>Risk findings</a:t>
            </a:r>
            <a:endParaRPr lang="en-US" sz="1800" dirty="0"/>
          </a:p>
        </p:txBody>
      </p:sp>
      <p:sp>
        <p:nvSpPr>
          <p:cNvPr id="18" name="Text 16"/>
          <p:cNvSpPr/>
          <p:nvPr/>
        </p:nvSpPr>
        <p:spPr>
          <a:xfrm>
            <a:off x="1600200" y="6428383"/>
            <a:ext cx="3851027" cy="304800"/>
          </a:xfrm>
          <a:prstGeom prst="rect">
            <a:avLst/>
          </a:prstGeom>
          <a:noFill/>
          <a:ln/>
        </p:spPr>
        <p:txBody>
          <a:bodyPr wrap="square" lIns="25400" tIns="25400" rIns="25400" bIns="25400" rtlCol="0" anchor="t">
            <a:normAutofit/>
          </a:bodyPr>
          <a:lstStyle/>
          <a:p>
            <a:pPr marL="0" indent="0" algn="l">
              <a:buNone/>
            </a:pPr>
            <a:r>
              <a:rPr lang="en-US" sz="1800" dirty="0">
                <a:solidFill>
                  <a:srgbClr val="5C5C58"/>
                </a:solidFill>
                <a:latin typeface="Helvetica" pitchFamily="34" charset="0"/>
                <a:ea typeface="Helvetica" pitchFamily="34" charset="-122"/>
                <a:cs typeface="Helvetica" pitchFamily="34" charset="-120"/>
              </a:rPr>
              <a:t>Severity, citation, confidence</a:t>
            </a:r>
            <a:endParaRPr lang="en-US" sz="1800" dirty="0"/>
          </a:p>
        </p:txBody>
      </p:sp>
      <p:sp>
        <p:nvSpPr>
          <p:cNvPr id="19" name="Shape 17"/>
          <p:cNvSpPr/>
          <p:nvPr/>
        </p:nvSpPr>
        <p:spPr>
          <a:xfrm>
            <a:off x="952500" y="6809383"/>
            <a:ext cx="4148634" cy="9525"/>
          </a:xfrm>
          <a:prstGeom prst="rect">
            <a:avLst/>
          </a:prstGeom>
          <a:solidFill>
            <a:srgbClr val="D9D9D4"/>
          </a:solidFill>
          <a:ln/>
        </p:spPr>
      </p:sp>
      <p:sp>
        <p:nvSpPr>
          <p:cNvPr id="20" name="Text 18"/>
          <p:cNvSpPr/>
          <p:nvPr/>
        </p:nvSpPr>
        <p:spPr>
          <a:xfrm>
            <a:off x="952500" y="6930033"/>
            <a:ext cx="609600" cy="590550"/>
          </a:xfrm>
          <a:prstGeom prst="rect">
            <a:avLst/>
          </a:prstGeom>
          <a:noFill/>
          <a:ln/>
        </p:spPr>
        <p:txBody>
          <a:bodyPr wrap="square" lIns="25400" tIns="25400" rIns="25400" bIns="25400" rtlCol="0" anchor="t">
            <a:normAutofit/>
          </a:bodyPr>
          <a:lstStyle/>
          <a:p>
            <a:pPr marL="0" indent="0" algn="l">
              <a:buNone/>
            </a:pPr>
            <a:r>
              <a:rPr lang="en-US" sz="1800" dirty="0">
                <a:solidFill>
                  <a:srgbClr val="5C5C58"/>
                </a:solidFill>
                <a:latin typeface="Helvetica" pitchFamily="34" charset="0"/>
                <a:ea typeface="Helvetica" pitchFamily="34" charset="-122"/>
                <a:cs typeface="Helvetica" pitchFamily="34" charset="-120"/>
              </a:rPr>
              <a:t>04</a:t>
            </a:r>
            <a:endParaRPr lang="en-US" sz="1800" dirty="0"/>
          </a:p>
        </p:txBody>
      </p:sp>
      <p:sp>
        <p:nvSpPr>
          <p:cNvPr id="21" name="Text 19"/>
          <p:cNvSpPr/>
          <p:nvPr/>
        </p:nvSpPr>
        <p:spPr>
          <a:xfrm>
            <a:off x="1600200" y="6930033"/>
            <a:ext cx="3851027" cy="304800"/>
          </a:xfrm>
          <a:prstGeom prst="rect">
            <a:avLst/>
          </a:prstGeom>
          <a:noFill/>
          <a:ln/>
        </p:spPr>
        <p:txBody>
          <a:bodyPr wrap="square" lIns="25400" tIns="25400" rIns="25400" bIns="25400" rtlCol="0" anchor="t">
            <a:normAutofit/>
          </a:bodyPr>
          <a:lstStyle/>
          <a:p>
            <a:pPr marL="0" indent="0" algn="l">
              <a:buNone/>
            </a:pPr>
            <a:r>
              <a:rPr lang="en-US" sz="1800" b="1" dirty="0">
                <a:solidFill>
                  <a:srgbClr val="141414"/>
                </a:solidFill>
                <a:latin typeface="Helvetica" pitchFamily="34" charset="0"/>
                <a:ea typeface="Helvetica" pitchFamily="34" charset="-122"/>
                <a:cs typeface="Helvetica" pitchFamily="34" charset="-120"/>
              </a:rPr>
              <a:t>Precedent</a:t>
            </a:r>
            <a:endParaRPr lang="en-US" sz="1800" dirty="0"/>
          </a:p>
        </p:txBody>
      </p:sp>
      <p:sp>
        <p:nvSpPr>
          <p:cNvPr id="22" name="Text 20"/>
          <p:cNvSpPr/>
          <p:nvPr/>
        </p:nvSpPr>
        <p:spPr>
          <a:xfrm>
            <a:off x="1600200" y="7215783"/>
            <a:ext cx="3851027" cy="304800"/>
          </a:xfrm>
          <a:prstGeom prst="rect">
            <a:avLst/>
          </a:prstGeom>
          <a:noFill/>
          <a:ln/>
        </p:spPr>
        <p:txBody>
          <a:bodyPr wrap="square" lIns="25400" tIns="25400" rIns="25400" bIns="25400" rtlCol="0" anchor="t">
            <a:normAutofit/>
          </a:bodyPr>
          <a:lstStyle/>
          <a:p>
            <a:pPr marL="0" indent="0" algn="l">
              <a:buNone/>
            </a:pPr>
            <a:r>
              <a:rPr lang="en-US" sz="1800" dirty="0">
                <a:solidFill>
                  <a:srgbClr val="5C5C58"/>
                </a:solidFill>
                <a:latin typeface="Helvetica" pitchFamily="34" charset="0"/>
                <a:ea typeface="Helvetica" pitchFamily="34" charset="-122"/>
                <a:cs typeface="Helvetica" pitchFamily="34" charset="-120"/>
              </a:rPr>
              <a:t>Labelled standard or exception</a:t>
            </a:r>
            <a:endParaRPr lang="en-US" sz="1800" dirty="0"/>
          </a:p>
        </p:txBody>
      </p:sp>
      <p:sp>
        <p:nvSpPr>
          <p:cNvPr id="23" name="Shape 21"/>
          <p:cNvSpPr/>
          <p:nvPr/>
        </p:nvSpPr>
        <p:spPr>
          <a:xfrm>
            <a:off x="5482134" y="3913783"/>
            <a:ext cx="4148634" cy="9525"/>
          </a:xfrm>
          <a:prstGeom prst="rect">
            <a:avLst/>
          </a:prstGeom>
          <a:solidFill>
            <a:srgbClr val="D9D9D4"/>
          </a:solidFill>
          <a:ln/>
        </p:spPr>
      </p:sp>
      <p:sp>
        <p:nvSpPr>
          <p:cNvPr id="24" name="Text 22"/>
          <p:cNvSpPr/>
          <p:nvPr/>
        </p:nvSpPr>
        <p:spPr>
          <a:xfrm>
            <a:off x="5482134" y="4034433"/>
            <a:ext cx="609600" cy="590550"/>
          </a:xfrm>
          <a:prstGeom prst="rect">
            <a:avLst/>
          </a:prstGeom>
          <a:noFill/>
          <a:ln/>
        </p:spPr>
        <p:txBody>
          <a:bodyPr wrap="square" lIns="25400" tIns="25400" rIns="25400" bIns="25400" rtlCol="0" anchor="t">
            <a:normAutofit/>
          </a:bodyPr>
          <a:lstStyle/>
          <a:p>
            <a:pPr marL="0" indent="0" algn="l">
              <a:buNone/>
            </a:pPr>
            <a:r>
              <a:rPr lang="en-US" sz="1800" dirty="0">
                <a:solidFill>
                  <a:srgbClr val="5C5C58"/>
                </a:solidFill>
                <a:latin typeface="Helvetica" pitchFamily="34" charset="0"/>
                <a:ea typeface="Helvetica" pitchFamily="34" charset="-122"/>
                <a:cs typeface="Helvetica" pitchFamily="34" charset="-120"/>
              </a:rPr>
              <a:t>05</a:t>
            </a:r>
            <a:endParaRPr lang="en-US" sz="1800" dirty="0"/>
          </a:p>
        </p:txBody>
      </p:sp>
      <p:sp>
        <p:nvSpPr>
          <p:cNvPr id="25" name="Text 23"/>
          <p:cNvSpPr/>
          <p:nvPr/>
        </p:nvSpPr>
        <p:spPr>
          <a:xfrm>
            <a:off x="6129834" y="4034433"/>
            <a:ext cx="3851027" cy="304800"/>
          </a:xfrm>
          <a:prstGeom prst="rect">
            <a:avLst/>
          </a:prstGeom>
          <a:noFill/>
          <a:ln/>
        </p:spPr>
        <p:txBody>
          <a:bodyPr wrap="square" lIns="25400" tIns="25400" rIns="25400" bIns="25400" rtlCol="0" anchor="t">
            <a:normAutofit/>
          </a:bodyPr>
          <a:lstStyle/>
          <a:p>
            <a:pPr marL="0" indent="0" algn="l">
              <a:buNone/>
            </a:pPr>
            <a:r>
              <a:rPr lang="en-US" sz="1800" b="1" dirty="0">
                <a:solidFill>
                  <a:srgbClr val="141414"/>
                </a:solidFill>
                <a:latin typeface="Helvetica" pitchFamily="34" charset="0"/>
                <a:ea typeface="Helvetica" pitchFamily="34" charset="-122"/>
                <a:cs typeface="Helvetica" pitchFamily="34" charset="-120"/>
              </a:rPr>
              <a:t>Conflict check</a:t>
            </a:r>
            <a:endParaRPr lang="en-US" sz="1800" dirty="0"/>
          </a:p>
        </p:txBody>
      </p:sp>
      <p:sp>
        <p:nvSpPr>
          <p:cNvPr id="26" name="Text 24"/>
          <p:cNvSpPr/>
          <p:nvPr/>
        </p:nvSpPr>
        <p:spPr>
          <a:xfrm>
            <a:off x="6129834" y="4320183"/>
            <a:ext cx="3851027" cy="304800"/>
          </a:xfrm>
          <a:prstGeom prst="rect">
            <a:avLst/>
          </a:prstGeom>
          <a:noFill/>
          <a:ln/>
        </p:spPr>
        <p:txBody>
          <a:bodyPr wrap="square" lIns="25400" tIns="25400" rIns="25400" bIns="25400" rtlCol="0" anchor="t">
            <a:normAutofit/>
          </a:bodyPr>
          <a:lstStyle/>
          <a:p>
            <a:pPr marL="0" indent="0" algn="l">
              <a:buNone/>
            </a:pPr>
            <a:r>
              <a:rPr lang="en-US" sz="1800" dirty="0">
                <a:solidFill>
                  <a:srgbClr val="5C5C58"/>
                </a:solidFill>
                <a:latin typeface="Helvetica" pitchFamily="34" charset="0"/>
                <a:ea typeface="Helvetica" pitchFamily="34" charset="-122"/>
                <a:cs typeface="Helvetica" pitchFamily="34" charset="-120"/>
              </a:rPr>
              <a:t>Live, expired or superseded</a:t>
            </a:r>
            <a:endParaRPr lang="en-US" sz="1800" dirty="0"/>
          </a:p>
        </p:txBody>
      </p:sp>
      <p:sp>
        <p:nvSpPr>
          <p:cNvPr id="27" name="Shape 25"/>
          <p:cNvSpPr/>
          <p:nvPr/>
        </p:nvSpPr>
        <p:spPr>
          <a:xfrm>
            <a:off x="5482134" y="4701183"/>
            <a:ext cx="4148634" cy="9525"/>
          </a:xfrm>
          <a:prstGeom prst="rect">
            <a:avLst/>
          </a:prstGeom>
          <a:solidFill>
            <a:srgbClr val="D9D9D4"/>
          </a:solidFill>
          <a:ln/>
        </p:spPr>
      </p:sp>
      <p:sp>
        <p:nvSpPr>
          <p:cNvPr id="28" name="Text 26"/>
          <p:cNvSpPr/>
          <p:nvPr/>
        </p:nvSpPr>
        <p:spPr>
          <a:xfrm>
            <a:off x="5482134" y="4821833"/>
            <a:ext cx="609600" cy="857250"/>
          </a:xfrm>
          <a:prstGeom prst="rect">
            <a:avLst/>
          </a:prstGeom>
          <a:noFill/>
          <a:ln/>
        </p:spPr>
        <p:txBody>
          <a:bodyPr wrap="square" lIns="25400" tIns="25400" rIns="25400" bIns="25400" rtlCol="0" anchor="t">
            <a:normAutofit/>
          </a:bodyPr>
          <a:lstStyle/>
          <a:p>
            <a:pPr marL="0" indent="0" algn="l">
              <a:buNone/>
            </a:pPr>
            <a:r>
              <a:rPr lang="en-US" sz="1800" dirty="0">
                <a:solidFill>
                  <a:srgbClr val="5C5C58"/>
                </a:solidFill>
                <a:latin typeface="Helvetica" pitchFamily="34" charset="0"/>
                <a:ea typeface="Helvetica" pitchFamily="34" charset="-122"/>
                <a:cs typeface="Helvetica" pitchFamily="34" charset="-120"/>
              </a:rPr>
              <a:t>06</a:t>
            </a:r>
            <a:endParaRPr lang="en-US" sz="1800" dirty="0"/>
          </a:p>
        </p:txBody>
      </p:sp>
      <p:sp>
        <p:nvSpPr>
          <p:cNvPr id="29" name="Text 27"/>
          <p:cNvSpPr/>
          <p:nvPr/>
        </p:nvSpPr>
        <p:spPr>
          <a:xfrm>
            <a:off x="6129834" y="4821833"/>
            <a:ext cx="3851027" cy="304800"/>
          </a:xfrm>
          <a:prstGeom prst="rect">
            <a:avLst/>
          </a:prstGeom>
          <a:noFill/>
          <a:ln/>
        </p:spPr>
        <p:txBody>
          <a:bodyPr wrap="square" lIns="25400" tIns="25400" rIns="25400" bIns="25400" rtlCol="0" anchor="t">
            <a:normAutofit/>
          </a:bodyPr>
          <a:lstStyle/>
          <a:p>
            <a:pPr marL="0" indent="0" algn="l">
              <a:buNone/>
            </a:pPr>
            <a:r>
              <a:rPr lang="en-US" sz="1800" b="1" dirty="0">
                <a:solidFill>
                  <a:srgbClr val="141414"/>
                </a:solidFill>
                <a:latin typeface="Helvetica" pitchFamily="34" charset="0"/>
                <a:ea typeface="Helvetica" pitchFamily="34" charset="-122"/>
                <a:cs typeface="Helvetica" pitchFamily="34" charset="-120"/>
              </a:rPr>
              <a:t>Entity, brand, counterparty</a:t>
            </a:r>
            <a:endParaRPr lang="en-US" sz="1800" dirty="0"/>
          </a:p>
        </p:txBody>
      </p:sp>
      <p:sp>
        <p:nvSpPr>
          <p:cNvPr id="30" name="Text 28"/>
          <p:cNvSpPr/>
          <p:nvPr/>
        </p:nvSpPr>
        <p:spPr>
          <a:xfrm>
            <a:off x="6129834" y="5107583"/>
            <a:ext cx="3605962" cy="571500"/>
          </a:xfrm>
          <a:prstGeom prst="rect">
            <a:avLst/>
          </a:prstGeom>
          <a:noFill/>
          <a:ln/>
        </p:spPr>
        <p:txBody>
          <a:bodyPr wrap="square" lIns="25400" tIns="25400" rIns="25400" bIns="25400" rtlCol="0" anchor="t">
            <a:normAutofit/>
          </a:bodyPr>
          <a:lstStyle/>
          <a:p>
            <a:pPr marL="0" indent="0" algn="l">
              <a:buNone/>
            </a:pPr>
            <a:r>
              <a:rPr lang="en-US" sz="1800" dirty="0">
                <a:solidFill>
                  <a:srgbClr val="5C5C58"/>
                </a:solidFill>
                <a:latin typeface="Helvetica" pitchFamily="34" charset="0"/>
                <a:ea typeface="Helvetica" pitchFamily="34" charset="-122"/>
                <a:cs typeface="Helvetica" pitchFamily="34" charset="-120"/>
              </a:rPr>
              <a:t>Signatory, reputation, payment history</a:t>
            </a:r>
            <a:endParaRPr lang="en-US" sz="1800" dirty="0"/>
          </a:p>
        </p:txBody>
      </p:sp>
      <p:sp>
        <p:nvSpPr>
          <p:cNvPr id="31" name="Shape 29"/>
          <p:cNvSpPr/>
          <p:nvPr/>
        </p:nvSpPr>
        <p:spPr>
          <a:xfrm>
            <a:off x="5482134" y="5755283"/>
            <a:ext cx="4148634" cy="9525"/>
          </a:xfrm>
          <a:prstGeom prst="rect">
            <a:avLst/>
          </a:prstGeom>
          <a:solidFill>
            <a:srgbClr val="D9D9D4"/>
          </a:solidFill>
          <a:ln/>
        </p:spPr>
      </p:sp>
      <p:sp>
        <p:nvSpPr>
          <p:cNvPr id="32" name="Text 30"/>
          <p:cNvSpPr/>
          <p:nvPr/>
        </p:nvSpPr>
        <p:spPr>
          <a:xfrm>
            <a:off x="5482134" y="5875933"/>
            <a:ext cx="609600" cy="857250"/>
          </a:xfrm>
          <a:prstGeom prst="rect">
            <a:avLst/>
          </a:prstGeom>
          <a:noFill/>
          <a:ln/>
        </p:spPr>
        <p:txBody>
          <a:bodyPr wrap="square" lIns="25400" tIns="25400" rIns="25400" bIns="25400" rtlCol="0" anchor="t">
            <a:normAutofit/>
          </a:bodyPr>
          <a:lstStyle/>
          <a:p>
            <a:pPr marL="0" indent="0" algn="l">
              <a:buNone/>
            </a:pPr>
            <a:r>
              <a:rPr lang="en-US" sz="1800" dirty="0">
                <a:solidFill>
                  <a:srgbClr val="5C5C58"/>
                </a:solidFill>
                <a:latin typeface="Helvetica" pitchFamily="34" charset="0"/>
                <a:ea typeface="Helvetica" pitchFamily="34" charset="-122"/>
                <a:cs typeface="Helvetica" pitchFamily="34" charset="-120"/>
              </a:rPr>
              <a:t>07</a:t>
            </a:r>
            <a:endParaRPr lang="en-US" sz="1800" dirty="0"/>
          </a:p>
        </p:txBody>
      </p:sp>
      <p:sp>
        <p:nvSpPr>
          <p:cNvPr id="33" name="Text 31"/>
          <p:cNvSpPr/>
          <p:nvPr/>
        </p:nvSpPr>
        <p:spPr>
          <a:xfrm>
            <a:off x="6129834" y="5875933"/>
            <a:ext cx="3851027" cy="304800"/>
          </a:xfrm>
          <a:prstGeom prst="rect">
            <a:avLst/>
          </a:prstGeom>
          <a:noFill/>
          <a:ln/>
        </p:spPr>
        <p:txBody>
          <a:bodyPr wrap="square" lIns="25400" tIns="25400" rIns="25400" bIns="25400" rtlCol="0" anchor="t">
            <a:normAutofit/>
          </a:bodyPr>
          <a:lstStyle/>
          <a:p>
            <a:pPr marL="0" indent="0" algn="l">
              <a:buNone/>
            </a:pPr>
            <a:r>
              <a:rPr lang="en-US" sz="1800" b="1" dirty="0">
                <a:solidFill>
                  <a:srgbClr val="141414"/>
                </a:solidFill>
                <a:latin typeface="Helvetica" pitchFamily="34" charset="0"/>
                <a:ea typeface="Helvetica" pitchFamily="34" charset="-122"/>
                <a:cs typeface="Helvetica" pitchFamily="34" charset="-120"/>
              </a:rPr>
              <a:t>Missing information</a:t>
            </a:r>
            <a:endParaRPr lang="en-US" sz="1800" dirty="0"/>
          </a:p>
        </p:txBody>
      </p:sp>
      <p:sp>
        <p:nvSpPr>
          <p:cNvPr id="34" name="Text 32"/>
          <p:cNvSpPr/>
          <p:nvPr/>
        </p:nvSpPr>
        <p:spPr>
          <a:xfrm>
            <a:off x="6129834" y="6161683"/>
            <a:ext cx="3605962" cy="571500"/>
          </a:xfrm>
          <a:prstGeom prst="rect">
            <a:avLst/>
          </a:prstGeom>
          <a:noFill/>
          <a:ln/>
        </p:spPr>
        <p:txBody>
          <a:bodyPr wrap="square" lIns="25400" tIns="25400" rIns="25400" bIns="25400" rtlCol="0" anchor="t">
            <a:normAutofit/>
          </a:bodyPr>
          <a:lstStyle/>
          <a:p>
            <a:pPr marL="0" indent="0" algn="l">
              <a:buNone/>
            </a:pPr>
            <a:r>
              <a:rPr lang="en-US" sz="1800" dirty="0">
                <a:solidFill>
                  <a:srgbClr val="5C5C58"/>
                </a:solidFill>
                <a:latin typeface="Helvetica" pitchFamily="34" charset="0"/>
                <a:ea typeface="Helvetica" pitchFamily="34" charset="-122"/>
                <a:cs typeface="Helvetica" pitchFamily="34" charset="-120"/>
              </a:rPr>
              <a:t>Routed to Finance, CTO or reviewer</a:t>
            </a:r>
            <a:endParaRPr lang="en-US" sz="1800" dirty="0"/>
          </a:p>
        </p:txBody>
      </p:sp>
      <p:sp>
        <p:nvSpPr>
          <p:cNvPr id="35" name="Shape 33"/>
          <p:cNvSpPr/>
          <p:nvPr/>
        </p:nvSpPr>
        <p:spPr>
          <a:xfrm>
            <a:off x="5482134" y="6809383"/>
            <a:ext cx="4148634" cy="9525"/>
          </a:xfrm>
          <a:prstGeom prst="rect">
            <a:avLst/>
          </a:prstGeom>
          <a:solidFill>
            <a:srgbClr val="D9D9D4"/>
          </a:solidFill>
          <a:ln/>
        </p:spPr>
      </p:sp>
      <p:sp>
        <p:nvSpPr>
          <p:cNvPr id="36" name="Text 34"/>
          <p:cNvSpPr/>
          <p:nvPr/>
        </p:nvSpPr>
        <p:spPr>
          <a:xfrm>
            <a:off x="5482134" y="6930033"/>
            <a:ext cx="609600" cy="590550"/>
          </a:xfrm>
          <a:prstGeom prst="rect">
            <a:avLst/>
          </a:prstGeom>
          <a:noFill/>
          <a:ln/>
        </p:spPr>
        <p:txBody>
          <a:bodyPr wrap="square" lIns="25400" tIns="25400" rIns="25400" bIns="25400" rtlCol="0" anchor="t">
            <a:normAutofit/>
          </a:bodyPr>
          <a:lstStyle/>
          <a:p>
            <a:pPr marL="0" indent="0" algn="l">
              <a:buNone/>
            </a:pPr>
            <a:r>
              <a:rPr lang="en-US" sz="1800" dirty="0">
                <a:solidFill>
                  <a:srgbClr val="5C5C58"/>
                </a:solidFill>
                <a:latin typeface="Helvetica" pitchFamily="34" charset="0"/>
                <a:ea typeface="Helvetica" pitchFamily="34" charset="-122"/>
                <a:cs typeface="Helvetica" pitchFamily="34" charset="-120"/>
              </a:rPr>
              <a:t>08</a:t>
            </a:r>
            <a:endParaRPr lang="en-US" sz="1800" dirty="0"/>
          </a:p>
        </p:txBody>
      </p:sp>
      <p:sp>
        <p:nvSpPr>
          <p:cNvPr id="37" name="Text 35"/>
          <p:cNvSpPr/>
          <p:nvPr/>
        </p:nvSpPr>
        <p:spPr>
          <a:xfrm>
            <a:off x="6129834" y="6930033"/>
            <a:ext cx="3851027" cy="304800"/>
          </a:xfrm>
          <a:prstGeom prst="rect">
            <a:avLst/>
          </a:prstGeom>
          <a:noFill/>
          <a:ln/>
        </p:spPr>
        <p:txBody>
          <a:bodyPr wrap="square" lIns="25400" tIns="25400" rIns="25400" bIns="25400" rtlCol="0" anchor="t">
            <a:normAutofit/>
          </a:bodyPr>
          <a:lstStyle/>
          <a:p>
            <a:pPr marL="0" indent="0" algn="l">
              <a:buNone/>
            </a:pPr>
            <a:r>
              <a:rPr lang="en-US" sz="1800" b="1" dirty="0">
                <a:solidFill>
                  <a:srgbClr val="141414"/>
                </a:solidFill>
                <a:latin typeface="Helvetica" pitchFamily="34" charset="0"/>
                <a:ea typeface="Helvetica" pitchFamily="34" charset="-122"/>
                <a:cs typeface="Helvetica" pitchFamily="34" charset="-120"/>
              </a:rPr>
              <a:t>Negotiation drafts</a:t>
            </a:r>
            <a:endParaRPr lang="en-US" sz="1800" dirty="0"/>
          </a:p>
        </p:txBody>
      </p:sp>
      <p:sp>
        <p:nvSpPr>
          <p:cNvPr id="38" name="Text 36"/>
          <p:cNvSpPr/>
          <p:nvPr/>
        </p:nvSpPr>
        <p:spPr>
          <a:xfrm>
            <a:off x="6129834" y="7215783"/>
            <a:ext cx="3851027" cy="304800"/>
          </a:xfrm>
          <a:prstGeom prst="rect">
            <a:avLst/>
          </a:prstGeom>
          <a:noFill/>
          <a:ln/>
        </p:spPr>
        <p:txBody>
          <a:bodyPr wrap="square" lIns="25400" tIns="25400" rIns="25400" bIns="25400" rtlCol="0" anchor="t">
            <a:normAutofit/>
          </a:bodyPr>
          <a:lstStyle/>
          <a:p>
            <a:pPr marL="0" indent="0" algn="l">
              <a:buNone/>
            </a:pPr>
            <a:r>
              <a:rPr lang="en-US" sz="1800" dirty="0">
                <a:solidFill>
                  <a:srgbClr val="5C5C58"/>
                </a:solidFill>
                <a:latin typeface="Helvetica" pitchFamily="34" charset="0"/>
                <a:ea typeface="Helvetica" pitchFamily="34" charset="-122"/>
                <a:cs typeface="Helvetica" pitchFamily="34" charset="-120"/>
              </a:rPr>
              <a:t>Grounded in precedent, for review</a:t>
            </a:r>
            <a:endParaRPr lang="en-US" sz="1800" dirty="0"/>
          </a:p>
        </p:txBody>
      </p:sp>
      <p:sp>
        <p:nvSpPr>
          <p:cNvPr id="39" name="Text 37"/>
          <p:cNvSpPr/>
          <p:nvPr/>
        </p:nvSpPr>
        <p:spPr>
          <a:xfrm>
            <a:off x="10392768" y="3532783"/>
            <a:ext cx="7151015" cy="304800"/>
          </a:xfrm>
          <a:prstGeom prst="rect">
            <a:avLst/>
          </a:prstGeom>
          <a:noFill/>
          <a:ln/>
        </p:spPr>
        <p:txBody>
          <a:bodyPr wrap="square" lIns="25400" tIns="25400" rIns="25400" bIns="25400" rtlCol="0" anchor="t">
            <a:normAutofit/>
          </a:bodyPr>
          <a:lstStyle/>
          <a:p>
            <a:pPr marL="0" indent="0" algn="l">
              <a:buNone/>
            </a:pPr>
            <a:r>
              <a:rPr lang="en-US" sz="1800" kern="0" spc="108" dirty="0">
                <a:solidFill>
                  <a:srgbClr val="5C5C58"/>
                </a:solidFill>
                <a:latin typeface="Helvetica" pitchFamily="34" charset="0"/>
                <a:ea typeface="Helvetica" pitchFamily="34" charset="-122"/>
                <a:cs typeface="Helvetica" pitchFamily="34" charset="-120"/>
              </a:rPr>
              <a:t>BEHAVIOUR STATES</a:t>
            </a:r>
            <a:endParaRPr lang="en-US" sz="1800" dirty="0"/>
          </a:p>
        </p:txBody>
      </p:sp>
      <p:sp>
        <p:nvSpPr>
          <p:cNvPr id="40" name="Shape 38"/>
          <p:cNvSpPr/>
          <p:nvPr/>
        </p:nvSpPr>
        <p:spPr>
          <a:xfrm>
            <a:off x="10392768" y="3913783"/>
            <a:ext cx="6942733" cy="9525"/>
          </a:xfrm>
          <a:prstGeom prst="rect">
            <a:avLst/>
          </a:prstGeom>
          <a:solidFill>
            <a:srgbClr val="141414"/>
          </a:solidFill>
          <a:ln/>
        </p:spPr>
      </p:sp>
      <p:sp>
        <p:nvSpPr>
          <p:cNvPr id="41" name="Shape 39"/>
          <p:cNvSpPr/>
          <p:nvPr/>
        </p:nvSpPr>
        <p:spPr>
          <a:xfrm>
            <a:off x="10392768" y="4110633"/>
            <a:ext cx="266700" cy="266700"/>
          </a:xfrm>
          <a:prstGeom prst="rect">
            <a:avLst/>
          </a:prstGeom>
          <a:solidFill>
            <a:srgbClr val="3B9555"/>
          </a:solidFill>
          <a:ln/>
        </p:spPr>
      </p:sp>
      <p:sp>
        <p:nvSpPr>
          <p:cNvPr id="42" name="Text 40"/>
          <p:cNvSpPr/>
          <p:nvPr/>
        </p:nvSpPr>
        <p:spPr>
          <a:xfrm>
            <a:off x="10964268" y="4072533"/>
            <a:ext cx="7008357" cy="304800"/>
          </a:xfrm>
          <a:prstGeom prst="rect">
            <a:avLst/>
          </a:prstGeom>
          <a:noFill/>
          <a:ln/>
        </p:spPr>
        <p:txBody>
          <a:bodyPr wrap="square" lIns="25400" tIns="25400" rIns="25400" bIns="25400" rtlCol="0" anchor="t">
            <a:normAutofit/>
          </a:bodyPr>
          <a:lstStyle/>
          <a:p>
            <a:pPr marL="0" indent="0" algn="l">
              <a:buNone/>
            </a:pPr>
            <a:r>
              <a:rPr lang="en-US" sz="1800" b="1" dirty="0">
                <a:solidFill>
                  <a:srgbClr val="141414"/>
                </a:solidFill>
                <a:latin typeface="Helvetica" pitchFamily="34" charset="0"/>
                <a:ea typeface="Helvetica" pitchFamily="34" charset="-122"/>
                <a:cs typeface="Helvetica" pitchFamily="34" charset="-120"/>
              </a:rPr>
              <a:t>Green · low risk</a:t>
            </a:r>
            <a:endParaRPr lang="en-US" sz="1800" dirty="0"/>
          </a:p>
        </p:txBody>
      </p:sp>
      <p:sp>
        <p:nvSpPr>
          <p:cNvPr id="43" name="Text 41"/>
          <p:cNvSpPr/>
          <p:nvPr/>
        </p:nvSpPr>
        <p:spPr>
          <a:xfrm>
            <a:off x="10964268" y="4377333"/>
            <a:ext cx="7008357" cy="304800"/>
          </a:xfrm>
          <a:prstGeom prst="rect">
            <a:avLst/>
          </a:prstGeom>
          <a:noFill/>
          <a:ln/>
        </p:spPr>
        <p:txBody>
          <a:bodyPr wrap="square" lIns="25400" tIns="25400" rIns="25400" bIns="25400" rtlCol="0" anchor="t">
            <a:normAutofit/>
          </a:bodyPr>
          <a:lstStyle/>
          <a:p>
            <a:pPr marL="0" indent="0" algn="l">
              <a:buNone/>
            </a:pPr>
            <a:r>
              <a:rPr lang="en-US" sz="1800" dirty="0">
                <a:solidFill>
                  <a:srgbClr val="141414"/>
                </a:solidFill>
                <a:latin typeface="Helvetica" pitchFamily="34" charset="0"/>
                <a:ea typeface="Helvetica" pitchFamily="34" charset="-122"/>
                <a:cs typeface="Helvetica" pitchFamily="34" charset="-120"/>
              </a:rPr>
              <a:t>Recommend normal approval. Never auto-sign.</a:t>
            </a:r>
            <a:endParaRPr lang="en-US" sz="1800" dirty="0"/>
          </a:p>
        </p:txBody>
      </p:sp>
      <p:sp>
        <p:nvSpPr>
          <p:cNvPr id="44" name="Shape 42"/>
          <p:cNvSpPr/>
          <p:nvPr/>
        </p:nvSpPr>
        <p:spPr>
          <a:xfrm>
            <a:off x="10392768" y="4796433"/>
            <a:ext cx="6942733" cy="9525"/>
          </a:xfrm>
          <a:prstGeom prst="rect">
            <a:avLst/>
          </a:prstGeom>
          <a:solidFill>
            <a:srgbClr val="D9D9D4"/>
          </a:solidFill>
          <a:ln/>
        </p:spPr>
      </p:sp>
      <p:sp>
        <p:nvSpPr>
          <p:cNvPr id="45" name="Shape 43"/>
          <p:cNvSpPr/>
          <p:nvPr/>
        </p:nvSpPr>
        <p:spPr>
          <a:xfrm>
            <a:off x="10392768" y="4993283"/>
            <a:ext cx="266700" cy="266700"/>
          </a:xfrm>
          <a:prstGeom prst="rect">
            <a:avLst/>
          </a:prstGeom>
          <a:solidFill>
            <a:srgbClr val="E8A127"/>
          </a:solidFill>
          <a:ln/>
        </p:spPr>
      </p:sp>
      <p:sp>
        <p:nvSpPr>
          <p:cNvPr id="46" name="Text 44"/>
          <p:cNvSpPr/>
          <p:nvPr/>
        </p:nvSpPr>
        <p:spPr>
          <a:xfrm>
            <a:off x="10964268" y="4955183"/>
            <a:ext cx="7008357" cy="304800"/>
          </a:xfrm>
          <a:prstGeom prst="rect">
            <a:avLst/>
          </a:prstGeom>
          <a:noFill/>
          <a:ln/>
        </p:spPr>
        <p:txBody>
          <a:bodyPr wrap="square" lIns="25400" tIns="25400" rIns="25400" bIns="25400" rtlCol="0" anchor="t">
            <a:normAutofit/>
          </a:bodyPr>
          <a:lstStyle/>
          <a:p>
            <a:pPr marL="0" indent="0" algn="l">
              <a:buNone/>
            </a:pPr>
            <a:r>
              <a:rPr lang="en-US" sz="1800" b="1" dirty="0">
                <a:solidFill>
                  <a:srgbClr val="141414"/>
                </a:solidFill>
                <a:latin typeface="Helvetica" pitchFamily="34" charset="0"/>
                <a:ea typeface="Helvetica" pitchFamily="34" charset="-122"/>
                <a:cs typeface="Helvetica" pitchFamily="34" charset="-120"/>
              </a:rPr>
              <a:t>Amber · negotiable</a:t>
            </a:r>
            <a:endParaRPr lang="en-US" sz="1800" dirty="0"/>
          </a:p>
        </p:txBody>
      </p:sp>
      <p:sp>
        <p:nvSpPr>
          <p:cNvPr id="47" name="Text 45"/>
          <p:cNvSpPr/>
          <p:nvPr/>
        </p:nvSpPr>
        <p:spPr>
          <a:xfrm>
            <a:off x="10964268" y="5259983"/>
            <a:ext cx="7008357" cy="304800"/>
          </a:xfrm>
          <a:prstGeom prst="rect">
            <a:avLst/>
          </a:prstGeom>
          <a:noFill/>
          <a:ln/>
        </p:spPr>
        <p:txBody>
          <a:bodyPr wrap="square" lIns="25400" tIns="25400" rIns="25400" bIns="25400" rtlCol="0" anchor="t">
            <a:normAutofit/>
          </a:bodyPr>
          <a:lstStyle/>
          <a:p>
            <a:pPr marL="0" indent="0" algn="l">
              <a:buNone/>
            </a:pPr>
            <a:r>
              <a:rPr lang="en-US" sz="1800" dirty="0">
                <a:solidFill>
                  <a:srgbClr val="141414"/>
                </a:solidFill>
                <a:latin typeface="Helvetica" pitchFamily="34" charset="0"/>
                <a:ea typeface="Helvetica" pitchFamily="34" charset="-122"/>
                <a:cs typeface="Helvetica" pitchFamily="34" charset="-120"/>
              </a:rPr>
              <a:t>Show precedent, suggest a fallback and owner.</a:t>
            </a:r>
            <a:endParaRPr lang="en-US" sz="1800" dirty="0"/>
          </a:p>
        </p:txBody>
      </p:sp>
      <p:sp>
        <p:nvSpPr>
          <p:cNvPr id="48" name="Shape 46"/>
          <p:cNvSpPr/>
          <p:nvPr/>
        </p:nvSpPr>
        <p:spPr>
          <a:xfrm>
            <a:off x="10392768" y="5679083"/>
            <a:ext cx="6942733" cy="9525"/>
          </a:xfrm>
          <a:prstGeom prst="rect">
            <a:avLst/>
          </a:prstGeom>
          <a:solidFill>
            <a:srgbClr val="D9D9D4"/>
          </a:solidFill>
          <a:ln/>
        </p:spPr>
      </p:sp>
      <p:sp>
        <p:nvSpPr>
          <p:cNvPr id="49" name="Shape 47"/>
          <p:cNvSpPr/>
          <p:nvPr/>
        </p:nvSpPr>
        <p:spPr>
          <a:xfrm>
            <a:off x="10392768" y="5875933"/>
            <a:ext cx="266700" cy="266700"/>
          </a:xfrm>
          <a:prstGeom prst="rect">
            <a:avLst/>
          </a:prstGeom>
          <a:solidFill>
            <a:srgbClr val="D33B36"/>
          </a:solidFill>
          <a:ln/>
        </p:spPr>
      </p:sp>
      <p:sp>
        <p:nvSpPr>
          <p:cNvPr id="50" name="Text 48"/>
          <p:cNvSpPr/>
          <p:nvPr/>
        </p:nvSpPr>
        <p:spPr>
          <a:xfrm>
            <a:off x="10964268" y="5837833"/>
            <a:ext cx="7008357" cy="304800"/>
          </a:xfrm>
          <a:prstGeom prst="rect">
            <a:avLst/>
          </a:prstGeom>
          <a:noFill/>
          <a:ln/>
        </p:spPr>
        <p:txBody>
          <a:bodyPr wrap="square" lIns="25400" tIns="25400" rIns="25400" bIns="25400" rtlCol="0" anchor="t">
            <a:normAutofit/>
          </a:bodyPr>
          <a:lstStyle/>
          <a:p>
            <a:pPr marL="0" indent="0" algn="l">
              <a:buNone/>
            </a:pPr>
            <a:r>
              <a:rPr lang="en-US" sz="1800" b="1" dirty="0">
                <a:solidFill>
                  <a:srgbClr val="141414"/>
                </a:solidFill>
                <a:latin typeface="Helvetica" pitchFamily="34" charset="0"/>
                <a:ea typeface="Helvetica" pitchFamily="34" charset="-122"/>
                <a:cs typeface="Helvetica" pitchFamily="34" charset="-120"/>
              </a:rPr>
              <a:t>Red · high risk</a:t>
            </a:r>
            <a:endParaRPr lang="en-US" sz="1800" dirty="0"/>
          </a:p>
        </p:txBody>
      </p:sp>
      <p:sp>
        <p:nvSpPr>
          <p:cNvPr id="51" name="Text 49"/>
          <p:cNvSpPr/>
          <p:nvPr/>
        </p:nvSpPr>
        <p:spPr>
          <a:xfrm>
            <a:off x="10964268" y="6142633"/>
            <a:ext cx="7008357" cy="304800"/>
          </a:xfrm>
          <a:prstGeom prst="rect">
            <a:avLst/>
          </a:prstGeom>
          <a:noFill/>
          <a:ln/>
        </p:spPr>
        <p:txBody>
          <a:bodyPr wrap="square" lIns="25400" tIns="25400" rIns="25400" bIns="25400" rtlCol="0" anchor="t">
            <a:normAutofit/>
          </a:bodyPr>
          <a:lstStyle/>
          <a:p>
            <a:pPr marL="0" indent="0" algn="l">
              <a:buNone/>
            </a:pPr>
            <a:r>
              <a:rPr lang="en-US" sz="1800" dirty="0">
                <a:solidFill>
                  <a:srgbClr val="141414"/>
                </a:solidFill>
                <a:latin typeface="Helvetica" pitchFamily="34" charset="0"/>
                <a:ea typeface="Helvetica" pitchFamily="34" charset="-122"/>
                <a:cs typeface="Helvetica" pitchFamily="34" charset="-120"/>
              </a:rPr>
              <a:t>Block "ready to sign"; senior or counsel route.</a:t>
            </a:r>
            <a:endParaRPr lang="en-US" sz="1800" dirty="0"/>
          </a:p>
        </p:txBody>
      </p:sp>
      <p:sp>
        <p:nvSpPr>
          <p:cNvPr id="52" name="Shape 50"/>
          <p:cNvSpPr/>
          <p:nvPr/>
        </p:nvSpPr>
        <p:spPr>
          <a:xfrm>
            <a:off x="10392768" y="6561733"/>
            <a:ext cx="6942733" cy="9525"/>
          </a:xfrm>
          <a:prstGeom prst="rect">
            <a:avLst/>
          </a:prstGeom>
          <a:solidFill>
            <a:srgbClr val="D9D9D4"/>
          </a:solidFill>
          <a:ln/>
        </p:spPr>
      </p:sp>
      <p:sp>
        <p:nvSpPr>
          <p:cNvPr id="53" name="Shape 51"/>
          <p:cNvSpPr/>
          <p:nvPr/>
        </p:nvSpPr>
        <p:spPr>
          <a:xfrm>
            <a:off x="10392768" y="6758583"/>
            <a:ext cx="266700" cy="266700"/>
          </a:xfrm>
          <a:prstGeom prst="rect">
            <a:avLst/>
          </a:prstGeom>
          <a:ln w="19050">
            <a:solidFill>
              <a:srgbClr val="141414"/>
            </a:solidFill>
            <a:prstDash val="solid"/>
          </a:ln>
        </p:spPr>
      </p:sp>
      <p:sp>
        <p:nvSpPr>
          <p:cNvPr id="54" name="Text 52"/>
          <p:cNvSpPr/>
          <p:nvPr/>
        </p:nvSpPr>
        <p:spPr>
          <a:xfrm>
            <a:off x="10964268" y="6720483"/>
            <a:ext cx="7008357" cy="304800"/>
          </a:xfrm>
          <a:prstGeom prst="rect">
            <a:avLst/>
          </a:prstGeom>
          <a:noFill/>
          <a:ln/>
        </p:spPr>
        <p:txBody>
          <a:bodyPr wrap="square" lIns="25400" tIns="25400" rIns="25400" bIns="25400" rtlCol="0" anchor="t">
            <a:normAutofit/>
          </a:bodyPr>
          <a:lstStyle/>
          <a:p>
            <a:pPr marL="0" indent="0" algn="l">
              <a:buNone/>
            </a:pPr>
            <a:r>
              <a:rPr lang="en-US" sz="1800" b="1" dirty="0">
                <a:solidFill>
                  <a:srgbClr val="141414"/>
                </a:solidFill>
                <a:latin typeface="Helvetica" pitchFamily="34" charset="0"/>
                <a:ea typeface="Helvetica" pitchFamily="34" charset="-122"/>
                <a:cs typeface="Helvetica" pitchFamily="34" charset="-120"/>
              </a:rPr>
              <a:t>Insufficient evidence</a:t>
            </a:r>
            <a:endParaRPr lang="en-US" sz="1800" dirty="0"/>
          </a:p>
        </p:txBody>
      </p:sp>
      <p:sp>
        <p:nvSpPr>
          <p:cNvPr id="55" name="Text 53"/>
          <p:cNvSpPr/>
          <p:nvPr/>
        </p:nvSpPr>
        <p:spPr>
          <a:xfrm>
            <a:off x="10964268" y="7025283"/>
            <a:ext cx="7008357" cy="304800"/>
          </a:xfrm>
          <a:prstGeom prst="rect">
            <a:avLst/>
          </a:prstGeom>
          <a:noFill/>
          <a:ln/>
        </p:spPr>
        <p:txBody>
          <a:bodyPr wrap="square" lIns="25400" tIns="25400" rIns="25400" bIns="25400" rtlCol="0" anchor="t">
            <a:normAutofit/>
          </a:bodyPr>
          <a:lstStyle/>
          <a:p>
            <a:pPr marL="0" indent="0" algn="l">
              <a:buNone/>
            </a:pPr>
            <a:r>
              <a:rPr lang="en-US" sz="1800" dirty="0">
                <a:solidFill>
                  <a:srgbClr val="141414"/>
                </a:solidFill>
                <a:latin typeface="Helvetica" pitchFamily="34" charset="0"/>
                <a:ea typeface="Helvetica" pitchFamily="34" charset="-122"/>
                <a:cs typeface="Helvetica" pitchFamily="34" charset="-120"/>
              </a:rPr>
              <a:t>Abstain and ask for what is missing.</a:t>
            </a:r>
            <a:endParaRPr lang="en-US" sz="1800" dirty="0"/>
          </a:p>
        </p:txBody>
      </p:sp>
      <p:sp>
        <p:nvSpPr>
          <p:cNvPr id="56" name="Shape 54"/>
          <p:cNvSpPr/>
          <p:nvPr/>
        </p:nvSpPr>
        <p:spPr>
          <a:xfrm>
            <a:off x="10392768" y="7444383"/>
            <a:ext cx="6942733" cy="9525"/>
          </a:xfrm>
          <a:prstGeom prst="rect">
            <a:avLst/>
          </a:prstGeom>
          <a:solidFill>
            <a:srgbClr val="D9D9D4"/>
          </a:solidFill>
          <a:ln/>
        </p:spPr>
      </p:sp>
      <p:sp>
        <p:nvSpPr>
          <p:cNvPr id="57" name="Shape 55"/>
          <p:cNvSpPr/>
          <p:nvPr/>
        </p:nvSpPr>
        <p:spPr>
          <a:xfrm>
            <a:off x="10392768" y="7641233"/>
            <a:ext cx="266700" cy="266700"/>
          </a:xfrm>
          <a:prstGeom prst="rect">
            <a:avLst/>
          </a:prstGeom>
          <a:ln w="19050">
            <a:solidFill>
              <a:srgbClr val="141414"/>
            </a:solidFill>
            <a:prstDash val="dash"/>
          </a:ln>
        </p:spPr>
      </p:sp>
      <p:sp>
        <p:nvSpPr>
          <p:cNvPr id="58" name="Text 56"/>
          <p:cNvSpPr/>
          <p:nvPr/>
        </p:nvSpPr>
        <p:spPr>
          <a:xfrm>
            <a:off x="10964268" y="7603133"/>
            <a:ext cx="7008357" cy="304800"/>
          </a:xfrm>
          <a:prstGeom prst="rect">
            <a:avLst/>
          </a:prstGeom>
          <a:noFill/>
          <a:ln/>
        </p:spPr>
        <p:txBody>
          <a:bodyPr wrap="square" lIns="25400" tIns="25400" rIns="25400" bIns="25400" rtlCol="0" anchor="t">
            <a:normAutofit/>
          </a:bodyPr>
          <a:lstStyle/>
          <a:p>
            <a:pPr marL="0" indent="0" algn="l">
              <a:buNone/>
            </a:pPr>
            <a:r>
              <a:rPr lang="en-US" sz="1800" b="1" dirty="0">
                <a:solidFill>
                  <a:srgbClr val="141414"/>
                </a:solidFill>
                <a:latin typeface="Helvetica" pitchFamily="34" charset="0"/>
                <a:ea typeface="Helvetica" pitchFamily="34" charset="-122"/>
                <a:cs typeface="Helvetica" pitchFamily="34" charset="-120"/>
              </a:rPr>
              <a:t>Conflicting evidence</a:t>
            </a:r>
            <a:endParaRPr lang="en-US" sz="1800" dirty="0"/>
          </a:p>
        </p:txBody>
      </p:sp>
      <p:sp>
        <p:nvSpPr>
          <p:cNvPr id="59" name="Text 57"/>
          <p:cNvSpPr/>
          <p:nvPr/>
        </p:nvSpPr>
        <p:spPr>
          <a:xfrm>
            <a:off x="10964268" y="7907933"/>
            <a:ext cx="7008357" cy="304800"/>
          </a:xfrm>
          <a:prstGeom prst="rect">
            <a:avLst/>
          </a:prstGeom>
          <a:noFill/>
          <a:ln/>
        </p:spPr>
        <p:txBody>
          <a:bodyPr wrap="square" lIns="25400" tIns="25400" rIns="25400" bIns="25400" rtlCol="0" anchor="t">
            <a:normAutofit/>
          </a:bodyPr>
          <a:lstStyle/>
          <a:p>
            <a:pPr marL="0" indent="0" algn="l">
              <a:buNone/>
            </a:pPr>
            <a:r>
              <a:rPr lang="en-US" sz="1800" dirty="0">
                <a:solidFill>
                  <a:srgbClr val="141414"/>
                </a:solidFill>
                <a:latin typeface="Helvetica" pitchFamily="34" charset="0"/>
                <a:ea typeface="Helvetica" pitchFamily="34" charset="-122"/>
                <a:cs typeface="Helvetica" pitchFamily="34" charset="-120"/>
              </a:rPr>
              <a:t>Show sources side by side; never average.</a:t>
            </a:r>
            <a:endParaRPr lang="en-US" sz="1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AFAF8"/>
        </a:solidFill>
        <a:effectLst/>
      </p:bgPr>
    </p:bg>
    <p:spTree>
      <p:nvGrpSpPr>
        <p:cNvPr id="1" name=""/>
        <p:cNvGrpSpPr/>
        <p:nvPr/>
      </p:nvGrpSpPr>
      <p:grpSpPr>
        <a:xfrm>
          <a:off x="0" y="0"/>
          <a:ext cx="0" cy="0"/>
          <a:chOff x="0" y="0"/>
          <a:chExt cx="0" cy="0"/>
        </a:xfrm>
      </p:grpSpPr>
      <p:sp>
        <p:nvSpPr>
          <p:cNvPr id="2" name="Shape 0"/>
          <p:cNvSpPr/>
          <p:nvPr/>
        </p:nvSpPr>
        <p:spPr>
          <a:xfrm>
            <a:off x="952500" y="857250"/>
            <a:ext cx="16383000" cy="25400"/>
          </a:xfrm>
          <a:prstGeom prst="rect">
            <a:avLst/>
          </a:prstGeom>
          <a:solidFill>
            <a:srgbClr val="141414"/>
          </a:solidFill>
          <a:ln/>
        </p:spPr>
      </p:sp>
      <p:sp>
        <p:nvSpPr>
          <p:cNvPr id="3" name="Text 1"/>
          <p:cNvSpPr/>
          <p:nvPr/>
        </p:nvSpPr>
        <p:spPr>
          <a:xfrm>
            <a:off x="952500" y="1073150"/>
            <a:ext cx="1801039" cy="304800"/>
          </a:xfrm>
          <a:prstGeom prst="rect">
            <a:avLst/>
          </a:prstGeom>
          <a:noFill/>
          <a:ln/>
        </p:spPr>
        <p:txBody>
          <a:bodyPr wrap="square" lIns="25400" tIns="25400" rIns="25400" bIns="25400" rtlCol="0" anchor="t">
            <a:normAutofit/>
          </a:bodyPr>
          <a:lstStyle/>
          <a:p>
            <a:pPr marL="0" indent="0" algn="l">
              <a:buNone/>
            </a:pPr>
            <a:r>
              <a:rPr lang="en-US" sz="1800" kern="0" spc="108" dirty="0">
                <a:solidFill>
                  <a:srgbClr val="141414"/>
                </a:solidFill>
                <a:latin typeface="Helvetica" pitchFamily="34" charset="0"/>
                <a:ea typeface="Helvetica" pitchFamily="34" charset="-122"/>
                <a:cs typeface="Helvetica" pitchFamily="34" charset="-120"/>
              </a:rPr>
              <a:t>03 SOLUTION</a:t>
            </a:r>
            <a:endParaRPr lang="en-US" sz="1800" dirty="0"/>
          </a:p>
        </p:txBody>
      </p:sp>
      <p:sp>
        <p:nvSpPr>
          <p:cNvPr id="4" name="Text 2"/>
          <p:cNvSpPr/>
          <p:nvPr/>
        </p:nvSpPr>
        <p:spPr>
          <a:xfrm>
            <a:off x="13140630" y="1073150"/>
            <a:ext cx="4614356" cy="304800"/>
          </a:xfrm>
          <a:prstGeom prst="rect">
            <a:avLst/>
          </a:prstGeom>
          <a:noFill/>
          <a:ln/>
        </p:spPr>
        <p:txBody>
          <a:bodyPr wrap="square" lIns="25400" tIns="25400" rIns="25400" bIns="25400" rtlCol="0" anchor="t">
            <a:normAutofit/>
          </a:bodyPr>
          <a:lstStyle/>
          <a:p>
            <a:pPr marL="0" indent="0" algn="l">
              <a:buNone/>
            </a:pPr>
            <a:r>
              <a:rPr lang="en-US" sz="1800" kern="0" spc="108" dirty="0">
                <a:solidFill>
                  <a:srgbClr val="141414"/>
                </a:solidFill>
                <a:latin typeface="Helvetica" pitchFamily="34" charset="0"/>
                <a:ea typeface="Helvetica" pitchFamily="34" charset="-122"/>
                <a:cs typeface="Helvetica" pitchFamily="34" charset="-120"/>
              </a:rPr>
              <a:t>ATLIQ CONTRACT RISK ANALYZER</a:t>
            </a:r>
            <a:endParaRPr lang="en-US" sz="1800" dirty="0"/>
          </a:p>
        </p:txBody>
      </p:sp>
      <p:sp>
        <p:nvSpPr>
          <p:cNvPr id="5" name="Text 3"/>
          <p:cNvSpPr/>
          <p:nvPr/>
        </p:nvSpPr>
        <p:spPr>
          <a:xfrm>
            <a:off x="952500" y="1797050"/>
            <a:ext cx="14716125" cy="1354733"/>
          </a:xfrm>
          <a:prstGeom prst="rect">
            <a:avLst/>
          </a:prstGeom>
          <a:noFill/>
          <a:ln/>
        </p:spPr>
        <p:txBody>
          <a:bodyPr wrap="square" lIns="25400" tIns="25400" rIns="25400" bIns="25400" rtlCol="0" anchor="t">
            <a:normAutofit/>
          </a:bodyPr>
          <a:lstStyle/>
          <a:p>
            <a:pPr marL="0" indent="0" algn="l">
              <a:lnSpc>
                <a:spcPct val="94255"/>
              </a:lnSpc>
              <a:buNone/>
            </a:pPr>
            <a:r>
              <a:rPr lang="en-US" sz="4800" b="1" kern="0" spc="-120" dirty="0">
                <a:solidFill>
                  <a:srgbClr val="141414"/>
                </a:solidFill>
                <a:latin typeface="Helvetica" pitchFamily="34" charset="0"/>
                <a:ea typeface="Helvetica" pitchFamily="34" charset="-122"/>
                <a:cs typeface="Helvetica" pitchFamily="34" charset="-120"/>
              </a:rPr>
              <a:t>The model strategy combines LLMs, retrieval and fixed rules</a:t>
            </a:r>
            <a:endParaRPr lang="en-US" sz="4800" dirty="0"/>
          </a:p>
        </p:txBody>
      </p:sp>
      <p:sp>
        <p:nvSpPr>
          <p:cNvPr id="6" name="Shape 4"/>
          <p:cNvSpPr/>
          <p:nvPr/>
        </p:nvSpPr>
        <p:spPr>
          <a:xfrm>
            <a:off x="952500" y="3647083"/>
            <a:ext cx="5105400" cy="25400"/>
          </a:xfrm>
          <a:prstGeom prst="rect">
            <a:avLst/>
          </a:prstGeom>
          <a:solidFill>
            <a:srgbClr val="141414"/>
          </a:solidFill>
          <a:ln/>
        </p:spPr>
      </p:sp>
      <p:sp>
        <p:nvSpPr>
          <p:cNvPr id="7" name="Text 5"/>
          <p:cNvSpPr/>
          <p:nvPr/>
        </p:nvSpPr>
        <p:spPr>
          <a:xfrm>
            <a:off x="952500" y="3901083"/>
            <a:ext cx="5615940" cy="520700"/>
          </a:xfrm>
          <a:prstGeom prst="rect">
            <a:avLst/>
          </a:prstGeom>
          <a:noFill/>
          <a:ln/>
        </p:spPr>
        <p:txBody>
          <a:bodyPr wrap="square" lIns="25400" tIns="25400" rIns="25400" bIns="25400" rtlCol="0" anchor="t">
            <a:normAutofit/>
          </a:bodyPr>
          <a:lstStyle/>
          <a:p>
            <a:pPr marL="0" indent="0" algn="l">
              <a:buNone/>
            </a:pPr>
            <a:r>
              <a:rPr lang="en-US" sz="3300" b="1" dirty="0">
                <a:solidFill>
                  <a:srgbClr val="141414"/>
                </a:solidFill>
                <a:latin typeface="Helvetica" pitchFamily="34" charset="0"/>
                <a:ea typeface="Helvetica" pitchFamily="34" charset="-122"/>
                <a:cs typeface="Helvetica" pitchFamily="34" charset="-120"/>
              </a:rPr>
              <a:t>LLM</a:t>
            </a:r>
            <a:endParaRPr lang="en-US" sz="3300" dirty="0"/>
          </a:p>
        </p:txBody>
      </p:sp>
      <p:sp>
        <p:nvSpPr>
          <p:cNvPr id="8" name="Text 6"/>
          <p:cNvSpPr/>
          <p:nvPr/>
        </p:nvSpPr>
        <p:spPr>
          <a:xfrm>
            <a:off x="952500" y="4555133"/>
            <a:ext cx="5258562" cy="1531541"/>
          </a:xfrm>
          <a:prstGeom prst="rect">
            <a:avLst/>
          </a:prstGeom>
          <a:noFill/>
          <a:ln/>
        </p:spPr>
        <p:txBody>
          <a:bodyPr wrap="square" lIns="25400" tIns="25400" rIns="25400" bIns="25400" rtlCol="0" anchor="t">
            <a:normAutofit/>
          </a:bodyPr>
          <a:lstStyle/>
          <a:p>
            <a:pPr marL="0" indent="0" algn="l">
              <a:lnSpc>
                <a:spcPct val="122500"/>
              </a:lnSpc>
              <a:buNone/>
            </a:pPr>
            <a:r>
              <a:rPr lang="en-US" sz="2100" dirty="0">
                <a:solidFill>
                  <a:srgbClr val="141414"/>
                </a:solidFill>
                <a:latin typeface="Helvetica" pitchFamily="34" charset="0"/>
                <a:ea typeface="Helvetica" pitchFamily="34" charset="-122"/>
                <a:cs typeface="Helvetica" pitchFamily="34" charset="-120"/>
              </a:rPr>
              <a:t>Structured extraction with exact citation spans. Smaller model for routine fields, stronger model for comparison. Citations verified before display.</a:t>
            </a:r>
            <a:endParaRPr lang="en-US" sz="2100" dirty="0"/>
          </a:p>
        </p:txBody>
      </p:sp>
      <p:sp>
        <p:nvSpPr>
          <p:cNvPr id="9" name="Shape 7"/>
          <p:cNvSpPr/>
          <p:nvPr/>
        </p:nvSpPr>
        <p:spPr>
          <a:xfrm>
            <a:off x="6591300" y="3647083"/>
            <a:ext cx="5105400" cy="25400"/>
          </a:xfrm>
          <a:prstGeom prst="rect">
            <a:avLst/>
          </a:prstGeom>
          <a:solidFill>
            <a:srgbClr val="141414"/>
          </a:solidFill>
          <a:ln/>
        </p:spPr>
      </p:sp>
      <p:sp>
        <p:nvSpPr>
          <p:cNvPr id="10" name="Text 8"/>
          <p:cNvSpPr/>
          <p:nvPr/>
        </p:nvSpPr>
        <p:spPr>
          <a:xfrm>
            <a:off x="6591300" y="3901083"/>
            <a:ext cx="5615940" cy="520700"/>
          </a:xfrm>
          <a:prstGeom prst="rect">
            <a:avLst/>
          </a:prstGeom>
          <a:noFill/>
          <a:ln/>
        </p:spPr>
        <p:txBody>
          <a:bodyPr wrap="square" lIns="25400" tIns="25400" rIns="25400" bIns="25400" rtlCol="0" anchor="t">
            <a:normAutofit/>
          </a:bodyPr>
          <a:lstStyle/>
          <a:p>
            <a:pPr marL="0" indent="0" algn="l">
              <a:buNone/>
            </a:pPr>
            <a:r>
              <a:rPr lang="en-US" sz="3300" b="1" dirty="0">
                <a:solidFill>
                  <a:srgbClr val="141414"/>
                </a:solidFill>
                <a:latin typeface="Helvetica" pitchFamily="34" charset="0"/>
                <a:ea typeface="Helvetica" pitchFamily="34" charset="-122"/>
                <a:cs typeface="Helvetica" pitchFamily="34" charset="-120"/>
              </a:rPr>
              <a:t>Retrieval</a:t>
            </a:r>
            <a:endParaRPr lang="en-US" sz="3300" dirty="0"/>
          </a:p>
        </p:txBody>
      </p:sp>
      <p:sp>
        <p:nvSpPr>
          <p:cNvPr id="11" name="Text 9"/>
          <p:cNvSpPr/>
          <p:nvPr/>
        </p:nvSpPr>
        <p:spPr>
          <a:xfrm>
            <a:off x="6591300" y="4555133"/>
            <a:ext cx="5258562" cy="1531541"/>
          </a:xfrm>
          <a:prstGeom prst="rect">
            <a:avLst/>
          </a:prstGeom>
          <a:noFill/>
          <a:ln/>
        </p:spPr>
        <p:txBody>
          <a:bodyPr wrap="square" lIns="25400" tIns="25400" rIns="25400" bIns="25400" rtlCol="0" anchor="t">
            <a:normAutofit/>
          </a:bodyPr>
          <a:lstStyle/>
          <a:p>
            <a:pPr marL="0" indent="0" algn="l">
              <a:lnSpc>
                <a:spcPct val="122500"/>
              </a:lnSpc>
              <a:buNone/>
            </a:pPr>
            <a:r>
              <a:rPr lang="en-US" sz="2100" dirty="0">
                <a:solidFill>
                  <a:srgbClr val="141414"/>
                </a:solidFill>
                <a:latin typeface="Helvetica" pitchFamily="34" charset="0"/>
                <a:ea typeface="Helvetica" pitchFamily="34" charset="-122"/>
                <a:cs typeface="Helvetica" pitchFamily="34" charset="-120"/>
              </a:rPr>
              <a:t>Hybrid lexical and semantic search, filtered by permission and effective date, so expired restrictions are told apart from live ones.</a:t>
            </a:r>
            <a:endParaRPr lang="en-US" sz="2100" dirty="0"/>
          </a:p>
        </p:txBody>
      </p:sp>
      <p:sp>
        <p:nvSpPr>
          <p:cNvPr id="12" name="Shape 10"/>
          <p:cNvSpPr/>
          <p:nvPr/>
        </p:nvSpPr>
        <p:spPr>
          <a:xfrm>
            <a:off x="12230100" y="3647083"/>
            <a:ext cx="5105400" cy="25400"/>
          </a:xfrm>
          <a:prstGeom prst="rect">
            <a:avLst/>
          </a:prstGeom>
          <a:solidFill>
            <a:srgbClr val="141414"/>
          </a:solidFill>
          <a:ln/>
        </p:spPr>
      </p:sp>
      <p:sp>
        <p:nvSpPr>
          <p:cNvPr id="13" name="Text 11"/>
          <p:cNvSpPr/>
          <p:nvPr/>
        </p:nvSpPr>
        <p:spPr>
          <a:xfrm>
            <a:off x="12230100" y="3901083"/>
            <a:ext cx="5615940" cy="520700"/>
          </a:xfrm>
          <a:prstGeom prst="rect">
            <a:avLst/>
          </a:prstGeom>
          <a:noFill/>
          <a:ln/>
        </p:spPr>
        <p:txBody>
          <a:bodyPr wrap="square" lIns="25400" tIns="25400" rIns="25400" bIns="25400" rtlCol="0" anchor="t">
            <a:normAutofit/>
          </a:bodyPr>
          <a:lstStyle/>
          <a:p>
            <a:pPr marL="0" indent="0" algn="l">
              <a:buNone/>
            </a:pPr>
            <a:r>
              <a:rPr lang="en-US" sz="3300" b="1" dirty="0">
                <a:solidFill>
                  <a:srgbClr val="141414"/>
                </a:solidFill>
                <a:latin typeface="Helvetica" pitchFamily="34" charset="0"/>
                <a:ea typeface="Helvetica" pitchFamily="34" charset="-122"/>
                <a:cs typeface="Helvetica" pitchFamily="34" charset="-120"/>
              </a:rPr>
              <a:t>Rules</a:t>
            </a:r>
            <a:endParaRPr lang="en-US" sz="3300" dirty="0"/>
          </a:p>
        </p:txBody>
      </p:sp>
      <p:sp>
        <p:nvSpPr>
          <p:cNvPr id="14" name="Text 12"/>
          <p:cNvSpPr/>
          <p:nvPr/>
        </p:nvSpPr>
        <p:spPr>
          <a:xfrm>
            <a:off x="12230100" y="4555133"/>
            <a:ext cx="5258562" cy="1158180"/>
          </a:xfrm>
          <a:prstGeom prst="rect">
            <a:avLst/>
          </a:prstGeom>
          <a:noFill/>
          <a:ln/>
        </p:spPr>
        <p:txBody>
          <a:bodyPr wrap="square" lIns="25400" tIns="25400" rIns="25400" bIns="25400" rtlCol="0" anchor="t">
            <a:normAutofit/>
          </a:bodyPr>
          <a:lstStyle/>
          <a:p>
            <a:pPr marL="0" indent="0" algn="l">
              <a:lnSpc>
                <a:spcPct val="122500"/>
              </a:lnSpc>
              <a:buNone/>
            </a:pPr>
            <a:r>
              <a:rPr lang="en-US" sz="2100" dirty="0">
                <a:solidFill>
                  <a:srgbClr val="141414"/>
                </a:solidFill>
                <a:latin typeface="Helvetica" pitchFamily="34" charset="0"/>
                <a:ea typeface="Helvetica" pitchFamily="34" charset="-122"/>
                <a:cs typeface="Helvetica" pitchFamily="34" charset="-120"/>
              </a:rPr>
              <a:t>Versioned checks for entity, jurisdiction and document completeness only. Nothing on commercial terms.</a:t>
            </a:r>
            <a:endParaRPr lang="en-US" sz="2100" dirty="0"/>
          </a:p>
        </p:txBody>
      </p:sp>
      <p:sp>
        <p:nvSpPr>
          <p:cNvPr id="15" name="Shape 13"/>
          <p:cNvSpPr/>
          <p:nvPr/>
        </p:nvSpPr>
        <p:spPr>
          <a:xfrm>
            <a:off x="952500" y="8092480"/>
            <a:ext cx="16383000" cy="1432520"/>
          </a:xfrm>
          <a:prstGeom prst="rect">
            <a:avLst/>
          </a:prstGeom>
          <a:solidFill>
            <a:srgbClr val="141414"/>
          </a:solidFill>
          <a:ln/>
        </p:spPr>
      </p:sp>
      <p:sp>
        <p:nvSpPr>
          <p:cNvPr id="16" name="Text 14"/>
          <p:cNvSpPr/>
          <p:nvPr/>
        </p:nvSpPr>
        <p:spPr>
          <a:xfrm>
            <a:off x="1371600" y="8467130"/>
            <a:ext cx="4400550" cy="342900"/>
          </a:xfrm>
          <a:prstGeom prst="rect">
            <a:avLst/>
          </a:prstGeom>
          <a:noFill/>
          <a:ln/>
        </p:spPr>
        <p:txBody>
          <a:bodyPr wrap="square" lIns="25400" tIns="25400" rIns="25400" bIns="25400" rtlCol="0" anchor="t">
            <a:normAutofit/>
          </a:bodyPr>
          <a:lstStyle/>
          <a:p>
            <a:pPr marL="0" indent="0" algn="l">
              <a:buNone/>
            </a:pPr>
            <a:r>
              <a:rPr lang="en-US" sz="2100" b="1" dirty="0">
                <a:solidFill>
                  <a:srgbClr val="FAFAF8"/>
                </a:solidFill>
                <a:latin typeface="Helvetica" pitchFamily="34" charset="0"/>
                <a:ea typeface="Helvetica" pitchFamily="34" charset="-122"/>
                <a:cs typeface="Helvetica" pitchFamily="34" charset="-120"/>
              </a:rPr>
              <a:t>No commercial thresholds</a:t>
            </a:r>
            <a:endParaRPr lang="en-US" sz="2100" dirty="0"/>
          </a:p>
        </p:txBody>
      </p:sp>
      <p:sp>
        <p:nvSpPr>
          <p:cNvPr id="17" name="Text 15"/>
          <p:cNvSpPr/>
          <p:nvPr/>
        </p:nvSpPr>
        <p:spPr>
          <a:xfrm>
            <a:off x="5753100" y="8435380"/>
            <a:ext cx="11498199" cy="784820"/>
          </a:xfrm>
          <a:prstGeom prst="rect">
            <a:avLst/>
          </a:prstGeom>
          <a:noFill/>
          <a:ln/>
        </p:spPr>
        <p:txBody>
          <a:bodyPr wrap="square" lIns="25400" tIns="25400" rIns="25400" bIns="25400" rtlCol="0" anchor="t">
            <a:normAutofit/>
          </a:bodyPr>
          <a:lstStyle/>
          <a:p>
            <a:pPr marL="0" indent="0" algn="l">
              <a:lnSpc>
                <a:spcPct val="122500"/>
              </a:lnSpc>
              <a:buNone/>
            </a:pPr>
            <a:r>
              <a:rPr lang="en-US" sz="2100" dirty="0">
                <a:solidFill>
                  <a:srgbClr val="FAFAF8"/>
                </a:solidFill>
                <a:latin typeface="Helvetica" pitchFamily="34" charset="0"/>
                <a:ea typeface="Helvetica" pitchFamily="34" charset="-122"/>
                <a:cs typeface="Helvetica" pitchFamily="34" charset="-120"/>
              </a:rPr>
              <a:t>AtliQ has no fixed policy on liability caps, payment days or LD caps. The system shows precedent and deal context, and people decide.</a:t>
            </a:r>
            <a:endParaRPr lang="en-US" sz="2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AFAF8"/>
        </a:solidFill>
        <a:effectLst/>
      </p:bgPr>
    </p:bg>
    <p:spTree>
      <p:nvGrpSpPr>
        <p:cNvPr id="1" name=""/>
        <p:cNvGrpSpPr/>
        <p:nvPr/>
      </p:nvGrpSpPr>
      <p:grpSpPr>
        <a:xfrm>
          <a:off x="0" y="0"/>
          <a:ext cx="0" cy="0"/>
          <a:chOff x="0" y="0"/>
          <a:chExt cx="0" cy="0"/>
        </a:xfrm>
      </p:grpSpPr>
      <p:sp>
        <p:nvSpPr>
          <p:cNvPr id="2" name="Shape 0"/>
          <p:cNvSpPr/>
          <p:nvPr/>
        </p:nvSpPr>
        <p:spPr>
          <a:xfrm>
            <a:off x="952500" y="857250"/>
            <a:ext cx="16383000" cy="25400"/>
          </a:xfrm>
          <a:prstGeom prst="rect">
            <a:avLst/>
          </a:prstGeom>
          <a:solidFill>
            <a:srgbClr val="141414"/>
          </a:solidFill>
          <a:ln/>
        </p:spPr>
      </p:sp>
      <p:sp>
        <p:nvSpPr>
          <p:cNvPr id="3" name="Text 1"/>
          <p:cNvSpPr/>
          <p:nvPr/>
        </p:nvSpPr>
        <p:spPr>
          <a:xfrm>
            <a:off x="952500" y="1073150"/>
            <a:ext cx="3038257" cy="304800"/>
          </a:xfrm>
          <a:prstGeom prst="rect">
            <a:avLst/>
          </a:prstGeom>
          <a:noFill/>
          <a:ln/>
        </p:spPr>
        <p:txBody>
          <a:bodyPr wrap="square" lIns="25400" tIns="25400" rIns="25400" bIns="25400" rtlCol="0" anchor="t">
            <a:normAutofit/>
          </a:bodyPr>
          <a:lstStyle/>
          <a:p>
            <a:pPr marL="0" indent="0" algn="l">
              <a:buNone/>
            </a:pPr>
            <a:r>
              <a:rPr lang="en-US" sz="1800" kern="0" spc="108" dirty="0">
                <a:solidFill>
                  <a:srgbClr val="141414"/>
                </a:solidFill>
                <a:latin typeface="Helvetica" pitchFamily="34" charset="0"/>
                <a:ea typeface="Helvetica" pitchFamily="34" charset="-122"/>
                <a:cs typeface="Helvetica" pitchFamily="34" charset="-120"/>
              </a:rPr>
              <a:t>04 SUCCESS METRICS</a:t>
            </a:r>
            <a:endParaRPr lang="en-US" sz="1800" dirty="0"/>
          </a:p>
        </p:txBody>
      </p:sp>
      <p:sp>
        <p:nvSpPr>
          <p:cNvPr id="4" name="Text 2"/>
          <p:cNvSpPr/>
          <p:nvPr/>
        </p:nvSpPr>
        <p:spPr>
          <a:xfrm>
            <a:off x="13140630" y="1073150"/>
            <a:ext cx="4614356" cy="304800"/>
          </a:xfrm>
          <a:prstGeom prst="rect">
            <a:avLst/>
          </a:prstGeom>
          <a:noFill/>
          <a:ln/>
        </p:spPr>
        <p:txBody>
          <a:bodyPr wrap="square" lIns="25400" tIns="25400" rIns="25400" bIns="25400" rtlCol="0" anchor="t">
            <a:normAutofit/>
          </a:bodyPr>
          <a:lstStyle/>
          <a:p>
            <a:pPr marL="0" indent="0" algn="l">
              <a:buNone/>
            </a:pPr>
            <a:r>
              <a:rPr lang="en-US" sz="1800" kern="0" spc="108" dirty="0">
                <a:solidFill>
                  <a:srgbClr val="141414"/>
                </a:solidFill>
                <a:latin typeface="Helvetica" pitchFamily="34" charset="0"/>
                <a:ea typeface="Helvetica" pitchFamily="34" charset="-122"/>
                <a:cs typeface="Helvetica" pitchFamily="34" charset="-120"/>
              </a:rPr>
              <a:t>ATLIQ CONTRACT RISK ANALYZER</a:t>
            </a:r>
            <a:endParaRPr lang="en-US" sz="1800" dirty="0"/>
          </a:p>
        </p:txBody>
      </p:sp>
      <p:sp>
        <p:nvSpPr>
          <p:cNvPr id="5" name="Text 3"/>
          <p:cNvSpPr/>
          <p:nvPr/>
        </p:nvSpPr>
        <p:spPr>
          <a:xfrm>
            <a:off x="952500" y="1797050"/>
            <a:ext cx="15716250" cy="696416"/>
          </a:xfrm>
          <a:prstGeom prst="rect">
            <a:avLst/>
          </a:prstGeom>
          <a:noFill/>
          <a:ln/>
        </p:spPr>
        <p:txBody>
          <a:bodyPr wrap="square" lIns="25400" tIns="25400" rIns="25400" bIns="25400" rtlCol="0" anchor="t">
            <a:normAutofit/>
          </a:bodyPr>
          <a:lstStyle/>
          <a:p>
            <a:pPr marL="0" indent="0" algn="l">
              <a:lnSpc>
                <a:spcPct val="94255"/>
              </a:lnSpc>
              <a:buNone/>
            </a:pPr>
            <a:r>
              <a:rPr lang="en-US" sz="4800" b="1" kern="0" spc="-120" dirty="0">
                <a:solidFill>
                  <a:srgbClr val="141414"/>
                </a:solidFill>
                <a:latin typeface="Helvetica" pitchFamily="34" charset="0"/>
                <a:ea typeface="Helvetica" pitchFamily="34" charset="-122"/>
                <a:cs typeface="Helvetica" pitchFamily="34" charset="-120"/>
              </a:rPr>
              <a:t>The North Star is Decision-Ready Review Rate</a:t>
            </a:r>
            <a:endParaRPr lang="en-US" sz="4800" dirty="0"/>
          </a:p>
        </p:txBody>
      </p:sp>
      <p:sp>
        <p:nvSpPr>
          <p:cNvPr id="6" name="Text 4"/>
          <p:cNvSpPr/>
          <p:nvPr/>
        </p:nvSpPr>
        <p:spPr>
          <a:xfrm>
            <a:off x="952500" y="6200775"/>
            <a:ext cx="9010650" cy="2790825"/>
          </a:xfrm>
          <a:prstGeom prst="rect">
            <a:avLst/>
          </a:prstGeom>
          <a:noFill/>
          <a:ln/>
        </p:spPr>
        <p:txBody>
          <a:bodyPr wrap="square" lIns="25400" tIns="25400" rIns="25400" bIns="25400" rtlCol="0" anchor="t">
            <a:normAutofit/>
          </a:bodyPr>
          <a:lstStyle/>
          <a:p>
            <a:pPr marL="0" indent="0" algn="l">
              <a:lnSpc>
                <a:spcPct val="73850"/>
              </a:lnSpc>
              <a:buNone/>
            </a:pPr>
            <a:r>
              <a:rPr lang="en-US" sz="25500" b="1" kern="0" spc="-1530" dirty="0">
                <a:solidFill>
                  <a:srgbClr val="141414"/>
                </a:solidFill>
                <a:latin typeface="Helvetica" pitchFamily="34" charset="0"/>
                <a:ea typeface="Helvetica" pitchFamily="34" charset="-122"/>
                <a:cs typeface="Helvetica" pitchFamily="34" charset="-120"/>
              </a:rPr>
              <a:t>≥80%</a:t>
            </a:r>
            <a:endParaRPr lang="en-US" sz="25500" dirty="0"/>
          </a:p>
        </p:txBody>
      </p:sp>
      <p:sp>
        <p:nvSpPr>
          <p:cNvPr id="7" name="Text 5"/>
          <p:cNvSpPr/>
          <p:nvPr/>
        </p:nvSpPr>
        <p:spPr>
          <a:xfrm>
            <a:off x="952500" y="9220200"/>
            <a:ext cx="9010650" cy="342900"/>
          </a:xfrm>
          <a:prstGeom prst="rect">
            <a:avLst/>
          </a:prstGeom>
          <a:noFill/>
          <a:ln/>
        </p:spPr>
        <p:txBody>
          <a:bodyPr wrap="square" lIns="25400" tIns="25400" rIns="25400" bIns="25400" rtlCol="0" anchor="t">
            <a:normAutofit/>
          </a:bodyPr>
          <a:lstStyle/>
          <a:p>
            <a:pPr marL="0" indent="0" algn="l">
              <a:buNone/>
            </a:pPr>
            <a:r>
              <a:rPr lang="en-US" sz="2100" dirty="0">
                <a:solidFill>
                  <a:srgbClr val="5C5C58"/>
                </a:solidFill>
                <a:latin typeface="Helvetica" pitchFamily="34" charset="0"/>
                <a:ea typeface="Helvetica" pitchFamily="34" charset="-122"/>
                <a:cs typeface="Helvetica" pitchFamily="34" charset="-120"/>
              </a:rPr>
              <a:t>within 90 days of phased production rollout</a:t>
            </a:r>
            <a:endParaRPr lang="en-US" sz="2100" dirty="0"/>
          </a:p>
        </p:txBody>
      </p:sp>
      <p:sp>
        <p:nvSpPr>
          <p:cNvPr id="8" name="Text 6"/>
          <p:cNvSpPr/>
          <p:nvPr/>
        </p:nvSpPr>
        <p:spPr>
          <a:xfrm>
            <a:off x="9906000" y="6581180"/>
            <a:ext cx="7652385" cy="784820"/>
          </a:xfrm>
          <a:prstGeom prst="rect">
            <a:avLst/>
          </a:prstGeom>
          <a:noFill/>
          <a:ln/>
        </p:spPr>
        <p:txBody>
          <a:bodyPr wrap="square" lIns="25400" tIns="25400" rIns="25400" bIns="25400" rtlCol="0" anchor="t">
            <a:normAutofit/>
          </a:bodyPr>
          <a:lstStyle/>
          <a:p>
            <a:pPr marL="0" indent="0" algn="l">
              <a:lnSpc>
                <a:spcPct val="122500"/>
              </a:lnSpc>
              <a:buNone/>
            </a:pPr>
            <a:r>
              <a:rPr lang="en-US" sz="2100" dirty="0">
                <a:solidFill>
                  <a:srgbClr val="141414"/>
                </a:solidFill>
                <a:latin typeface="Helvetica" pitchFamily="34" charset="0"/>
                <a:ea typeface="Helvetica" pitchFamily="34" charset="-122"/>
                <a:cs typeface="Helvetica" pitchFamily="34" charset="-120"/>
              </a:rPr>
              <a:t>Share of contracts where a single AI review is enough to decide, and:</a:t>
            </a:r>
            <a:endParaRPr lang="en-US" sz="2100" dirty="0"/>
          </a:p>
        </p:txBody>
      </p:sp>
      <p:sp>
        <p:nvSpPr>
          <p:cNvPr id="9" name="Shape 7"/>
          <p:cNvSpPr/>
          <p:nvPr/>
        </p:nvSpPr>
        <p:spPr>
          <a:xfrm>
            <a:off x="9906000" y="7556500"/>
            <a:ext cx="7429500" cy="9525"/>
          </a:xfrm>
          <a:prstGeom prst="rect">
            <a:avLst/>
          </a:prstGeom>
          <a:solidFill>
            <a:srgbClr val="141414"/>
          </a:solidFill>
          <a:ln/>
        </p:spPr>
      </p:sp>
      <p:sp>
        <p:nvSpPr>
          <p:cNvPr id="10" name="Text 8"/>
          <p:cNvSpPr/>
          <p:nvPr/>
        </p:nvSpPr>
        <p:spPr>
          <a:xfrm>
            <a:off x="9906000" y="7734300"/>
            <a:ext cx="609600" cy="342900"/>
          </a:xfrm>
          <a:prstGeom prst="rect">
            <a:avLst/>
          </a:prstGeom>
          <a:noFill/>
          <a:ln/>
        </p:spPr>
        <p:txBody>
          <a:bodyPr wrap="square" lIns="25400" tIns="25400" rIns="25400" bIns="25400" rtlCol="0" anchor="t">
            <a:normAutofit/>
          </a:bodyPr>
          <a:lstStyle/>
          <a:p>
            <a:pPr marL="0" indent="0" algn="l">
              <a:buNone/>
            </a:pPr>
            <a:r>
              <a:rPr lang="en-US" sz="2100" dirty="0">
                <a:solidFill>
                  <a:srgbClr val="5C5C58"/>
                </a:solidFill>
                <a:latin typeface="Helvetica" pitchFamily="34" charset="0"/>
                <a:ea typeface="Helvetica" pitchFamily="34" charset="-122"/>
                <a:cs typeface="Helvetica" pitchFamily="34" charset="-120"/>
              </a:rPr>
              <a:t>1</a:t>
            </a:r>
            <a:endParaRPr lang="en-US" sz="2100" dirty="0"/>
          </a:p>
        </p:txBody>
      </p:sp>
      <p:sp>
        <p:nvSpPr>
          <p:cNvPr id="11" name="Text 9"/>
          <p:cNvSpPr/>
          <p:nvPr/>
        </p:nvSpPr>
        <p:spPr>
          <a:xfrm>
            <a:off x="10439400" y="7734300"/>
            <a:ext cx="7585710" cy="342900"/>
          </a:xfrm>
          <a:prstGeom prst="rect">
            <a:avLst/>
          </a:prstGeom>
          <a:noFill/>
          <a:ln/>
        </p:spPr>
        <p:txBody>
          <a:bodyPr wrap="square" lIns="25400" tIns="25400" rIns="25400" bIns="25400" rtlCol="0" anchor="t">
            <a:normAutofit/>
          </a:bodyPr>
          <a:lstStyle/>
          <a:p>
            <a:pPr marL="0" indent="0" algn="l">
              <a:buNone/>
            </a:pPr>
            <a:r>
              <a:rPr lang="en-US" sz="2100" dirty="0">
                <a:solidFill>
                  <a:srgbClr val="141414"/>
                </a:solidFill>
                <a:latin typeface="Helvetica" pitchFamily="34" charset="0"/>
                <a:ea typeface="Helvetica" pitchFamily="34" charset="-122"/>
                <a:cs typeface="Helvetica" pitchFamily="34" charset="-120"/>
              </a:rPr>
              <a:t>No manual clause hunting needed</a:t>
            </a:r>
            <a:endParaRPr lang="en-US" sz="2100" dirty="0"/>
          </a:p>
        </p:txBody>
      </p:sp>
      <p:sp>
        <p:nvSpPr>
          <p:cNvPr id="12" name="Shape 10"/>
          <p:cNvSpPr/>
          <p:nvPr/>
        </p:nvSpPr>
        <p:spPr>
          <a:xfrm>
            <a:off x="9906000" y="8210550"/>
            <a:ext cx="7429500" cy="9525"/>
          </a:xfrm>
          <a:prstGeom prst="rect">
            <a:avLst/>
          </a:prstGeom>
          <a:solidFill>
            <a:srgbClr val="D9D9D4"/>
          </a:solidFill>
          <a:ln/>
        </p:spPr>
      </p:sp>
      <p:sp>
        <p:nvSpPr>
          <p:cNvPr id="13" name="Text 11"/>
          <p:cNvSpPr/>
          <p:nvPr/>
        </p:nvSpPr>
        <p:spPr>
          <a:xfrm>
            <a:off x="9906000" y="8388350"/>
            <a:ext cx="609600" cy="342900"/>
          </a:xfrm>
          <a:prstGeom prst="rect">
            <a:avLst/>
          </a:prstGeom>
          <a:noFill/>
          <a:ln/>
        </p:spPr>
        <p:txBody>
          <a:bodyPr wrap="square" lIns="25400" tIns="25400" rIns="25400" bIns="25400" rtlCol="0" anchor="t">
            <a:normAutofit/>
          </a:bodyPr>
          <a:lstStyle/>
          <a:p>
            <a:pPr marL="0" indent="0" algn="l">
              <a:buNone/>
            </a:pPr>
            <a:r>
              <a:rPr lang="en-US" sz="2100" dirty="0">
                <a:solidFill>
                  <a:srgbClr val="5C5C58"/>
                </a:solidFill>
                <a:latin typeface="Helvetica" pitchFamily="34" charset="0"/>
                <a:ea typeface="Helvetica" pitchFamily="34" charset="-122"/>
                <a:cs typeface="Helvetica" pitchFamily="34" charset="-120"/>
              </a:rPr>
              <a:t>2</a:t>
            </a:r>
            <a:endParaRPr lang="en-US" sz="2100" dirty="0"/>
          </a:p>
        </p:txBody>
      </p:sp>
      <p:sp>
        <p:nvSpPr>
          <p:cNvPr id="14" name="Text 12"/>
          <p:cNvSpPr/>
          <p:nvPr/>
        </p:nvSpPr>
        <p:spPr>
          <a:xfrm>
            <a:off x="10439400" y="8388350"/>
            <a:ext cx="7585710" cy="342900"/>
          </a:xfrm>
          <a:prstGeom prst="rect">
            <a:avLst/>
          </a:prstGeom>
          <a:noFill/>
          <a:ln/>
        </p:spPr>
        <p:txBody>
          <a:bodyPr wrap="square" lIns="25400" tIns="25400" rIns="25400" bIns="25400" rtlCol="0" anchor="t">
            <a:normAutofit/>
          </a:bodyPr>
          <a:lstStyle/>
          <a:p>
            <a:pPr marL="0" indent="0" algn="l">
              <a:buNone/>
            </a:pPr>
            <a:r>
              <a:rPr lang="en-US" sz="2100" dirty="0">
                <a:solidFill>
                  <a:srgbClr val="141414"/>
                </a:solidFill>
                <a:latin typeface="Helvetica" pitchFamily="34" charset="0"/>
                <a:ea typeface="Helvetica" pitchFamily="34" charset="-122"/>
                <a:cs typeface="Helvetica" pitchFamily="34" charset="-120"/>
              </a:rPr>
              <a:t>Passes later critical-risk audit</a:t>
            </a:r>
            <a:endParaRPr lang="en-US" sz="2100" dirty="0"/>
          </a:p>
        </p:txBody>
      </p:sp>
      <p:sp>
        <p:nvSpPr>
          <p:cNvPr id="15" name="Shape 13"/>
          <p:cNvSpPr/>
          <p:nvPr/>
        </p:nvSpPr>
        <p:spPr>
          <a:xfrm>
            <a:off x="9906000" y="9518650"/>
            <a:ext cx="7429500" cy="9525"/>
          </a:xfrm>
          <a:prstGeom prst="rect">
            <a:avLst/>
          </a:prstGeom>
          <a:solidFill>
            <a:srgbClr val="141414"/>
          </a:solidFill>
          <a:ln/>
        </p:spPr>
      </p:sp>
      <p:sp>
        <p:nvSpPr>
          <p:cNvPr id="16" name="Shape 14"/>
          <p:cNvSpPr/>
          <p:nvPr/>
        </p:nvSpPr>
        <p:spPr>
          <a:xfrm>
            <a:off x="9906000" y="8864600"/>
            <a:ext cx="7429500" cy="9525"/>
          </a:xfrm>
          <a:prstGeom prst="rect">
            <a:avLst/>
          </a:prstGeom>
          <a:solidFill>
            <a:srgbClr val="D9D9D4"/>
          </a:solidFill>
          <a:ln/>
        </p:spPr>
      </p:sp>
      <p:sp>
        <p:nvSpPr>
          <p:cNvPr id="17" name="Text 15"/>
          <p:cNvSpPr/>
          <p:nvPr/>
        </p:nvSpPr>
        <p:spPr>
          <a:xfrm>
            <a:off x="9906000" y="9042400"/>
            <a:ext cx="609600" cy="342900"/>
          </a:xfrm>
          <a:prstGeom prst="rect">
            <a:avLst/>
          </a:prstGeom>
          <a:noFill/>
          <a:ln/>
        </p:spPr>
        <p:txBody>
          <a:bodyPr wrap="square" lIns="25400" tIns="25400" rIns="25400" bIns="25400" rtlCol="0" anchor="t">
            <a:normAutofit/>
          </a:bodyPr>
          <a:lstStyle/>
          <a:p>
            <a:pPr marL="0" indent="0" algn="l">
              <a:buNone/>
            </a:pPr>
            <a:r>
              <a:rPr lang="en-US" sz="2100" dirty="0">
                <a:solidFill>
                  <a:srgbClr val="5C5C58"/>
                </a:solidFill>
                <a:latin typeface="Helvetica" pitchFamily="34" charset="0"/>
                <a:ea typeface="Helvetica" pitchFamily="34" charset="-122"/>
                <a:cs typeface="Helvetica" pitchFamily="34" charset="-120"/>
              </a:rPr>
              <a:t>3</a:t>
            </a:r>
            <a:endParaRPr lang="en-US" sz="2100" dirty="0"/>
          </a:p>
        </p:txBody>
      </p:sp>
      <p:sp>
        <p:nvSpPr>
          <p:cNvPr id="18" name="Text 16"/>
          <p:cNvSpPr/>
          <p:nvPr/>
        </p:nvSpPr>
        <p:spPr>
          <a:xfrm>
            <a:off x="10439400" y="9042400"/>
            <a:ext cx="7585710" cy="342900"/>
          </a:xfrm>
          <a:prstGeom prst="rect">
            <a:avLst/>
          </a:prstGeom>
          <a:noFill/>
          <a:ln/>
        </p:spPr>
        <p:txBody>
          <a:bodyPr wrap="square" lIns="25400" tIns="25400" rIns="25400" bIns="25400" rtlCol="0" anchor="t">
            <a:normAutofit/>
          </a:bodyPr>
          <a:lstStyle/>
          <a:p>
            <a:pPr marL="0" indent="0" algn="l">
              <a:buNone/>
            </a:pPr>
            <a:r>
              <a:rPr lang="en-US" sz="2100" dirty="0">
                <a:solidFill>
                  <a:srgbClr val="141414"/>
                </a:solidFill>
                <a:latin typeface="Helvetica" pitchFamily="34" charset="0"/>
                <a:ea typeface="Helvetica" pitchFamily="34" charset="-122"/>
                <a:cs typeface="Helvetica" pitchFamily="34" charset="-120"/>
              </a:rPr>
              <a:t>Clause coverage met threshold</a:t>
            </a:r>
            <a:endParaRPr lang="en-US" sz="2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AFAF8"/>
        </a:solidFill>
        <a:effectLst/>
      </p:bgPr>
    </p:bg>
    <p:spTree>
      <p:nvGrpSpPr>
        <p:cNvPr id="1" name=""/>
        <p:cNvGrpSpPr/>
        <p:nvPr/>
      </p:nvGrpSpPr>
      <p:grpSpPr>
        <a:xfrm>
          <a:off x="0" y="0"/>
          <a:ext cx="0" cy="0"/>
          <a:chOff x="0" y="0"/>
          <a:chExt cx="0" cy="0"/>
        </a:xfrm>
      </p:grpSpPr>
      <p:sp>
        <p:nvSpPr>
          <p:cNvPr id="2" name="Shape 0"/>
          <p:cNvSpPr/>
          <p:nvPr/>
        </p:nvSpPr>
        <p:spPr>
          <a:xfrm>
            <a:off x="952500" y="857250"/>
            <a:ext cx="16383000" cy="25400"/>
          </a:xfrm>
          <a:prstGeom prst="rect">
            <a:avLst/>
          </a:prstGeom>
          <a:solidFill>
            <a:srgbClr val="141414"/>
          </a:solidFill>
          <a:ln/>
        </p:spPr>
      </p:sp>
      <p:sp>
        <p:nvSpPr>
          <p:cNvPr id="3" name="Text 1"/>
          <p:cNvSpPr/>
          <p:nvPr/>
        </p:nvSpPr>
        <p:spPr>
          <a:xfrm>
            <a:off x="952500" y="1073150"/>
            <a:ext cx="3038257" cy="304800"/>
          </a:xfrm>
          <a:prstGeom prst="rect">
            <a:avLst/>
          </a:prstGeom>
          <a:noFill/>
          <a:ln/>
        </p:spPr>
        <p:txBody>
          <a:bodyPr wrap="square" lIns="25400" tIns="25400" rIns="25400" bIns="25400" rtlCol="0" anchor="t">
            <a:normAutofit/>
          </a:bodyPr>
          <a:lstStyle/>
          <a:p>
            <a:pPr marL="0" indent="0" algn="l">
              <a:buNone/>
            </a:pPr>
            <a:r>
              <a:rPr lang="en-US" sz="1800" kern="0" spc="108" dirty="0">
                <a:solidFill>
                  <a:srgbClr val="141414"/>
                </a:solidFill>
                <a:latin typeface="Helvetica" pitchFamily="34" charset="0"/>
                <a:ea typeface="Helvetica" pitchFamily="34" charset="-122"/>
                <a:cs typeface="Helvetica" pitchFamily="34" charset="-120"/>
              </a:rPr>
              <a:t>04 SUCCESS METRICS</a:t>
            </a:r>
            <a:endParaRPr lang="en-US" sz="1800" dirty="0"/>
          </a:p>
        </p:txBody>
      </p:sp>
      <p:sp>
        <p:nvSpPr>
          <p:cNvPr id="4" name="Text 2"/>
          <p:cNvSpPr/>
          <p:nvPr/>
        </p:nvSpPr>
        <p:spPr>
          <a:xfrm>
            <a:off x="13140630" y="1073150"/>
            <a:ext cx="4614356" cy="304800"/>
          </a:xfrm>
          <a:prstGeom prst="rect">
            <a:avLst/>
          </a:prstGeom>
          <a:noFill/>
          <a:ln/>
        </p:spPr>
        <p:txBody>
          <a:bodyPr wrap="square" lIns="25400" tIns="25400" rIns="25400" bIns="25400" rtlCol="0" anchor="t">
            <a:normAutofit/>
          </a:bodyPr>
          <a:lstStyle/>
          <a:p>
            <a:pPr marL="0" indent="0" algn="l">
              <a:buNone/>
            </a:pPr>
            <a:r>
              <a:rPr lang="en-US" sz="1800" kern="0" spc="108" dirty="0">
                <a:solidFill>
                  <a:srgbClr val="141414"/>
                </a:solidFill>
                <a:latin typeface="Helvetica" pitchFamily="34" charset="0"/>
                <a:ea typeface="Helvetica" pitchFamily="34" charset="-122"/>
                <a:cs typeface="Helvetica" pitchFamily="34" charset="-120"/>
              </a:rPr>
              <a:t>ATLIQ CONTRACT RISK ANALYZER</a:t>
            </a:r>
            <a:endParaRPr lang="en-US" sz="1800" dirty="0"/>
          </a:p>
        </p:txBody>
      </p:sp>
      <p:sp>
        <p:nvSpPr>
          <p:cNvPr id="5" name="Text 3"/>
          <p:cNvSpPr/>
          <p:nvPr/>
        </p:nvSpPr>
        <p:spPr>
          <a:xfrm>
            <a:off x="952500" y="1797050"/>
            <a:ext cx="14716125" cy="1354733"/>
          </a:xfrm>
          <a:prstGeom prst="rect">
            <a:avLst/>
          </a:prstGeom>
          <a:noFill/>
          <a:ln/>
        </p:spPr>
        <p:txBody>
          <a:bodyPr wrap="square" lIns="25400" tIns="25400" rIns="25400" bIns="25400" rtlCol="0" anchor="t">
            <a:normAutofit/>
          </a:bodyPr>
          <a:lstStyle/>
          <a:p>
            <a:pPr marL="0" indent="0" algn="l">
              <a:lnSpc>
                <a:spcPct val="94255"/>
              </a:lnSpc>
              <a:buNone/>
            </a:pPr>
            <a:r>
              <a:rPr lang="en-US" sz="4800" b="1" kern="0" spc="-120" dirty="0">
                <a:solidFill>
                  <a:srgbClr val="141414"/>
                </a:solidFill>
                <a:latin typeface="Helvetica" pitchFamily="34" charset="0"/>
                <a:ea typeface="Helvetica" pitchFamily="34" charset="-122"/>
                <a:cs typeface="Helvetica" pitchFamily="34" charset="-120"/>
              </a:rPr>
              <a:t>Every supporting metric is set against a stated baseline</a:t>
            </a:r>
            <a:endParaRPr lang="en-US" sz="4800" dirty="0"/>
          </a:p>
        </p:txBody>
      </p:sp>
      <p:sp>
        <p:nvSpPr>
          <p:cNvPr id="6" name="Text 4"/>
          <p:cNvSpPr/>
          <p:nvPr/>
        </p:nvSpPr>
        <p:spPr>
          <a:xfrm>
            <a:off x="952500" y="3647083"/>
            <a:ext cx="2095500" cy="304800"/>
          </a:xfrm>
          <a:prstGeom prst="rect">
            <a:avLst/>
          </a:prstGeom>
          <a:noFill/>
          <a:ln/>
        </p:spPr>
        <p:txBody>
          <a:bodyPr wrap="square" lIns="25400" tIns="25400" rIns="25400" bIns="25400" rtlCol="0" anchor="t">
            <a:normAutofit/>
          </a:bodyPr>
          <a:lstStyle/>
          <a:p>
            <a:pPr marL="0" indent="0" algn="l">
              <a:buNone/>
            </a:pPr>
            <a:r>
              <a:rPr lang="en-US" sz="1800" kern="0" spc="108" dirty="0">
                <a:solidFill>
                  <a:srgbClr val="5C5C58"/>
                </a:solidFill>
                <a:latin typeface="Helvetica" pitchFamily="34" charset="0"/>
                <a:ea typeface="Helvetica" pitchFamily="34" charset="-122"/>
                <a:cs typeface="Helvetica" pitchFamily="34" charset="-120"/>
              </a:rPr>
              <a:t>LAYER</a:t>
            </a:r>
            <a:endParaRPr lang="en-US" sz="1800" dirty="0"/>
          </a:p>
        </p:txBody>
      </p:sp>
      <p:sp>
        <p:nvSpPr>
          <p:cNvPr id="7" name="Text 5"/>
          <p:cNvSpPr/>
          <p:nvPr/>
        </p:nvSpPr>
        <p:spPr>
          <a:xfrm>
            <a:off x="3162300" y="3647083"/>
            <a:ext cx="6537960" cy="304800"/>
          </a:xfrm>
          <a:prstGeom prst="rect">
            <a:avLst/>
          </a:prstGeom>
          <a:noFill/>
          <a:ln/>
        </p:spPr>
        <p:txBody>
          <a:bodyPr wrap="square" lIns="25400" tIns="25400" rIns="25400" bIns="25400" rtlCol="0" anchor="t">
            <a:normAutofit/>
          </a:bodyPr>
          <a:lstStyle/>
          <a:p>
            <a:pPr marL="0" indent="0" algn="l">
              <a:buNone/>
            </a:pPr>
            <a:r>
              <a:rPr lang="en-US" sz="1800" kern="0" spc="108" dirty="0">
                <a:solidFill>
                  <a:srgbClr val="5C5C58"/>
                </a:solidFill>
                <a:latin typeface="Helvetica" pitchFamily="34" charset="0"/>
                <a:ea typeface="Helvetica" pitchFamily="34" charset="-122"/>
                <a:cs typeface="Helvetica" pitchFamily="34" charset="-120"/>
              </a:rPr>
              <a:t>METRIC</a:t>
            </a:r>
            <a:endParaRPr lang="en-US" sz="1800" dirty="0"/>
          </a:p>
        </p:txBody>
      </p:sp>
      <p:sp>
        <p:nvSpPr>
          <p:cNvPr id="8" name="Text 6"/>
          <p:cNvSpPr/>
          <p:nvPr/>
        </p:nvSpPr>
        <p:spPr>
          <a:xfrm>
            <a:off x="9410700" y="3647083"/>
            <a:ext cx="3562350" cy="304800"/>
          </a:xfrm>
          <a:prstGeom prst="rect">
            <a:avLst/>
          </a:prstGeom>
          <a:noFill/>
          <a:ln/>
        </p:spPr>
        <p:txBody>
          <a:bodyPr wrap="square" lIns="25400" tIns="25400" rIns="25400" bIns="25400" rtlCol="0" anchor="t">
            <a:normAutofit/>
          </a:bodyPr>
          <a:lstStyle/>
          <a:p>
            <a:pPr marL="0" indent="0" algn="l">
              <a:buNone/>
            </a:pPr>
            <a:r>
              <a:rPr lang="en-US" sz="1800" kern="0" spc="108" dirty="0">
                <a:solidFill>
                  <a:srgbClr val="5C5C58"/>
                </a:solidFill>
                <a:latin typeface="Helvetica" pitchFamily="34" charset="0"/>
                <a:ea typeface="Helvetica" pitchFamily="34" charset="-122"/>
                <a:cs typeface="Helvetica" pitchFamily="34" charset="-120"/>
              </a:rPr>
              <a:t>BASELINE</a:t>
            </a:r>
            <a:endParaRPr lang="en-US" sz="1800" dirty="0"/>
          </a:p>
        </p:txBody>
      </p:sp>
      <p:sp>
        <p:nvSpPr>
          <p:cNvPr id="9" name="Text 7"/>
          <p:cNvSpPr/>
          <p:nvPr/>
        </p:nvSpPr>
        <p:spPr>
          <a:xfrm>
            <a:off x="12954000" y="3647083"/>
            <a:ext cx="4819650" cy="304800"/>
          </a:xfrm>
          <a:prstGeom prst="rect">
            <a:avLst/>
          </a:prstGeom>
          <a:noFill/>
          <a:ln/>
        </p:spPr>
        <p:txBody>
          <a:bodyPr wrap="square" lIns="25400" tIns="25400" rIns="25400" bIns="25400" rtlCol="0" anchor="t">
            <a:normAutofit/>
          </a:bodyPr>
          <a:lstStyle/>
          <a:p>
            <a:pPr marL="0" indent="0" algn="l">
              <a:buNone/>
            </a:pPr>
            <a:r>
              <a:rPr lang="en-US" sz="1800" kern="0" spc="108" dirty="0">
                <a:solidFill>
                  <a:srgbClr val="5C5C58"/>
                </a:solidFill>
                <a:latin typeface="Helvetica" pitchFamily="34" charset="0"/>
                <a:ea typeface="Helvetica" pitchFamily="34" charset="-122"/>
                <a:cs typeface="Helvetica" pitchFamily="34" charset="-120"/>
              </a:rPr>
              <a:t>TARGET</a:t>
            </a:r>
            <a:endParaRPr lang="en-US" sz="1800" dirty="0"/>
          </a:p>
        </p:txBody>
      </p:sp>
      <p:sp>
        <p:nvSpPr>
          <p:cNvPr id="10" name="Shape 8"/>
          <p:cNvSpPr/>
          <p:nvPr/>
        </p:nvSpPr>
        <p:spPr>
          <a:xfrm>
            <a:off x="952500" y="4047133"/>
            <a:ext cx="16383000" cy="9525"/>
          </a:xfrm>
          <a:prstGeom prst="rect">
            <a:avLst/>
          </a:prstGeom>
          <a:solidFill>
            <a:srgbClr val="141414"/>
          </a:solidFill>
          <a:ln/>
        </p:spPr>
      </p:sp>
      <p:sp>
        <p:nvSpPr>
          <p:cNvPr id="11" name="Text 9"/>
          <p:cNvSpPr/>
          <p:nvPr/>
        </p:nvSpPr>
        <p:spPr>
          <a:xfrm>
            <a:off x="952500" y="4243983"/>
            <a:ext cx="2095500" cy="342900"/>
          </a:xfrm>
          <a:prstGeom prst="rect">
            <a:avLst/>
          </a:prstGeom>
          <a:noFill/>
          <a:ln/>
        </p:spPr>
        <p:txBody>
          <a:bodyPr wrap="square" lIns="25400" tIns="25400" rIns="25400" bIns="25400" rtlCol="0" anchor="t">
            <a:normAutofit/>
          </a:bodyPr>
          <a:lstStyle/>
          <a:p>
            <a:pPr marL="0" indent="0" algn="l">
              <a:buNone/>
            </a:pPr>
            <a:r>
              <a:rPr lang="en-US" sz="2100" dirty="0">
                <a:solidFill>
                  <a:srgbClr val="5C5C58"/>
                </a:solidFill>
                <a:latin typeface="Helvetica" pitchFamily="34" charset="0"/>
                <a:ea typeface="Helvetica" pitchFamily="34" charset="-122"/>
                <a:cs typeface="Helvetica" pitchFamily="34" charset="-120"/>
              </a:rPr>
              <a:t>Outcome</a:t>
            </a:r>
            <a:endParaRPr lang="en-US" sz="2100" dirty="0"/>
          </a:p>
        </p:txBody>
      </p:sp>
      <p:sp>
        <p:nvSpPr>
          <p:cNvPr id="12" name="Text 10"/>
          <p:cNvSpPr/>
          <p:nvPr/>
        </p:nvSpPr>
        <p:spPr>
          <a:xfrm>
            <a:off x="3162300" y="4243983"/>
            <a:ext cx="6537960" cy="342900"/>
          </a:xfrm>
          <a:prstGeom prst="rect">
            <a:avLst/>
          </a:prstGeom>
          <a:noFill/>
          <a:ln/>
        </p:spPr>
        <p:txBody>
          <a:bodyPr wrap="square" lIns="25400" tIns="25400" rIns="25400" bIns="25400" rtlCol="0" anchor="t">
            <a:normAutofit/>
          </a:bodyPr>
          <a:lstStyle/>
          <a:p>
            <a:pPr marL="0" indent="0" algn="l">
              <a:buNone/>
            </a:pPr>
            <a:r>
              <a:rPr lang="en-US" sz="2100" dirty="0">
                <a:solidFill>
                  <a:srgbClr val="141414"/>
                </a:solidFill>
                <a:latin typeface="Helvetica" pitchFamily="34" charset="0"/>
                <a:ea typeface="Helvetica" pitchFamily="34" charset="-122"/>
                <a:cs typeface="Helvetica" pitchFamily="34" charset="-120"/>
              </a:rPr>
              <a:t>Time per contract review</a:t>
            </a:r>
            <a:endParaRPr lang="en-US" sz="2100" dirty="0"/>
          </a:p>
        </p:txBody>
      </p:sp>
      <p:sp>
        <p:nvSpPr>
          <p:cNvPr id="13" name="Text 11"/>
          <p:cNvSpPr/>
          <p:nvPr/>
        </p:nvSpPr>
        <p:spPr>
          <a:xfrm>
            <a:off x="9410700" y="4243983"/>
            <a:ext cx="3562350" cy="342900"/>
          </a:xfrm>
          <a:prstGeom prst="rect">
            <a:avLst/>
          </a:prstGeom>
          <a:noFill/>
          <a:ln/>
        </p:spPr>
        <p:txBody>
          <a:bodyPr wrap="square" lIns="25400" tIns="25400" rIns="25400" bIns="25400" rtlCol="0" anchor="t">
            <a:normAutofit/>
          </a:bodyPr>
          <a:lstStyle/>
          <a:p>
            <a:pPr marL="0" indent="0" algn="l">
              <a:buNone/>
            </a:pPr>
            <a:r>
              <a:rPr lang="en-US" sz="2100" dirty="0">
                <a:solidFill>
                  <a:srgbClr val="141414"/>
                </a:solidFill>
                <a:latin typeface="Helvetica" pitchFamily="34" charset="0"/>
                <a:ea typeface="Helvetica" pitchFamily="34" charset="-122"/>
                <a:cs typeface="Helvetica" pitchFamily="34" charset="-120"/>
              </a:rPr>
              <a:t>~3 hours</a:t>
            </a:r>
            <a:endParaRPr lang="en-US" sz="2100" dirty="0"/>
          </a:p>
        </p:txBody>
      </p:sp>
      <p:sp>
        <p:nvSpPr>
          <p:cNvPr id="14" name="Text 12"/>
          <p:cNvSpPr/>
          <p:nvPr/>
        </p:nvSpPr>
        <p:spPr>
          <a:xfrm>
            <a:off x="12954000" y="4243983"/>
            <a:ext cx="4819650" cy="342900"/>
          </a:xfrm>
          <a:prstGeom prst="rect">
            <a:avLst/>
          </a:prstGeom>
          <a:noFill/>
          <a:ln/>
        </p:spPr>
        <p:txBody>
          <a:bodyPr wrap="square" lIns="25400" tIns="25400" rIns="25400" bIns="25400" rtlCol="0" anchor="t">
            <a:normAutofit/>
          </a:bodyPr>
          <a:lstStyle/>
          <a:p>
            <a:pPr marL="0" indent="0" algn="l">
              <a:buNone/>
            </a:pPr>
            <a:r>
              <a:rPr lang="en-US" sz="2100" b="1" dirty="0">
                <a:solidFill>
                  <a:srgbClr val="141414"/>
                </a:solidFill>
                <a:latin typeface="Helvetica" pitchFamily="34" charset="0"/>
                <a:ea typeface="Helvetica" pitchFamily="34" charset="-122"/>
                <a:cs typeface="Helvetica" pitchFamily="34" charset="-120"/>
              </a:rPr>
              <a:t>Under 5 minutes</a:t>
            </a:r>
            <a:endParaRPr lang="en-US" sz="2100" dirty="0"/>
          </a:p>
        </p:txBody>
      </p:sp>
      <p:sp>
        <p:nvSpPr>
          <p:cNvPr id="15" name="Shape 13"/>
          <p:cNvSpPr/>
          <p:nvPr/>
        </p:nvSpPr>
        <p:spPr>
          <a:xfrm>
            <a:off x="952500" y="4739283"/>
            <a:ext cx="16383000" cy="9525"/>
          </a:xfrm>
          <a:prstGeom prst="rect">
            <a:avLst/>
          </a:prstGeom>
          <a:solidFill>
            <a:srgbClr val="D9D9D4"/>
          </a:solidFill>
          <a:ln/>
        </p:spPr>
      </p:sp>
      <p:sp>
        <p:nvSpPr>
          <p:cNvPr id="16" name="Text 14"/>
          <p:cNvSpPr/>
          <p:nvPr/>
        </p:nvSpPr>
        <p:spPr>
          <a:xfrm>
            <a:off x="952500" y="4936133"/>
            <a:ext cx="2095500" cy="342900"/>
          </a:xfrm>
          <a:prstGeom prst="rect">
            <a:avLst/>
          </a:prstGeom>
          <a:noFill/>
          <a:ln/>
        </p:spPr>
        <p:txBody>
          <a:bodyPr wrap="square" lIns="25400" tIns="25400" rIns="25400" bIns="25400" rtlCol="0" anchor="t">
            <a:normAutofit/>
          </a:bodyPr>
          <a:lstStyle/>
          <a:p>
            <a:pPr marL="0" indent="0" algn="l">
              <a:buNone/>
            </a:pPr>
            <a:r>
              <a:rPr lang="en-US" sz="2100" dirty="0">
                <a:solidFill>
                  <a:srgbClr val="5C5C58"/>
                </a:solidFill>
                <a:latin typeface="Helvetica" pitchFamily="34" charset="0"/>
                <a:ea typeface="Helvetica" pitchFamily="34" charset="-122"/>
                <a:cs typeface="Helvetica" pitchFamily="34" charset="-120"/>
              </a:rPr>
              <a:t>Outcome</a:t>
            </a:r>
            <a:endParaRPr lang="en-US" sz="2100" dirty="0"/>
          </a:p>
        </p:txBody>
      </p:sp>
      <p:sp>
        <p:nvSpPr>
          <p:cNvPr id="17" name="Text 15"/>
          <p:cNvSpPr/>
          <p:nvPr/>
        </p:nvSpPr>
        <p:spPr>
          <a:xfrm>
            <a:off x="3162300" y="4936133"/>
            <a:ext cx="6537960" cy="342900"/>
          </a:xfrm>
          <a:prstGeom prst="rect">
            <a:avLst/>
          </a:prstGeom>
          <a:noFill/>
          <a:ln/>
        </p:spPr>
        <p:txBody>
          <a:bodyPr wrap="square" lIns="25400" tIns="25400" rIns="25400" bIns="25400" rtlCol="0" anchor="t">
            <a:normAutofit/>
          </a:bodyPr>
          <a:lstStyle/>
          <a:p>
            <a:pPr marL="0" indent="0" algn="l">
              <a:buNone/>
            </a:pPr>
            <a:r>
              <a:rPr lang="en-US" sz="2100" dirty="0">
                <a:solidFill>
                  <a:srgbClr val="141414"/>
                </a:solidFill>
                <a:latin typeface="Helvetica" pitchFamily="34" charset="0"/>
                <a:ea typeface="Helvetica" pitchFamily="34" charset="-122"/>
                <a:cs typeface="Helvetica" pitchFamily="34" charset="-120"/>
              </a:rPr>
              <a:t>Queue time to first decision</a:t>
            </a:r>
            <a:endParaRPr lang="en-US" sz="2100" dirty="0"/>
          </a:p>
        </p:txBody>
      </p:sp>
      <p:sp>
        <p:nvSpPr>
          <p:cNvPr id="18" name="Text 16"/>
          <p:cNvSpPr/>
          <p:nvPr/>
        </p:nvSpPr>
        <p:spPr>
          <a:xfrm>
            <a:off x="9410700" y="4936133"/>
            <a:ext cx="3562350" cy="342900"/>
          </a:xfrm>
          <a:prstGeom prst="rect">
            <a:avLst/>
          </a:prstGeom>
          <a:noFill/>
          <a:ln/>
        </p:spPr>
        <p:txBody>
          <a:bodyPr wrap="square" lIns="25400" tIns="25400" rIns="25400" bIns="25400" rtlCol="0" anchor="t">
            <a:normAutofit/>
          </a:bodyPr>
          <a:lstStyle/>
          <a:p>
            <a:pPr marL="0" indent="0" algn="l">
              <a:buNone/>
            </a:pPr>
            <a:r>
              <a:rPr lang="en-US" sz="2100" dirty="0">
                <a:solidFill>
                  <a:srgbClr val="141414"/>
                </a:solidFill>
                <a:latin typeface="Helvetica" pitchFamily="34" charset="0"/>
                <a:ea typeface="Helvetica" pitchFamily="34" charset="-122"/>
                <a:cs typeface="Helvetica" pitchFamily="34" charset="-120"/>
              </a:rPr>
              <a:t>~1 week</a:t>
            </a:r>
            <a:endParaRPr lang="en-US" sz="2100" dirty="0"/>
          </a:p>
        </p:txBody>
      </p:sp>
      <p:sp>
        <p:nvSpPr>
          <p:cNvPr id="19" name="Text 17"/>
          <p:cNvSpPr/>
          <p:nvPr/>
        </p:nvSpPr>
        <p:spPr>
          <a:xfrm>
            <a:off x="12954000" y="4936133"/>
            <a:ext cx="4819650" cy="342900"/>
          </a:xfrm>
          <a:prstGeom prst="rect">
            <a:avLst/>
          </a:prstGeom>
          <a:noFill/>
          <a:ln/>
        </p:spPr>
        <p:txBody>
          <a:bodyPr wrap="square" lIns="25400" tIns="25400" rIns="25400" bIns="25400" rtlCol="0" anchor="t">
            <a:normAutofit/>
          </a:bodyPr>
          <a:lstStyle/>
          <a:p>
            <a:pPr marL="0" indent="0" algn="l">
              <a:buNone/>
            </a:pPr>
            <a:r>
              <a:rPr lang="en-US" sz="2100" b="1" dirty="0">
                <a:solidFill>
                  <a:srgbClr val="141414"/>
                </a:solidFill>
                <a:latin typeface="Helvetica" pitchFamily="34" charset="0"/>
                <a:ea typeface="Helvetica" pitchFamily="34" charset="-122"/>
                <a:cs typeface="Helvetica" pitchFamily="34" charset="-120"/>
              </a:rPr>
              <a:t>Under 1 working day</a:t>
            </a:r>
            <a:endParaRPr lang="en-US" sz="2100" dirty="0"/>
          </a:p>
        </p:txBody>
      </p:sp>
      <p:sp>
        <p:nvSpPr>
          <p:cNvPr id="20" name="Shape 18"/>
          <p:cNvSpPr/>
          <p:nvPr/>
        </p:nvSpPr>
        <p:spPr>
          <a:xfrm>
            <a:off x="952500" y="5431433"/>
            <a:ext cx="16383000" cy="9525"/>
          </a:xfrm>
          <a:prstGeom prst="rect">
            <a:avLst/>
          </a:prstGeom>
          <a:solidFill>
            <a:srgbClr val="D9D9D4"/>
          </a:solidFill>
          <a:ln/>
        </p:spPr>
      </p:sp>
      <p:sp>
        <p:nvSpPr>
          <p:cNvPr id="21" name="Text 19"/>
          <p:cNvSpPr/>
          <p:nvPr/>
        </p:nvSpPr>
        <p:spPr>
          <a:xfrm>
            <a:off x="952500" y="5628283"/>
            <a:ext cx="2095500" cy="342900"/>
          </a:xfrm>
          <a:prstGeom prst="rect">
            <a:avLst/>
          </a:prstGeom>
          <a:noFill/>
          <a:ln/>
        </p:spPr>
        <p:txBody>
          <a:bodyPr wrap="square" lIns="25400" tIns="25400" rIns="25400" bIns="25400" rtlCol="0" anchor="t">
            <a:normAutofit/>
          </a:bodyPr>
          <a:lstStyle/>
          <a:p>
            <a:pPr marL="0" indent="0" algn="l">
              <a:buNone/>
            </a:pPr>
            <a:r>
              <a:rPr lang="en-US" sz="2100" dirty="0">
                <a:solidFill>
                  <a:srgbClr val="5C5C58"/>
                </a:solidFill>
                <a:latin typeface="Helvetica" pitchFamily="34" charset="0"/>
                <a:ea typeface="Helvetica" pitchFamily="34" charset="-122"/>
                <a:cs typeface="Helvetica" pitchFamily="34" charset="-120"/>
              </a:rPr>
              <a:t>Quality</a:t>
            </a:r>
            <a:endParaRPr lang="en-US" sz="2100" dirty="0"/>
          </a:p>
        </p:txBody>
      </p:sp>
      <p:sp>
        <p:nvSpPr>
          <p:cNvPr id="22" name="Text 20"/>
          <p:cNvSpPr/>
          <p:nvPr/>
        </p:nvSpPr>
        <p:spPr>
          <a:xfrm>
            <a:off x="3162300" y="5628283"/>
            <a:ext cx="6537960" cy="342900"/>
          </a:xfrm>
          <a:prstGeom prst="rect">
            <a:avLst/>
          </a:prstGeom>
          <a:noFill/>
          <a:ln/>
        </p:spPr>
        <p:txBody>
          <a:bodyPr wrap="square" lIns="25400" tIns="25400" rIns="25400" bIns="25400" rtlCol="0" anchor="t">
            <a:normAutofit/>
          </a:bodyPr>
          <a:lstStyle/>
          <a:p>
            <a:pPr marL="0" indent="0" algn="l">
              <a:buNone/>
            </a:pPr>
            <a:r>
              <a:rPr lang="en-US" sz="2100" dirty="0">
                <a:solidFill>
                  <a:srgbClr val="141414"/>
                </a:solidFill>
                <a:latin typeface="Helvetica" pitchFamily="34" charset="0"/>
                <a:ea typeface="Helvetica" pitchFamily="34" charset="-122"/>
                <a:cs typeface="Helvetica" pitchFamily="34" charset="-120"/>
              </a:rPr>
              <a:t>Clause coverage per review</a:t>
            </a:r>
            <a:endParaRPr lang="en-US" sz="2100" dirty="0"/>
          </a:p>
        </p:txBody>
      </p:sp>
      <p:sp>
        <p:nvSpPr>
          <p:cNvPr id="23" name="Text 21"/>
          <p:cNvSpPr/>
          <p:nvPr/>
        </p:nvSpPr>
        <p:spPr>
          <a:xfrm>
            <a:off x="9410700" y="5628283"/>
            <a:ext cx="3562350" cy="342900"/>
          </a:xfrm>
          <a:prstGeom prst="rect">
            <a:avLst/>
          </a:prstGeom>
          <a:noFill/>
          <a:ln/>
        </p:spPr>
        <p:txBody>
          <a:bodyPr wrap="square" lIns="25400" tIns="25400" rIns="25400" bIns="25400" rtlCol="0" anchor="t">
            <a:normAutofit/>
          </a:bodyPr>
          <a:lstStyle/>
          <a:p>
            <a:pPr marL="0" indent="0" algn="l">
              <a:buNone/>
            </a:pPr>
            <a:r>
              <a:rPr lang="en-US" sz="2100" dirty="0">
                <a:solidFill>
                  <a:srgbClr val="141414"/>
                </a:solidFill>
                <a:latin typeface="Helvetica" pitchFamily="34" charset="0"/>
                <a:ea typeface="Helvetica" pitchFamily="34" charset="-122"/>
                <a:cs typeface="Helvetica" pitchFamily="34" charset="-120"/>
              </a:rPr>
              <a:t>Not measured</a:t>
            </a:r>
            <a:endParaRPr lang="en-US" sz="2100" dirty="0"/>
          </a:p>
        </p:txBody>
      </p:sp>
      <p:sp>
        <p:nvSpPr>
          <p:cNvPr id="24" name="Text 22"/>
          <p:cNvSpPr/>
          <p:nvPr/>
        </p:nvSpPr>
        <p:spPr>
          <a:xfrm>
            <a:off x="12954000" y="5628283"/>
            <a:ext cx="4819650" cy="342900"/>
          </a:xfrm>
          <a:prstGeom prst="rect">
            <a:avLst/>
          </a:prstGeom>
          <a:noFill/>
          <a:ln/>
        </p:spPr>
        <p:txBody>
          <a:bodyPr wrap="square" lIns="25400" tIns="25400" rIns="25400" bIns="25400" rtlCol="0" anchor="t">
            <a:normAutofit/>
          </a:bodyPr>
          <a:lstStyle/>
          <a:p>
            <a:pPr marL="0" indent="0" algn="l">
              <a:buNone/>
            </a:pPr>
            <a:r>
              <a:rPr lang="en-US" sz="2100" b="1" dirty="0">
                <a:solidFill>
                  <a:srgbClr val="141414"/>
                </a:solidFill>
                <a:latin typeface="Helvetica" pitchFamily="34" charset="0"/>
                <a:ea typeface="Helvetica" pitchFamily="34" charset="-122"/>
                <a:cs typeface="Helvetica" pitchFamily="34" charset="-120"/>
              </a:rPr>
              <a:t>≥ 99%</a:t>
            </a:r>
            <a:endParaRPr lang="en-US" sz="2100" dirty="0"/>
          </a:p>
        </p:txBody>
      </p:sp>
      <p:sp>
        <p:nvSpPr>
          <p:cNvPr id="25" name="Shape 23"/>
          <p:cNvSpPr/>
          <p:nvPr/>
        </p:nvSpPr>
        <p:spPr>
          <a:xfrm>
            <a:off x="952500" y="6123583"/>
            <a:ext cx="16383000" cy="9525"/>
          </a:xfrm>
          <a:prstGeom prst="rect">
            <a:avLst/>
          </a:prstGeom>
          <a:solidFill>
            <a:srgbClr val="D9D9D4"/>
          </a:solidFill>
          <a:ln/>
        </p:spPr>
      </p:sp>
      <p:sp>
        <p:nvSpPr>
          <p:cNvPr id="26" name="Text 24"/>
          <p:cNvSpPr/>
          <p:nvPr/>
        </p:nvSpPr>
        <p:spPr>
          <a:xfrm>
            <a:off x="952500" y="6320433"/>
            <a:ext cx="2095500" cy="342900"/>
          </a:xfrm>
          <a:prstGeom prst="rect">
            <a:avLst/>
          </a:prstGeom>
          <a:noFill/>
          <a:ln/>
        </p:spPr>
        <p:txBody>
          <a:bodyPr wrap="square" lIns="25400" tIns="25400" rIns="25400" bIns="25400" rtlCol="0" anchor="t">
            <a:normAutofit/>
          </a:bodyPr>
          <a:lstStyle/>
          <a:p>
            <a:pPr marL="0" indent="0" algn="l">
              <a:buNone/>
            </a:pPr>
            <a:r>
              <a:rPr lang="en-US" sz="2100" dirty="0">
                <a:solidFill>
                  <a:srgbClr val="5C5C58"/>
                </a:solidFill>
                <a:latin typeface="Helvetica" pitchFamily="34" charset="0"/>
                <a:ea typeface="Helvetica" pitchFamily="34" charset="-122"/>
                <a:cs typeface="Helvetica" pitchFamily="34" charset="-120"/>
              </a:rPr>
              <a:t>Quality</a:t>
            </a:r>
            <a:endParaRPr lang="en-US" sz="2100" dirty="0"/>
          </a:p>
        </p:txBody>
      </p:sp>
      <p:sp>
        <p:nvSpPr>
          <p:cNvPr id="27" name="Text 25"/>
          <p:cNvSpPr/>
          <p:nvPr/>
        </p:nvSpPr>
        <p:spPr>
          <a:xfrm>
            <a:off x="3162300" y="6320433"/>
            <a:ext cx="6537960" cy="342900"/>
          </a:xfrm>
          <a:prstGeom prst="rect">
            <a:avLst/>
          </a:prstGeom>
          <a:noFill/>
          <a:ln/>
        </p:spPr>
        <p:txBody>
          <a:bodyPr wrap="square" lIns="25400" tIns="25400" rIns="25400" bIns="25400" rtlCol="0" anchor="t">
            <a:normAutofit/>
          </a:bodyPr>
          <a:lstStyle/>
          <a:p>
            <a:pPr marL="0" indent="0" algn="l">
              <a:buNone/>
            </a:pPr>
            <a:r>
              <a:rPr lang="en-US" sz="2100" dirty="0">
                <a:solidFill>
                  <a:srgbClr val="141414"/>
                </a:solidFill>
                <a:latin typeface="Helvetica" pitchFamily="34" charset="0"/>
                <a:ea typeface="Helvetica" pitchFamily="34" charset="-122"/>
                <a:cs typeface="Helvetica" pitchFamily="34" charset="-120"/>
              </a:rPr>
              <a:t>Critical risks missed on audit</a:t>
            </a:r>
            <a:endParaRPr lang="en-US" sz="2100" dirty="0"/>
          </a:p>
        </p:txBody>
      </p:sp>
      <p:sp>
        <p:nvSpPr>
          <p:cNvPr id="28" name="Text 26"/>
          <p:cNvSpPr/>
          <p:nvPr/>
        </p:nvSpPr>
        <p:spPr>
          <a:xfrm>
            <a:off x="9410700" y="6320433"/>
            <a:ext cx="3562350" cy="342900"/>
          </a:xfrm>
          <a:prstGeom prst="rect">
            <a:avLst/>
          </a:prstGeom>
          <a:noFill/>
          <a:ln/>
        </p:spPr>
        <p:txBody>
          <a:bodyPr wrap="square" lIns="25400" tIns="25400" rIns="25400" bIns="25400" rtlCol="0" anchor="t">
            <a:normAutofit/>
          </a:bodyPr>
          <a:lstStyle/>
          <a:p>
            <a:pPr marL="0" indent="0" algn="l">
              <a:buNone/>
            </a:pPr>
            <a:r>
              <a:rPr lang="en-US" sz="2100" dirty="0">
                <a:solidFill>
                  <a:srgbClr val="141414"/>
                </a:solidFill>
                <a:latin typeface="Helvetica" pitchFamily="34" charset="0"/>
                <a:ea typeface="Helvetica" pitchFamily="34" charset="-122"/>
                <a:cs typeface="Helvetica" pitchFamily="34" charset="-120"/>
              </a:rPr>
              <a:t>Unknown; has happened</a:t>
            </a:r>
            <a:endParaRPr lang="en-US" sz="2100" dirty="0"/>
          </a:p>
        </p:txBody>
      </p:sp>
      <p:sp>
        <p:nvSpPr>
          <p:cNvPr id="29" name="Text 27"/>
          <p:cNvSpPr/>
          <p:nvPr/>
        </p:nvSpPr>
        <p:spPr>
          <a:xfrm>
            <a:off x="12954000" y="6320433"/>
            <a:ext cx="4819650" cy="342900"/>
          </a:xfrm>
          <a:prstGeom prst="rect">
            <a:avLst/>
          </a:prstGeom>
          <a:noFill/>
          <a:ln/>
        </p:spPr>
        <p:txBody>
          <a:bodyPr wrap="square" lIns="25400" tIns="25400" rIns="25400" bIns="25400" rtlCol="0" anchor="t">
            <a:normAutofit/>
          </a:bodyPr>
          <a:lstStyle/>
          <a:p>
            <a:pPr marL="0" indent="0" algn="l">
              <a:buNone/>
            </a:pPr>
            <a:r>
              <a:rPr lang="en-US" sz="2100" b="1" dirty="0">
                <a:solidFill>
                  <a:srgbClr val="141414"/>
                </a:solidFill>
                <a:latin typeface="Helvetica" pitchFamily="34" charset="0"/>
                <a:ea typeface="Helvetica" pitchFamily="34" charset="-122"/>
                <a:cs typeface="Helvetica" pitchFamily="34" charset="-120"/>
              </a:rPr>
              <a:t>Zero per 20 audited reviews</a:t>
            </a:r>
            <a:endParaRPr lang="en-US" sz="2100" dirty="0"/>
          </a:p>
        </p:txBody>
      </p:sp>
      <p:sp>
        <p:nvSpPr>
          <p:cNvPr id="30" name="Shape 28"/>
          <p:cNvSpPr/>
          <p:nvPr/>
        </p:nvSpPr>
        <p:spPr>
          <a:xfrm>
            <a:off x="952500" y="6815733"/>
            <a:ext cx="16383000" cy="9525"/>
          </a:xfrm>
          <a:prstGeom prst="rect">
            <a:avLst/>
          </a:prstGeom>
          <a:solidFill>
            <a:srgbClr val="D9D9D4"/>
          </a:solidFill>
          <a:ln/>
        </p:spPr>
      </p:sp>
      <p:sp>
        <p:nvSpPr>
          <p:cNvPr id="31" name="Text 29"/>
          <p:cNvSpPr/>
          <p:nvPr/>
        </p:nvSpPr>
        <p:spPr>
          <a:xfrm>
            <a:off x="952500" y="7012583"/>
            <a:ext cx="2095500" cy="342900"/>
          </a:xfrm>
          <a:prstGeom prst="rect">
            <a:avLst/>
          </a:prstGeom>
          <a:noFill/>
          <a:ln/>
        </p:spPr>
        <p:txBody>
          <a:bodyPr wrap="square" lIns="25400" tIns="25400" rIns="25400" bIns="25400" rtlCol="0" anchor="t">
            <a:normAutofit/>
          </a:bodyPr>
          <a:lstStyle/>
          <a:p>
            <a:pPr marL="0" indent="0" algn="l">
              <a:buNone/>
            </a:pPr>
            <a:r>
              <a:rPr lang="en-US" sz="2100" dirty="0">
                <a:solidFill>
                  <a:srgbClr val="5C5C58"/>
                </a:solidFill>
                <a:latin typeface="Helvetica" pitchFamily="34" charset="0"/>
                <a:ea typeface="Helvetica" pitchFamily="34" charset="-122"/>
                <a:cs typeface="Helvetica" pitchFamily="34" charset="-120"/>
              </a:rPr>
              <a:t>Adoption</a:t>
            </a:r>
            <a:endParaRPr lang="en-US" sz="2100" dirty="0"/>
          </a:p>
        </p:txBody>
      </p:sp>
      <p:sp>
        <p:nvSpPr>
          <p:cNvPr id="32" name="Text 30"/>
          <p:cNvSpPr/>
          <p:nvPr/>
        </p:nvSpPr>
        <p:spPr>
          <a:xfrm>
            <a:off x="3162300" y="7012583"/>
            <a:ext cx="6537960" cy="342900"/>
          </a:xfrm>
          <a:prstGeom prst="rect">
            <a:avLst/>
          </a:prstGeom>
          <a:noFill/>
          <a:ln/>
        </p:spPr>
        <p:txBody>
          <a:bodyPr wrap="square" lIns="25400" tIns="25400" rIns="25400" bIns="25400" rtlCol="0" anchor="t">
            <a:normAutofit/>
          </a:bodyPr>
          <a:lstStyle/>
          <a:p>
            <a:pPr marL="0" indent="0" algn="l">
              <a:buNone/>
            </a:pPr>
            <a:r>
              <a:rPr lang="en-US" sz="2100" dirty="0">
                <a:solidFill>
                  <a:srgbClr val="141414"/>
                </a:solidFill>
                <a:latin typeface="Helvetica" pitchFamily="34" charset="0"/>
                <a:ea typeface="Helvetica" pitchFamily="34" charset="-122"/>
                <a:cs typeface="Helvetica" pitchFamily="34" charset="-120"/>
              </a:rPr>
              <a:t>Eligible contracts run through the tool</a:t>
            </a:r>
            <a:endParaRPr lang="en-US" sz="2100" dirty="0"/>
          </a:p>
        </p:txBody>
      </p:sp>
      <p:sp>
        <p:nvSpPr>
          <p:cNvPr id="33" name="Text 31"/>
          <p:cNvSpPr/>
          <p:nvPr/>
        </p:nvSpPr>
        <p:spPr>
          <a:xfrm>
            <a:off x="9410700" y="7012583"/>
            <a:ext cx="3562350" cy="342900"/>
          </a:xfrm>
          <a:prstGeom prst="rect">
            <a:avLst/>
          </a:prstGeom>
          <a:noFill/>
          <a:ln/>
        </p:spPr>
        <p:txBody>
          <a:bodyPr wrap="square" lIns="25400" tIns="25400" rIns="25400" bIns="25400" rtlCol="0" anchor="t">
            <a:normAutofit/>
          </a:bodyPr>
          <a:lstStyle/>
          <a:p>
            <a:pPr marL="0" indent="0" algn="l">
              <a:buNone/>
            </a:pPr>
            <a:r>
              <a:rPr lang="en-US" sz="2100" dirty="0">
                <a:solidFill>
                  <a:srgbClr val="141414"/>
                </a:solidFill>
                <a:latin typeface="Helvetica" pitchFamily="34" charset="0"/>
                <a:ea typeface="Helvetica" pitchFamily="34" charset="-122"/>
                <a:cs typeface="Helvetica" pitchFamily="34" charset="-120"/>
              </a:rPr>
              <a:t>0</a:t>
            </a:r>
            <a:endParaRPr lang="en-US" sz="2100" dirty="0"/>
          </a:p>
        </p:txBody>
      </p:sp>
      <p:sp>
        <p:nvSpPr>
          <p:cNvPr id="34" name="Text 32"/>
          <p:cNvSpPr/>
          <p:nvPr/>
        </p:nvSpPr>
        <p:spPr>
          <a:xfrm>
            <a:off x="12954000" y="7012583"/>
            <a:ext cx="4819650" cy="342900"/>
          </a:xfrm>
          <a:prstGeom prst="rect">
            <a:avLst/>
          </a:prstGeom>
          <a:noFill/>
          <a:ln/>
        </p:spPr>
        <p:txBody>
          <a:bodyPr wrap="square" lIns="25400" tIns="25400" rIns="25400" bIns="25400" rtlCol="0" anchor="t">
            <a:normAutofit/>
          </a:bodyPr>
          <a:lstStyle/>
          <a:p>
            <a:pPr marL="0" indent="0" algn="l">
              <a:buNone/>
            </a:pPr>
            <a:r>
              <a:rPr lang="en-US" sz="2100" b="1" dirty="0">
                <a:solidFill>
                  <a:srgbClr val="141414"/>
                </a:solidFill>
                <a:latin typeface="Helvetica" pitchFamily="34" charset="0"/>
                <a:ea typeface="Helvetica" pitchFamily="34" charset="-122"/>
                <a:cs typeface="Helvetica" pitchFamily="34" charset="-120"/>
              </a:rPr>
              <a:t>≥ 85% by month 3</a:t>
            </a:r>
            <a:endParaRPr lang="en-US" sz="2100" dirty="0"/>
          </a:p>
        </p:txBody>
      </p:sp>
      <p:sp>
        <p:nvSpPr>
          <p:cNvPr id="35" name="Shape 33"/>
          <p:cNvSpPr/>
          <p:nvPr/>
        </p:nvSpPr>
        <p:spPr>
          <a:xfrm>
            <a:off x="952500" y="8200033"/>
            <a:ext cx="16383000" cy="9525"/>
          </a:xfrm>
          <a:prstGeom prst="rect">
            <a:avLst/>
          </a:prstGeom>
          <a:solidFill>
            <a:srgbClr val="141414"/>
          </a:solidFill>
          <a:ln/>
        </p:spPr>
      </p:sp>
      <p:sp>
        <p:nvSpPr>
          <p:cNvPr id="36" name="Shape 34"/>
          <p:cNvSpPr/>
          <p:nvPr/>
        </p:nvSpPr>
        <p:spPr>
          <a:xfrm>
            <a:off x="952500" y="7507883"/>
            <a:ext cx="16383000" cy="9525"/>
          </a:xfrm>
          <a:prstGeom prst="rect">
            <a:avLst/>
          </a:prstGeom>
          <a:solidFill>
            <a:srgbClr val="D9D9D4"/>
          </a:solidFill>
          <a:ln/>
        </p:spPr>
      </p:sp>
      <p:sp>
        <p:nvSpPr>
          <p:cNvPr id="37" name="Text 35"/>
          <p:cNvSpPr/>
          <p:nvPr/>
        </p:nvSpPr>
        <p:spPr>
          <a:xfrm>
            <a:off x="952500" y="7704733"/>
            <a:ext cx="2095500" cy="342900"/>
          </a:xfrm>
          <a:prstGeom prst="rect">
            <a:avLst/>
          </a:prstGeom>
          <a:noFill/>
          <a:ln/>
        </p:spPr>
        <p:txBody>
          <a:bodyPr wrap="square" lIns="25400" tIns="25400" rIns="25400" bIns="25400" rtlCol="0" anchor="t">
            <a:normAutofit/>
          </a:bodyPr>
          <a:lstStyle/>
          <a:p>
            <a:pPr marL="0" indent="0" algn="l">
              <a:buNone/>
            </a:pPr>
            <a:r>
              <a:rPr lang="en-US" sz="2100" dirty="0">
                <a:solidFill>
                  <a:srgbClr val="5C5C58"/>
                </a:solidFill>
                <a:latin typeface="Helvetica" pitchFamily="34" charset="0"/>
                <a:ea typeface="Helvetica" pitchFamily="34" charset="-122"/>
                <a:cs typeface="Helvetica" pitchFamily="34" charset="-120"/>
              </a:rPr>
              <a:t>Trust</a:t>
            </a:r>
            <a:endParaRPr lang="en-US" sz="2100" dirty="0"/>
          </a:p>
        </p:txBody>
      </p:sp>
      <p:sp>
        <p:nvSpPr>
          <p:cNvPr id="38" name="Text 36"/>
          <p:cNvSpPr/>
          <p:nvPr/>
        </p:nvSpPr>
        <p:spPr>
          <a:xfrm>
            <a:off x="3162300" y="7704733"/>
            <a:ext cx="6537960" cy="342900"/>
          </a:xfrm>
          <a:prstGeom prst="rect">
            <a:avLst/>
          </a:prstGeom>
          <a:noFill/>
          <a:ln/>
        </p:spPr>
        <p:txBody>
          <a:bodyPr wrap="square" lIns="25400" tIns="25400" rIns="25400" bIns="25400" rtlCol="0" anchor="t">
            <a:normAutofit/>
          </a:bodyPr>
          <a:lstStyle/>
          <a:p>
            <a:pPr marL="0" indent="0" algn="l">
              <a:buNone/>
            </a:pPr>
            <a:r>
              <a:rPr lang="en-US" sz="2100" dirty="0">
                <a:solidFill>
                  <a:srgbClr val="141414"/>
                </a:solidFill>
                <a:latin typeface="Helvetica" pitchFamily="34" charset="0"/>
                <a:ea typeface="Helvetica" pitchFamily="34" charset="-122"/>
                <a:cs typeface="Helvetica" pitchFamily="34" charset="-120"/>
              </a:rPr>
              <a:t>High-severity findings accepted as valid</a:t>
            </a:r>
            <a:endParaRPr lang="en-US" sz="2100" dirty="0"/>
          </a:p>
        </p:txBody>
      </p:sp>
      <p:sp>
        <p:nvSpPr>
          <p:cNvPr id="39" name="Text 37"/>
          <p:cNvSpPr/>
          <p:nvPr/>
        </p:nvSpPr>
        <p:spPr>
          <a:xfrm>
            <a:off x="9410700" y="7704733"/>
            <a:ext cx="3562350" cy="342900"/>
          </a:xfrm>
          <a:prstGeom prst="rect">
            <a:avLst/>
          </a:prstGeom>
          <a:noFill/>
          <a:ln/>
        </p:spPr>
        <p:txBody>
          <a:bodyPr wrap="square" lIns="25400" tIns="25400" rIns="25400" bIns="25400" rtlCol="0" anchor="t">
            <a:normAutofit/>
          </a:bodyPr>
          <a:lstStyle/>
          <a:p>
            <a:pPr marL="0" indent="0" algn="l">
              <a:buNone/>
            </a:pPr>
            <a:r>
              <a:rPr lang="en-US" sz="2100" dirty="0">
                <a:solidFill>
                  <a:srgbClr val="141414"/>
                </a:solidFill>
                <a:latin typeface="Helvetica" pitchFamily="34" charset="0"/>
                <a:ea typeface="Helvetica" pitchFamily="34" charset="-122"/>
                <a:cs typeface="Helvetica" pitchFamily="34" charset="-120"/>
              </a:rPr>
              <a:t>n/a</a:t>
            </a:r>
            <a:endParaRPr lang="en-US" sz="2100" dirty="0"/>
          </a:p>
        </p:txBody>
      </p:sp>
      <p:sp>
        <p:nvSpPr>
          <p:cNvPr id="40" name="Text 38"/>
          <p:cNvSpPr/>
          <p:nvPr/>
        </p:nvSpPr>
        <p:spPr>
          <a:xfrm>
            <a:off x="12954000" y="7704733"/>
            <a:ext cx="4819650" cy="342900"/>
          </a:xfrm>
          <a:prstGeom prst="rect">
            <a:avLst/>
          </a:prstGeom>
          <a:noFill/>
          <a:ln/>
        </p:spPr>
        <p:txBody>
          <a:bodyPr wrap="square" lIns="25400" tIns="25400" rIns="25400" bIns="25400" rtlCol="0" anchor="t">
            <a:normAutofit/>
          </a:bodyPr>
          <a:lstStyle/>
          <a:p>
            <a:pPr marL="0" indent="0" algn="l">
              <a:buNone/>
            </a:pPr>
            <a:r>
              <a:rPr lang="en-US" sz="2100" b="1" dirty="0">
                <a:solidFill>
                  <a:srgbClr val="141414"/>
                </a:solidFill>
                <a:latin typeface="Helvetica" pitchFamily="34" charset="0"/>
                <a:ea typeface="Helvetica" pitchFamily="34" charset="-122"/>
                <a:cs typeface="Helvetica" pitchFamily="34" charset="-120"/>
              </a:rPr>
              <a:t>≥ 80% by month 3</a:t>
            </a:r>
            <a:endParaRPr lang="en-US" sz="2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AFAF8"/>
        </a:solidFill>
        <a:effectLst/>
      </p:bgPr>
    </p:bg>
    <p:spTree>
      <p:nvGrpSpPr>
        <p:cNvPr id="1" name=""/>
        <p:cNvGrpSpPr/>
        <p:nvPr/>
      </p:nvGrpSpPr>
      <p:grpSpPr>
        <a:xfrm>
          <a:off x="0" y="0"/>
          <a:ext cx="0" cy="0"/>
          <a:chOff x="0" y="0"/>
          <a:chExt cx="0" cy="0"/>
        </a:xfrm>
      </p:grpSpPr>
      <p:sp>
        <p:nvSpPr>
          <p:cNvPr id="2" name="Shape 0"/>
          <p:cNvSpPr/>
          <p:nvPr/>
        </p:nvSpPr>
        <p:spPr>
          <a:xfrm>
            <a:off x="952500" y="857250"/>
            <a:ext cx="16383000" cy="25400"/>
          </a:xfrm>
          <a:prstGeom prst="rect">
            <a:avLst/>
          </a:prstGeom>
          <a:solidFill>
            <a:srgbClr val="141414"/>
          </a:solidFill>
          <a:ln/>
        </p:spPr>
      </p:sp>
      <p:sp>
        <p:nvSpPr>
          <p:cNvPr id="3" name="Text 1"/>
          <p:cNvSpPr/>
          <p:nvPr/>
        </p:nvSpPr>
        <p:spPr>
          <a:xfrm>
            <a:off x="952500" y="1073150"/>
            <a:ext cx="3038257" cy="304800"/>
          </a:xfrm>
          <a:prstGeom prst="rect">
            <a:avLst/>
          </a:prstGeom>
          <a:noFill/>
          <a:ln/>
        </p:spPr>
        <p:txBody>
          <a:bodyPr wrap="square" lIns="25400" tIns="25400" rIns="25400" bIns="25400" rtlCol="0" anchor="t">
            <a:normAutofit/>
          </a:bodyPr>
          <a:lstStyle/>
          <a:p>
            <a:pPr marL="0" indent="0" algn="l">
              <a:buNone/>
            </a:pPr>
            <a:r>
              <a:rPr lang="en-US" sz="1800" kern="0" spc="108" dirty="0">
                <a:solidFill>
                  <a:srgbClr val="141414"/>
                </a:solidFill>
                <a:latin typeface="Helvetica" pitchFamily="34" charset="0"/>
                <a:ea typeface="Helvetica" pitchFamily="34" charset="-122"/>
                <a:cs typeface="Helvetica" pitchFamily="34" charset="-120"/>
              </a:rPr>
              <a:t>04 SUCCESS METRICS</a:t>
            </a:r>
            <a:endParaRPr lang="en-US" sz="1800" dirty="0"/>
          </a:p>
        </p:txBody>
      </p:sp>
      <p:sp>
        <p:nvSpPr>
          <p:cNvPr id="4" name="Text 2"/>
          <p:cNvSpPr/>
          <p:nvPr/>
        </p:nvSpPr>
        <p:spPr>
          <a:xfrm>
            <a:off x="13140630" y="1073150"/>
            <a:ext cx="4614356" cy="304800"/>
          </a:xfrm>
          <a:prstGeom prst="rect">
            <a:avLst/>
          </a:prstGeom>
          <a:noFill/>
          <a:ln/>
        </p:spPr>
        <p:txBody>
          <a:bodyPr wrap="square" lIns="25400" tIns="25400" rIns="25400" bIns="25400" rtlCol="0" anchor="t">
            <a:normAutofit/>
          </a:bodyPr>
          <a:lstStyle/>
          <a:p>
            <a:pPr marL="0" indent="0" algn="l">
              <a:buNone/>
            </a:pPr>
            <a:r>
              <a:rPr lang="en-US" sz="1800" kern="0" spc="108" dirty="0">
                <a:solidFill>
                  <a:srgbClr val="141414"/>
                </a:solidFill>
                <a:latin typeface="Helvetica" pitchFamily="34" charset="0"/>
                <a:ea typeface="Helvetica" pitchFamily="34" charset="-122"/>
                <a:cs typeface="Helvetica" pitchFamily="34" charset="-120"/>
              </a:rPr>
              <a:t>ATLIQ CONTRACT RISK ANALYZER</a:t>
            </a:r>
            <a:endParaRPr lang="en-US" sz="1800" dirty="0"/>
          </a:p>
        </p:txBody>
      </p:sp>
      <p:sp>
        <p:nvSpPr>
          <p:cNvPr id="5" name="Text 3"/>
          <p:cNvSpPr/>
          <p:nvPr/>
        </p:nvSpPr>
        <p:spPr>
          <a:xfrm>
            <a:off x="952500" y="1797050"/>
            <a:ext cx="14716125" cy="1354733"/>
          </a:xfrm>
          <a:prstGeom prst="rect">
            <a:avLst/>
          </a:prstGeom>
          <a:noFill/>
          <a:ln/>
        </p:spPr>
        <p:txBody>
          <a:bodyPr wrap="square" lIns="25400" tIns="25400" rIns="25400" bIns="25400" rtlCol="0" anchor="t">
            <a:normAutofit/>
          </a:bodyPr>
          <a:lstStyle/>
          <a:p>
            <a:pPr marL="0" indent="0" algn="l">
              <a:lnSpc>
                <a:spcPct val="94255"/>
              </a:lnSpc>
              <a:buNone/>
            </a:pPr>
            <a:r>
              <a:rPr lang="en-US" sz="4800" b="1" kern="0" spc="-120" dirty="0">
                <a:solidFill>
                  <a:srgbClr val="141414"/>
                </a:solidFill>
                <a:latin typeface="Helvetica" pitchFamily="34" charset="0"/>
                <a:ea typeface="Helvetica" pitchFamily="34" charset="-122"/>
                <a:cs typeface="Helvetica" pitchFamily="34" charset="-120"/>
              </a:rPr>
              <a:t>Launch depends on passing defined eval thresholds</a:t>
            </a:r>
            <a:endParaRPr lang="en-US" sz="4800" dirty="0"/>
          </a:p>
        </p:txBody>
      </p:sp>
      <p:sp>
        <p:nvSpPr>
          <p:cNvPr id="6" name="Shape 4"/>
          <p:cNvSpPr/>
          <p:nvPr/>
        </p:nvSpPr>
        <p:spPr>
          <a:xfrm>
            <a:off x="952500" y="3647083"/>
            <a:ext cx="3752850" cy="9525"/>
          </a:xfrm>
          <a:prstGeom prst="rect">
            <a:avLst/>
          </a:prstGeom>
          <a:solidFill>
            <a:srgbClr val="141414"/>
          </a:solidFill>
          <a:ln/>
        </p:spPr>
      </p:sp>
      <p:sp>
        <p:nvSpPr>
          <p:cNvPr id="7" name="Text 5"/>
          <p:cNvSpPr/>
          <p:nvPr/>
        </p:nvSpPr>
        <p:spPr>
          <a:xfrm>
            <a:off x="952500" y="3824883"/>
            <a:ext cx="4128135" cy="952500"/>
          </a:xfrm>
          <a:prstGeom prst="rect">
            <a:avLst/>
          </a:prstGeom>
          <a:noFill/>
          <a:ln/>
        </p:spPr>
        <p:txBody>
          <a:bodyPr wrap="square" lIns="25400" tIns="25400" rIns="25400" bIns="25400" rtlCol="0" anchor="t">
            <a:normAutofit/>
          </a:bodyPr>
          <a:lstStyle/>
          <a:p>
            <a:pPr marL="0" indent="0" algn="l">
              <a:lnSpc>
                <a:spcPct val="86747"/>
              </a:lnSpc>
              <a:buNone/>
            </a:pPr>
            <a:r>
              <a:rPr lang="en-US" sz="7200" b="1" kern="0" spc="-288" dirty="0">
                <a:solidFill>
                  <a:srgbClr val="141414"/>
                </a:solidFill>
                <a:latin typeface="Helvetica" pitchFamily="34" charset="0"/>
                <a:ea typeface="Helvetica" pitchFamily="34" charset="-122"/>
                <a:cs typeface="Helvetica" pitchFamily="34" charset="-120"/>
              </a:rPr>
              <a:t>95%</a:t>
            </a:r>
            <a:endParaRPr lang="en-US" sz="7200" dirty="0"/>
          </a:p>
        </p:txBody>
      </p:sp>
      <p:sp>
        <p:nvSpPr>
          <p:cNvPr id="8" name="Text 6"/>
          <p:cNvSpPr/>
          <p:nvPr/>
        </p:nvSpPr>
        <p:spPr>
          <a:xfrm>
            <a:off x="952500" y="4853583"/>
            <a:ext cx="3865436" cy="655241"/>
          </a:xfrm>
          <a:prstGeom prst="rect">
            <a:avLst/>
          </a:prstGeom>
          <a:noFill/>
          <a:ln/>
        </p:spPr>
        <p:txBody>
          <a:bodyPr wrap="square" lIns="25400" tIns="25400" rIns="25400" bIns="25400" rtlCol="0" anchor="t">
            <a:normAutofit/>
          </a:bodyPr>
          <a:lstStyle/>
          <a:p>
            <a:pPr marL="0" indent="0" algn="l">
              <a:lnSpc>
                <a:spcPct val="115714"/>
              </a:lnSpc>
              <a:buNone/>
            </a:pPr>
            <a:r>
              <a:rPr lang="en-US" sz="1800" dirty="0">
                <a:solidFill>
                  <a:srgbClr val="141414"/>
                </a:solidFill>
                <a:latin typeface="Helvetica" pitchFamily="34" charset="0"/>
                <a:ea typeface="Helvetica" pitchFamily="34" charset="-122"/>
                <a:cs typeface="Helvetica" pitchFamily="34" charset="-120"/>
              </a:rPr>
              <a:t>Critical-risk recall; 100% on hard stops</a:t>
            </a:r>
            <a:endParaRPr lang="en-US" sz="1800" dirty="0"/>
          </a:p>
        </p:txBody>
      </p:sp>
      <p:sp>
        <p:nvSpPr>
          <p:cNvPr id="9" name="Shape 7"/>
          <p:cNvSpPr/>
          <p:nvPr/>
        </p:nvSpPr>
        <p:spPr>
          <a:xfrm>
            <a:off x="5162550" y="3647083"/>
            <a:ext cx="3752850" cy="9525"/>
          </a:xfrm>
          <a:prstGeom prst="rect">
            <a:avLst/>
          </a:prstGeom>
          <a:solidFill>
            <a:srgbClr val="141414"/>
          </a:solidFill>
          <a:ln/>
        </p:spPr>
      </p:sp>
      <p:sp>
        <p:nvSpPr>
          <p:cNvPr id="10" name="Text 8"/>
          <p:cNvSpPr/>
          <p:nvPr/>
        </p:nvSpPr>
        <p:spPr>
          <a:xfrm>
            <a:off x="5162550" y="3824883"/>
            <a:ext cx="4128135" cy="952500"/>
          </a:xfrm>
          <a:prstGeom prst="rect">
            <a:avLst/>
          </a:prstGeom>
          <a:noFill/>
          <a:ln/>
        </p:spPr>
        <p:txBody>
          <a:bodyPr wrap="square" lIns="25400" tIns="25400" rIns="25400" bIns="25400" rtlCol="0" anchor="t">
            <a:normAutofit/>
          </a:bodyPr>
          <a:lstStyle/>
          <a:p>
            <a:pPr marL="0" indent="0" algn="l">
              <a:lnSpc>
                <a:spcPct val="86747"/>
              </a:lnSpc>
              <a:buNone/>
            </a:pPr>
            <a:r>
              <a:rPr lang="en-US" sz="7200" b="1" kern="0" spc="-288" dirty="0">
                <a:solidFill>
                  <a:srgbClr val="141414"/>
                </a:solidFill>
                <a:latin typeface="Helvetica" pitchFamily="34" charset="0"/>
                <a:ea typeface="Helvetica" pitchFamily="34" charset="-122"/>
                <a:cs typeface="Helvetica" pitchFamily="34" charset="-120"/>
              </a:rPr>
              <a:t>99%</a:t>
            </a:r>
            <a:endParaRPr lang="en-US" sz="7200" dirty="0"/>
          </a:p>
        </p:txBody>
      </p:sp>
      <p:sp>
        <p:nvSpPr>
          <p:cNvPr id="11" name="Text 9"/>
          <p:cNvSpPr/>
          <p:nvPr/>
        </p:nvSpPr>
        <p:spPr>
          <a:xfrm>
            <a:off x="5162550" y="4853583"/>
            <a:ext cx="4128135" cy="346670"/>
          </a:xfrm>
          <a:prstGeom prst="rect">
            <a:avLst/>
          </a:prstGeom>
          <a:noFill/>
          <a:ln/>
        </p:spPr>
        <p:txBody>
          <a:bodyPr wrap="square" lIns="25400" tIns="25400" rIns="25400" bIns="25400" rtlCol="0" anchor="t">
            <a:normAutofit/>
          </a:bodyPr>
          <a:lstStyle/>
          <a:p>
            <a:pPr marL="0" indent="0" algn="l">
              <a:lnSpc>
                <a:spcPct val="115714"/>
              </a:lnSpc>
              <a:buNone/>
            </a:pPr>
            <a:r>
              <a:rPr lang="en-US" sz="1800" dirty="0">
                <a:solidFill>
                  <a:srgbClr val="141414"/>
                </a:solidFill>
                <a:latin typeface="Helvetica" pitchFamily="34" charset="0"/>
                <a:ea typeface="Helvetica" pitchFamily="34" charset="-122"/>
                <a:cs typeface="Helvetica" pitchFamily="34" charset="-120"/>
              </a:rPr>
              <a:t>Clauses segmented and classified</a:t>
            </a:r>
            <a:endParaRPr lang="en-US" sz="1800" dirty="0"/>
          </a:p>
        </p:txBody>
      </p:sp>
      <p:sp>
        <p:nvSpPr>
          <p:cNvPr id="12" name="Shape 10"/>
          <p:cNvSpPr/>
          <p:nvPr/>
        </p:nvSpPr>
        <p:spPr>
          <a:xfrm>
            <a:off x="9372600" y="3647083"/>
            <a:ext cx="3752850" cy="9525"/>
          </a:xfrm>
          <a:prstGeom prst="rect">
            <a:avLst/>
          </a:prstGeom>
          <a:solidFill>
            <a:srgbClr val="141414"/>
          </a:solidFill>
          <a:ln/>
        </p:spPr>
      </p:sp>
      <p:sp>
        <p:nvSpPr>
          <p:cNvPr id="13" name="Text 11"/>
          <p:cNvSpPr/>
          <p:nvPr/>
        </p:nvSpPr>
        <p:spPr>
          <a:xfrm>
            <a:off x="9372600" y="3824883"/>
            <a:ext cx="4128135" cy="952500"/>
          </a:xfrm>
          <a:prstGeom prst="rect">
            <a:avLst/>
          </a:prstGeom>
          <a:noFill/>
          <a:ln/>
        </p:spPr>
        <p:txBody>
          <a:bodyPr wrap="square" lIns="25400" tIns="25400" rIns="25400" bIns="25400" rtlCol="0" anchor="t">
            <a:normAutofit/>
          </a:bodyPr>
          <a:lstStyle/>
          <a:p>
            <a:pPr marL="0" indent="0" algn="l">
              <a:lnSpc>
                <a:spcPct val="86747"/>
              </a:lnSpc>
              <a:buNone/>
            </a:pPr>
            <a:r>
              <a:rPr lang="en-US" sz="7200" b="1" kern="0" spc="-288" dirty="0">
                <a:solidFill>
                  <a:srgbClr val="141414"/>
                </a:solidFill>
                <a:latin typeface="Helvetica" pitchFamily="34" charset="0"/>
                <a:ea typeface="Helvetica" pitchFamily="34" charset="-122"/>
                <a:cs typeface="Helvetica" pitchFamily="34" charset="-120"/>
              </a:rPr>
              <a:t>98%</a:t>
            </a:r>
            <a:endParaRPr lang="en-US" sz="7200" dirty="0"/>
          </a:p>
        </p:txBody>
      </p:sp>
      <p:sp>
        <p:nvSpPr>
          <p:cNvPr id="14" name="Text 12"/>
          <p:cNvSpPr/>
          <p:nvPr/>
        </p:nvSpPr>
        <p:spPr>
          <a:xfrm>
            <a:off x="9372600" y="4853583"/>
            <a:ext cx="4128135" cy="346670"/>
          </a:xfrm>
          <a:prstGeom prst="rect">
            <a:avLst/>
          </a:prstGeom>
          <a:noFill/>
          <a:ln/>
        </p:spPr>
        <p:txBody>
          <a:bodyPr wrap="square" lIns="25400" tIns="25400" rIns="25400" bIns="25400" rtlCol="0" anchor="t">
            <a:normAutofit/>
          </a:bodyPr>
          <a:lstStyle/>
          <a:p>
            <a:pPr marL="0" indent="0" algn="l">
              <a:lnSpc>
                <a:spcPct val="115714"/>
              </a:lnSpc>
              <a:buNone/>
            </a:pPr>
            <a:r>
              <a:rPr lang="en-US" sz="1800" dirty="0">
                <a:solidFill>
                  <a:srgbClr val="141414"/>
                </a:solidFill>
                <a:latin typeface="Helvetica" pitchFamily="34" charset="0"/>
                <a:ea typeface="Helvetica" pitchFamily="34" charset="-122"/>
                <a:cs typeface="Helvetica" pitchFamily="34" charset="-120"/>
              </a:rPr>
              <a:t>Claims supported by cited source</a:t>
            </a:r>
            <a:endParaRPr lang="en-US" sz="1800" dirty="0"/>
          </a:p>
        </p:txBody>
      </p:sp>
      <p:sp>
        <p:nvSpPr>
          <p:cNvPr id="15" name="Shape 13"/>
          <p:cNvSpPr/>
          <p:nvPr/>
        </p:nvSpPr>
        <p:spPr>
          <a:xfrm>
            <a:off x="13582650" y="3647083"/>
            <a:ext cx="3752850" cy="9525"/>
          </a:xfrm>
          <a:prstGeom prst="rect">
            <a:avLst/>
          </a:prstGeom>
          <a:solidFill>
            <a:srgbClr val="141414"/>
          </a:solidFill>
          <a:ln/>
        </p:spPr>
      </p:sp>
      <p:sp>
        <p:nvSpPr>
          <p:cNvPr id="16" name="Text 14"/>
          <p:cNvSpPr/>
          <p:nvPr/>
        </p:nvSpPr>
        <p:spPr>
          <a:xfrm>
            <a:off x="13582650" y="3824883"/>
            <a:ext cx="4128135" cy="952500"/>
          </a:xfrm>
          <a:prstGeom prst="rect">
            <a:avLst/>
          </a:prstGeom>
          <a:noFill/>
          <a:ln/>
        </p:spPr>
        <p:txBody>
          <a:bodyPr wrap="square" lIns="25400" tIns="25400" rIns="25400" bIns="25400" rtlCol="0" anchor="t">
            <a:normAutofit/>
          </a:bodyPr>
          <a:lstStyle/>
          <a:p>
            <a:pPr marL="0" indent="0" algn="l">
              <a:lnSpc>
                <a:spcPct val="86747"/>
              </a:lnSpc>
              <a:buNone/>
            </a:pPr>
            <a:r>
              <a:rPr lang="en-US" sz="7200" b="1" kern="0" spc="-288" dirty="0">
                <a:solidFill>
                  <a:srgbClr val="141414"/>
                </a:solidFill>
                <a:latin typeface="Helvetica" pitchFamily="34" charset="0"/>
                <a:ea typeface="Helvetica" pitchFamily="34" charset="-122"/>
                <a:cs typeface="Helvetica" pitchFamily="34" charset="-120"/>
              </a:rPr>
              <a:t>90%</a:t>
            </a:r>
            <a:endParaRPr lang="en-US" sz="7200" dirty="0"/>
          </a:p>
        </p:txBody>
      </p:sp>
      <p:sp>
        <p:nvSpPr>
          <p:cNvPr id="17" name="Text 15"/>
          <p:cNvSpPr/>
          <p:nvPr/>
        </p:nvSpPr>
        <p:spPr>
          <a:xfrm>
            <a:off x="13582650" y="4853583"/>
            <a:ext cx="3865436" cy="655241"/>
          </a:xfrm>
          <a:prstGeom prst="rect">
            <a:avLst/>
          </a:prstGeom>
          <a:noFill/>
          <a:ln/>
        </p:spPr>
        <p:txBody>
          <a:bodyPr wrap="square" lIns="25400" tIns="25400" rIns="25400" bIns="25400" rtlCol="0" anchor="t">
            <a:normAutofit/>
          </a:bodyPr>
          <a:lstStyle/>
          <a:p>
            <a:pPr marL="0" indent="0" algn="l">
              <a:lnSpc>
                <a:spcPct val="115714"/>
              </a:lnSpc>
              <a:buNone/>
            </a:pPr>
            <a:r>
              <a:rPr lang="en-US" sz="1800" dirty="0">
                <a:solidFill>
                  <a:srgbClr val="141414"/>
                </a:solidFill>
                <a:latin typeface="Helvetica" pitchFamily="34" charset="0"/>
                <a:ea typeface="Helvetica" pitchFamily="34" charset="-122"/>
                <a:cs typeface="Helvetica" pitchFamily="34" charset="-120"/>
              </a:rPr>
              <a:t>Precision on high and medium findings</a:t>
            </a:r>
            <a:endParaRPr lang="en-US" sz="1800" dirty="0"/>
          </a:p>
        </p:txBody>
      </p:sp>
      <p:sp>
        <p:nvSpPr>
          <p:cNvPr id="18" name="Shape 16"/>
          <p:cNvSpPr/>
          <p:nvPr/>
        </p:nvSpPr>
        <p:spPr>
          <a:xfrm>
            <a:off x="952500" y="5927924"/>
            <a:ext cx="3752850" cy="9525"/>
          </a:xfrm>
          <a:prstGeom prst="rect">
            <a:avLst/>
          </a:prstGeom>
          <a:solidFill>
            <a:srgbClr val="141414"/>
          </a:solidFill>
          <a:ln/>
        </p:spPr>
      </p:sp>
      <p:sp>
        <p:nvSpPr>
          <p:cNvPr id="19" name="Text 17"/>
          <p:cNvSpPr/>
          <p:nvPr/>
        </p:nvSpPr>
        <p:spPr>
          <a:xfrm>
            <a:off x="952500" y="6105724"/>
            <a:ext cx="4128135" cy="952500"/>
          </a:xfrm>
          <a:prstGeom prst="rect">
            <a:avLst/>
          </a:prstGeom>
          <a:noFill/>
          <a:ln/>
        </p:spPr>
        <p:txBody>
          <a:bodyPr wrap="square" lIns="25400" tIns="25400" rIns="25400" bIns="25400" rtlCol="0" anchor="t">
            <a:normAutofit/>
          </a:bodyPr>
          <a:lstStyle/>
          <a:p>
            <a:pPr marL="0" indent="0" algn="l">
              <a:lnSpc>
                <a:spcPct val="86747"/>
              </a:lnSpc>
              <a:buNone/>
            </a:pPr>
            <a:r>
              <a:rPr lang="en-US" sz="7200" b="1" kern="0" spc="-288" dirty="0">
                <a:solidFill>
                  <a:srgbClr val="141414"/>
                </a:solidFill>
                <a:latin typeface="Helvetica" pitchFamily="34" charset="0"/>
                <a:ea typeface="Helvetica" pitchFamily="34" charset="-122"/>
                <a:cs typeface="Helvetica" pitchFamily="34" charset="-120"/>
              </a:rPr>
              <a:t>90%</a:t>
            </a:r>
            <a:endParaRPr lang="en-US" sz="7200" dirty="0"/>
          </a:p>
        </p:txBody>
      </p:sp>
      <p:sp>
        <p:nvSpPr>
          <p:cNvPr id="20" name="Text 18"/>
          <p:cNvSpPr/>
          <p:nvPr/>
        </p:nvSpPr>
        <p:spPr>
          <a:xfrm>
            <a:off x="952500" y="7134424"/>
            <a:ext cx="3865436" cy="655241"/>
          </a:xfrm>
          <a:prstGeom prst="rect">
            <a:avLst/>
          </a:prstGeom>
          <a:noFill/>
          <a:ln/>
        </p:spPr>
        <p:txBody>
          <a:bodyPr wrap="square" lIns="25400" tIns="25400" rIns="25400" bIns="25400" rtlCol="0" anchor="t">
            <a:normAutofit/>
          </a:bodyPr>
          <a:lstStyle/>
          <a:p>
            <a:pPr marL="0" indent="0" algn="l">
              <a:lnSpc>
                <a:spcPct val="115714"/>
              </a:lnSpc>
              <a:buNone/>
            </a:pPr>
            <a:r>
              <a:rPr lang="en-US" sz="1800" dirty="0">
                <a:solidFill>
                  <a:srgbClr val="141414"/>
                </a:solidFill>
                <a:latin typeface="Helvetica" pitchFamily="34" charset="0"/>
                <a:ea typeface="Helvetica" pitchFamily="34" charset="-122"/>
                <a:cs typeface="Helvetica" pitchFamily="34" charset="-120"/>
              </a:rPr>
              <a:t>Conflict detection precision and recall</a:t>
            </a:r>
            <a:endParaRPr lang="en-US" sz="1800" dirty="0"/>
          </a:p>
        </p:txBody>
      </p:sp>
      <p:sp>
        <p:nvSpPr>
          <p:cNvPr id="21" name="Shape 19"/>
          <p:cNvSpPr/>
          <p:nvPr/>
        </p:nvSpPr>
        <p:spPr>
          <a:xfrm>
            <a:off x="5162550" y="5927924"/>
            <a:ext cx="3752850" cy="9525"/>
          </a:xfrm>
          <a:prstGeom prst="rect">
            <a:avLst/>
          </a:prstGeom>
          <a:solidFill>
            <a:srgbClr val="141414"/>
          </a:solidFill>
          <a:ln/>
        </p:spPr>
      </p:sp>
      <p:sp>
        <p:nvSpPr>
          <p:cNvPr id="22" name="Text 20"/>
          <p:cNvSpPr/>
          <p:nvPr/>
        </p:nvSpPr>
        <p:spPr>
          <a:xfrm>
            <a:off x="5162550" y="6105724"/>
            <a:ext cx="4128135" cy="952500"/>
          </a:xfrm>
          <a:prstGeom prst="rect">
            <a:avLst/>
          </a:prstGeom>
          <a:noFill/>
          <a:ln/>
        </p:spPr>
        <p:txBody>
          <a:bodyPr wrap="square" lIns="25400" tIns="25400" rIns="25400" bIns="25400" rtlCol="0" anchor="t">
            <a:normAutofit/>
          </a:bodyPr>
          <a:lstStyle/>
          <a:p>
            <a:pPr marL="0" indent="0" algn="l">
              <a:lnSpc>
                <a:spcPct val="86747"/>
              </a:lnSpc>
              <a:buNone/>
            </a:pPr>
            <a:r>
              <a:rPr lang="en-US" sz="7200" b="1" kern="0" spc="-288" dirty="0">
                <a:solidFill>
                  <a:srgbClr val="141414"/>
                </a:solidFill>
                <a:latin typeface="Helvetica" pitchFamily="34" charset="0"/>
                <a:ea typeface="Helvetica" pitchFamily="34" charset="-122"/>
                <a:cs typeface="Helvetica" pitchFamily="34" charset="-120"/>
              </a:rPr>
              <a:t>99%</a:t>
            </a:r>
            <a:endParaRPr lang="en-US" sz="7200" dirty="0"/>
          </a:p>
        </p:txBody>
      </p:sp>
      <p:sp>
        <p:nvSpPr>
          <p:cNvPr id="23" name="Text 21"/>
          <p:cNvSpPr/>
          <p:nvPr/>
        </p:nvSpPr>
        <p:spPr>
          <a:xfrm>
            <a:off x="5162550" y="7134424"/>
            <a:ext cx="3865436" cy="655241"/>
          </a:xfrm>
          <a:prstGeom prst="rect">
            <a:avLst/>
          </a:prstGeom>
          <a:noFill/>
          <a:ln/>
        </p:spPr>
        <p:txBody>
          <a:bodyPr wrap="square" lIns="25400" tIns="25400" rIns="25400" bIns="25400" rtlCol="0" anchor="t">
            <a:normAutofit/>
          </a:bodyPr>
          <a:lstStyle/>
          <a:p>
            <a:pPr marL="0" indent="0" algn="l">
              <a:lnSpc>
                <a:spcPct val="115714"/>
              </a:lnSpc>
              <a:buNone/>
            </a:pPr>
            <a:r>
              <a:rPr lang="en-US" sz="1800" dirty="0">
                <a:solidFill>
                  <a:srgbClr val="141414"/>
                </a:solidFill>
                <a:latin typeface="Helvetica" pitchFamily="34" charset="0"/>
                <a:ea typeface="Helvetica" pitchFamily="34" charset="-122"/>
                <a:cs typeface="Helvetica" pitchFamily="34" charset="-120"/>
              </a:rPr>
              <a:t>Live vs expired vs superseded accuracy</a:t>
            </a:r>
            <a:endParaRPr lang="en-US" sz="1800" dirty="0"/>
          </a:p>
        </p:txBody>
      </p:sp>
      <p:sp>
        <p:nvSpPr>
          <p:cNvPr id="24" name="Shape 22"/>
          <p:cNvSpPr/>
          <p:nvPr/>
        </p:nvSpPr>
        <p:spPr>
          <a:xfrm>
            <a:off x="9372600" y="5927924"/>
            <a:ext cx="3752850" cy="9525"/>
          </a:xfrm>
          <a:prstGeom prst="rect">
            <a:avLst/>
          </a:prstGeom>
          <a:solidFill>
            <a:srgbClr val="141414"/>
          </a:solidFill>
          <a:ln/>
        </p:spPr>
      </p:sp>
      <p:sp>
        <p:nvSpPr>
          <p:cNvPr id="25" name="Text 23"/>
          <p:cNvSpPr/>
          <p:nvPr/>
        </p:nvSpPr>
        <p:spPr>
          <a:xfrm>
            <a:off x="9372600" y="6105724"/>
            <a:ext cx="4128135" cy="952500"/>
          </a:xfrm>
          <a:prstGeom prst="rect">
            <a:avLst/>
          </a:prstGeom>
          <a:noFill/>
          <a:ln/>
        </p:spPr>
        <p:txBody>
          <a:bodyPr wrap="square" lIns="25400" tIns="25400" rIns="25400" bIns="25400" rtlCol="0" anchor="t">
            <a:normAutofit/>
          </a:bodyPr>
          <a:lstStyle/>
          <a:p>
            <a:pPr marL="0" indent="0" algn="l">
              <a:lnSpc>
                <a:spcPct val="86747"/>
              </a:lnSpc>
              <a:buNone/>
            </a:pPr>
            <a:r>
              <a:rPr lang="en-US" sz="7200" b="1" kern="0" spc="-288" dirty="0">
                <a:solidFill>
                  <a:srgbClr val="141414"/>
                </a:solidFill>
                <a:latin typeface="Helvetica" pitchFamily="34" charset="0"/>
                <a:ea typeface="Helvetica" pitchFamily="34" charset="-122"/>
                <a:cs typeface="Helvetica" pitchFamily="34" charset="-120"/>
              </a:rPr>
              <a:t>100%</a:t>
            </a:r>
            <a:endParaRPr lang="en-US" sz="7200" dirty="0"/>
          </a:p>
        </p:txBody>
      </p:sp>
      <p:sp>
        <p:nvSpPr>
          <p:cNvPr id="26" name="Text 24"/>
          <p:cNvSpPr/>
          <p:nvPr/>
        </p:nvSpPr>
        <p:spPr>
          <a:xfrm>
            <a:off x="9372600" y="7134424"/>
            <a:ext cx="3865436" cy="655241"/>
          </a:xfrm>
          <a:prstGeom prst="rect">
            <a:avLst/>
          </a:prstGeom>
          <a:noFill/>
          <a:ln/>
        </p:spPr>
        <p:txBody>
          <a:bodyPr wrap="square" lIns="25400" tIns="25400" rIns="25400" bIns="25400" rtlCol="0" anchor="t">
            <a:normAutofit/>
          </a:bodyPr>
          <a:lstStyle/>
          <a:p>
            <a:pPr marL="0" indent="0" algn="l">
              <a:lnSpc>
                <a:spcPct val="115714"/>
              </a:lnSpc>
              <a:buNone/>
            </a:pPr>
            <a:r>
              <a:rPr lang="en-US" sz="1800" dirty="0">
                <a:solidFill>
                  <a:srgbClr val="141414"/>
                </a:solidFill>
                <a:latin typeface="Helvetica" pitchFamily="34" charset="0"/>
                <a:ea typeface="Helvetica" pitchFamily="34" charset="-122"/>
                <a:cs typeface="Helvetica" pitchFamily="34" charset="-120"/>
              </a:rPr>
              <a:t>Same severity with or without "mutual" label</a:t>
            </a:r>
            <a:endParaRPr lang="en-US" sz="1800" dirty="0"/>
          </a:p>
        </p:txBody>
      </p:sp>
      <p:sp>
        <p:nvSpPr>
          <p:cNvPr id="27" name="Shape 25"/>
          <p:cNvSpPr/>
          <p:nvPr/>
        </p:nvSpPr>
        <p:spPr>
          <a:xfrm>
            <a:off x="13582650" y="5927924"/>
            <a:ext cx="3752850" cy="9525"/>
          </a:xfrm>
          <a:prstGeom prst="rect">
            <a:avLst/>
          </a:prstGeom>
          <a:solidFill>
            <a:srgbClr val="141414"/>
          </a:solidFill>
          <a:ln/>
        </p:spPr>
      </p:sp>
      <p:sp>
        <p:nvSpPr>
          <p:cNvPr id="28" name="Text 26"/>
          <p:cNvSpPr/>
          <p:nvPr/>
        </p:nvSpPr>
        <p:spPr>
          <a:xfrm>
            <a:off x="13582650" y="6105724"/>
            <a:ext cx="4128135" cy="952500"/>
          </a:xfrm>
          <a:prstGeom prst="rect">
            <a:avLst/>
          </a:prstGeom>
          <a:noFill/>
          <a:ln/>
        </p:spPr>
        <p:txBody>
          <a:bodyPr wrap="square" lIns="25400" tIns="25400" rIns="25400" bIns="25400" rtlCol="0" anchor="t">
            <a:normAutofit/>
          </a:bodyPr>
          <a:lstStyle/>
          <a:p>
            <a:pPr marL="0" indent="0" algn="l">
              <a:lnSpc>
                <a:spcPct val="86747"/>
              </a:lnSpc>
              <a:buNone/>
            </a:pPr>
            <a:r>
              <a:rPr lang="en-US" sz="7200" b="1" kern="0" spc="-288" dirty="0">
                <a:solidFill>
                  <a:srgbClr val="141414"/>
                </a:solidFill>
                <a:latin typeface="Helvetica" pitchFamily="34" charset="0"/>
                <a:ea typeface="Helvetica" pitchFamily="34" charset="-122"/>
                <a:cs typeface="Helvetica" pitchFamily="34" charset="-120"/>
              </a:rPr>
              <a:t>90s</a:t>
            </a:r>
            <a:endParaRPr lang="en-US" sz="7200" dirty="0"/>
          </a:p>
        </p:txBody>
      </p:sp>
      <p:sp>
        <p:nvSpPr>
          <p:cNvPr id="29" name="Text 27"/>
          <p:cNvSpPr/>
          <p:nvPr/>
        </p:nvSpPr>
        <p:spPr>
          <a:xfrm>
            <a:off x="13582650" y="7134424"/>
            <a:ext cx="4128135" cy="346670"/>
          </a:xfrm>
          <a:prstGeom prst="rect">
            <a:avLst/>
          </a:prstGeom>
          <a:noFill/>
          <a:ln/>
        </p:spPr>
        <p:txBody>
          <a:bodyPr wrap="square" lIns="25400" tIns="25400" rIns="25400" bIns="25400" rtlCol="0" anchor="t">
            <a:normAutofit/>
          </a:bodyPr>
          <a:lstStyle/>
          <a:p>
            <a:pPr marL="0" indent="0" algn="l">
              <a:lnSpc>
                <a:spcPct val="115714"/>
              </a:lnSpc>
              <a:buNone/>
            </a:pPr>
            <a:r>
              <a:rPr lang="en-US" sz="1800" dirty="0">
                <a:solidFill>
                  <a:srgbClr val="141414"/>
                </a:solidFill>
                <a:latin typeface="Helvetica" pitchFamily="34" charset="0"/>
                <a:ea typeface="Helvetica" pitchFamily="34" charset="-122"/>
                <a:cs typeface="Helvetica" pitchFamily="34" charset="-120"/>
              </a:rPr>
              <a:t>P95 review time, up to 100 pages</a:t>
            </a:r>
            <a:endParaRPr lang="en-US" sz="1800" dirty="0"/>
          </a:p>
        </p:txBody>
      </p:sp>
      <p:sp>
        <p:nvSpPr>
          <p:cNvPr id="30" name="Text 28"/>
          <p:cNvSpPr/>
          <p:nvPr/>
        </p:nvSpPr>
        <p:spPr>
          <a:xfrm>
            <a:off x="952500" y="9205020"/>
            <a:ext cx="18021300" cy="358080"/>
          </a:xfrm>
          <a:prstGeom prst="rect">
            <a:avLst/>
          </a:prstGeom>
          <a:noFill/>
          <a:ln/>
        </p:spPr>
        <p:txBody>
          <a:bodyPr wrap="square" lIns="25400" tIns="25400" rIns="25400" bIns="25400" rtlCol="0" anchor="t">
            <a:normAutofit/>
          </a:bodyPr>
          <a:lstStyle/>
          <a:p>
            <a:pPr marL="0" indent="0" algn="l">
              <a:lnSpc>
                <a:spcPct val="120000"/>
              </a:lnSpc>
              <a:buNone/>
            </a:pPr>
            <a:r>
              <a:rPr lang="en-US" sz="1800" dirty="0">
                <a:solidFill>
                  <a:srgbClr val="5C5C58"/>
                </a:solidFill>
                <a:latin typeface="Helvetica" pitchFamily="34" charset="0"/>
                <a:ea typeface="Helvetica" pitchFamily="34" charset="-122"/>
                <a:cs typeface="Helvetica" pitchFamily="34" charset="-120"/>
              </a:rPr>
              <a:t>Dataset holds 17 of 30 signed contracts. Synthetic contracts fill the edge cases.</a:t>
            </a:r>
            <a:endParaRPr lang="en-US" sz="1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AFAF8"/>
        </a:solidFill>
        <a:effectLst/>
      </p:bgPr>
    </p:bg>
    <p:spTree>
      <p:nvGrpSpPr>
        <p:cNvPr id="1" name=""/>
        <p:cNvGrpSpPr/>
        <p:nvPr/>
      </p:nvGrpSpPr>
      <p:grpSpPr>
        <a:xfrm>
          <a:off x="0" y="0"/>
          <a:ext cx="0" cy="0"/>
          <a:chOff x="0" y="0"/>
          <a:chExt cx="0" cy="0"/>
        </a:xfrm>
      </p:grpSpPr>
      <p:sp>
        <p:nvSpPr>
          <p:cNvPr id="2" name="Shape 0"/>
          <p:cNvSpPr/>
          <p:nvPr/>
        </p:nvSpPr>
        <p:spPr>
          <a:xfrm>
            <a:off x="952500" y="857250"/>
            <a:ext cx="16383000" cy="25400"/>
          </a:xfrm>
          <a:prstGeom prst="rect">
            <a:avLst/>
          </a:prstGeom>
          <a:solidFill>
            <a:srgbClr val="141414"/>
          </a:solidFill>
          <a:ln/>
        </p:spPr>
      </p:sp>
      <p:sp>
        <p:nvSpPr>
          <p:cNvPr id="3" name="Text 1"/>
          <p:cNvSpPr/>
          <p:nvPr/>
        </p:nvSpPr>
        <p:spPr>
          <a:xfrm>
            <a:off x="952500" y="1073150"/>
            <a:ext cx="3363387" cy="304800"/>
          </a:xfrm>
          <a:prstGeom prst="rect">
            <a:avLst/>
          </a:prstGeom>
          <a:noFill/>
          <a:ln/>
        </p:spPr>
        <p:txBody>
          <a:bodyPr wrap="square" lIns="25400" tIns="25400" rIns="25400" bIns="25400" rtlCol="0" anchor="t">
            <a:normAutofit/>
          </a:bodyPr>
          <a:lstStyle/>
          <a:p>
            <a:pPr marL="0" indent="0" algn="l">
              <a:buNone/>
            </a:pPr>
            <a:r>
              <a:rPr lang="en-US" sz="1800" kern="0" spc="108" dirty="0">
                <a:solidFill>
                  <a:srgbClr val="141414"/>
                </a:solidFill>
                <a:latin typeface="Helvetica" pitchFamily="34" charset="0"/>
                <a:ea typeface="Helvetica" pitchFamily="34" charset="-122"/>
                <a:cs typeface="Helvetica" pitchFamily="34" charset="-120"/>
              </a:rPr>
              <a:t>05 RISKS &amp; GUARDRAILS</a:t>
            </a:r>
            <a:endParaRPr lang="en-US" sz="1800" dirty="0"/>
          </a:p>
        </p:txBody>
      </p:sp>
      <p:sp>
        <p:nvSpPr>
          <p:cNvPr id="4" name="Text 2"/>
          <p:cNvSpPr/>
          <p:nvPr/>
        </p:nvSpPr>
        <p:spPr>
          <a:xfrm>
            <a:off x="13140630" y="1073150"/>
            <a:ext cx="4614356" cy="304800"/>
          </a:xfrm>
          <a:prstGeom prst="rect">
            <a:avLst/>
          </a:prstGeom>
          <a:noFill/>
          <a:ln/>
        </p:spPr>
        <p:txBody>
          <a:bodyPr wrap="square" lIns="25400" tIns="25400" rIns="25400" bIns="25400" rtlCol="0" anchor="t">
            <a:normAutofit/>
          </a:bodyPr>
          <a:lstStyle/>
          <a:p>
            <a:pPr marL="0" indent="0" algn="l">
              <a:buNone/>
            </a:pPr>
            <a:r>
              <a:rPr lang="en-US" sz="1800" kern="0" spc="108" dirty="0">
                <a:solidFill>
                  <a:srgbClr val="141414"/>
                </a:solidFill>
                <a:latin typeface="Helvetica" pitchFamily="34" charset="0"/>
                <a:ea typeface="Helvetica" pitchFamily="34" charset="-122"/>
                <a:cs typeface="Helvetica" pitchFamily="34" charset="-120"/>
              </a:rPr>
              <a:t>ATLIQ CONTRACT RISK ANALYZER</a:t>
            </a:r>
            <a:endParaRPr lang="en-US" sz="1800" dirty="0"/>
          </a:p>
        </p:txBody>
      </p:sp>
      <p:sp>
        <p:nvSpPr>
          <p:cNvPr id="5" name="Text 3"/>
          <p:cNvSpPr/>
          <p:nvPr/>
        </p:nvSpPr>
        <p:spPr>
          <a:xfrm>
            <a:off x="952500" y="1797050"/>
            <a:ext cx="15716250" cy="696416"/>
          </a:xfrm>
          <a:prstGeom prst="rect">
            <a:avLst/>
          </a:prstGeom>
          <a:noFill/>
          <a:ln/>
        </p:spPr>
        <p:txBody>
          <a:bodyPr wrap="square" lIns="25400" tIns="25400" rIns="25400" bIns="25400" rtlCol="0" anchor="t">
            <a:normAutofit/>
          </a:bodyPr>
          <a:lstStyle/>
          <a:p>
            <a:pPr marL="0" indent="0" algn="l">
              <a:lnSpc>
                <a:spcPct val="94255"/>
              </a:lnSpc>
              <a:buNone/>
            </a:pPr>
            <a:r>
              <a:rPr lang="en-US" sz="4800" b="1" kern="0" spc="-120" dirty="0">
                <a:solidFill>
                  <a:srgbClr val="141414"/>
                </a:solidFill>
                <a:latin typeface="Helvetica" pitchFamily="34" charset="0"/>
                <a:ea typeface="Helvetica" pitchFamily="34" charset="-122"/>
                <a:cs typeface="Helvetica" pitchFamily="34" charset="-120"/>
              </a:rPr>
              <a:t>Each known failure mode has a named guardrail</a:t>
            </a:r>
            <a:endParaRPr lang="en-US" sz="4800" dirty="0"/>
          </a:p>
        </p:txBody>
      </p:sp>
      <p:sp>
        <p:nvSpPr>
          <p:cNvPr id="6" name="Text 4"/>
          <p:cNvSpPr/>
          <p:nvPr/>
        </p:nvSpPr>
        <p:spPr>
          <a:xfrm>
            <a:off x="952500" y="2874466"/>
            <a:ext cx="6496050" cy="304800"/>
          </a:xfrm>
          <a:prstGeom prst="rect">
            <a:avLst/>
          </a:prstGeom>
          <a:noFill/>
          <a:ln/>
        </p:spPr>
        <p:txBody>
          <a:bodyPr wrap="square" lIns="25400" tIns="25400" rIns="25400" bIns="25400" rtlCol="0" anchor="t">
            <a:normAutofit/>
          </a:bodyPr>
          <a:lstStyle/>
          <a:p>
            <a:pPr marL="0" indent="0" algn="l">
              <a:buNone/>
            </a:pPr>
            <a:r>
              <a:rPr lang="en-US" sz="1800" kern="0" spc="108" dirty="0">
                <a:solidFill>
                  <a:srgbClr val="5C5C58"/>
                </a:solidFill>
                <a:latin typeface="Helvetica" pitchFamily="34" charset="0"/>
                <a:ea typeface="Helvetica" pitchFamily="34" charset="-122"/>
                <a:cs typeface="Helvetica" pitchFamily="34" charset="-120"/>
              </a:rPr>
              <a:t>FAILURE MODE</a:t>
            </a:r>
            <a:endParaRPr lang="en-US" sz="1800" dirty="0"/>
          </a:p>
        </p:txBody>
      </p:sp>
      <p:sp>
        <p:nvSpPr>
          <p:cNvPr id="7" name="Text 5"/>
          <p:cNvSpPr/>
          <p:nvPr/>
        </p:nvSpPr>
        <p:spPr>
          <a:xfrm>
            <a:off x="7315200" y="2874466"/>
            <a:ext cx="11022330" cy="304800"/>
          </a:xfrm>
          <a:prstGeom prst="rect">
            <a:avLst/>
          </a:prstGeom>
          <a:noFill/>
          <a:ln/>
        </p:spPr>
        <p:txBody>
          <a:bodyPr wrap="square" lIns="25400" tIns="25400" rIns="25400" bIns="25400" rtlCol="0" anchor="t">
            <a:normAutofit/>
          </a:bodyPr>
          <a:lstStyle/>
          <a:p>
            <a:pPr marL="0" indent="0" algn="l">
              <a:buNone/>
            </a:pPr>
            <a:r>
              <a:rPr lang="en-US" sz="1800" kern="0" spc="108" dirty="0">
                <a:solidFill>
                  <a:srgbClr val="5C5C58"/>
                </a:solidFill>
                <a:latin typeface="Helvetica" pitchFamily="34" charset="0"/>
                <a:ea typeface="Helvetica" pitchFamily="34" charset="-122"/>
                <a:cs typeface="Helvetica" pitchFamily="34" charset="-120"/>
              </a:rPr>
              <a:t>GUARDRAIL</a:t>
            </a:r>
            <a:endParaRPr lang="en-US" sz="1800" dirty="0"/>
          </a:p>
        </p:txBody>
      </p:sp>
      <p:sp>
        <p:nvSpPr>
          <p:cNvPr id="8" name="Shape 6"/>
          <p:cNvSpPr/>
          <p:nvPr/>
        </p:nvSpPr>
        <p:spPr>
          <a:xfrm>
            <a:off x="952500" y="3255466"/>
            <a:ext cx="16383000" cy="9525"/>
          </a:xfrm>
          <a:prstGeom prst="rect">
            <a:avLst/>
          </a:prstGeom>
          <a:solidFill>
            <a:srgbClr val="141414"/>
          </a:solidFill>
          <a:ln/>
        </p:spPr>
      </p:sp>
      <p:sp>
        <p:nvSpPr>
          <p:cNvPr id="9" name="Text 7"/>
          <p:cNvSpPr/>
          <p:nvPr/>
        </p:nvSpPr>
        <p:spPr>
          <a:xfrm>
            <a:off x="952500" y="3414217"/>
            <a:ext cx="6496050" cy="342900"/>
          </a:xfrm>
          <a:prstGeom prst="rect">
            <a:avLst/>
          </a:prstGeom>
          <a:noFill/>
          <a:ln/>
        </p:spPr>
        <p:txBody>
          <a:bodyPr wrap="square" lIns="25400" tIns="25400" rIns="25400" bIns="25400" rtlCol="0" anchor="t">
            <a:normAutofit/>
          </a:bodyPr>
          <a:lstStyle/>
          <a:p>
            <a:pPr marL="0" indent="0" algn="l">
              <a:buNone/>
            </a:pPr>
            <a:r>
              <a:rPr lang="en-US" sz="2100" b="1" dirty="0">
                <a:solidFill>
                  <a:srgbClr val="141414"/>
                </a:solidFill>
                <a:latin typeface="Helvetica" pitchFamily="34" charset="0"/>
                <a:ea typeface="Helvetica" pitchFamily="34" charset="-122"/>
                <a:cs typeface="Helvetica" pitchFamily="34" charset="-120"/>
              </a:rPr>
              <a:t>Hallucinated clause or precedent</a:t>
            </a:r>
            <a:endParaRPr lang="en-US" sz="2100" dirty="0"/>
          </a:p>
        </p:txBody>
      </p:sp>
      <p:sp>
        <p:nvSpPr>
          <p:cNvPr id="10" name="Text 8"/>
          <p:cNvSpPr/>
          <p:nvPr/>
        </p:nvSpPr>
        <p:spPr>
          <a:xfrm>
            <a:off x="7315200" y="3414217"/>
            <a:ext cx="11022330" cy="342900"/>
          </a:xfrm>
          <a:prstGeom prst="rect">
            <a:avLst/>
          </a:prstGeom>
          <a:noFill/>
          <a:ln/>
        </p:spPr>
        <p:txBody>
          <a:bodyPr wrap="square" lIns="25400" tIns="25400" rIns="25400" bIns="25400" rtlCol="0" anchor="t">
            <a:normAutofit/>
          </a:bodyPr>
          <a:lstStyle/>
          <a:p>
            <a:pPr marL="0" indent="0" algn="l">
              <a:buNone/>
            </a:pPr>
            <a:r>
              <a:rPr lang="en-US" sz="2100" dirty="0">
                <a:solidFill>
                  <a:srgbClr val="141414"/>
                </a:solidFill>
                <a:latin typeface="Helvetica" pitchFamily="34" charset="0"/>
                <a:ea typeface="Helvetica" pitchFamily="34" charset="-122"/>
                <a:cs typeface="Helvetica" pitchFamily="34" charset="-120"/>
              </a:rPr>
              <a:t>Every finding quotes a retrieved source; unsupported claims fail closed</a:t>
            </a:r>
            <a:endParaRPr lang="en-US" sz="2100" dirty="0"/>
          </a:p>
        </p:txBody>
      </p:sp>
      <p:sp>
        <p:nvSpPr>
          <p:cNvPr id="11" name="Shape 9"/>
          <p:cNvSpPr/>
          <p:nvPr/>
        </p:nvSpPr>
        <p:spPr>
          <a:xfrm>
            <a:off x="952500" y="3871417"/>
            <a:ext cx="16383000" cy="9525"/>
          </a:xfrm>
          <a:prstGeom prst="rect">
            <a:avLst/>
          </a:prstGeom>
          <a:solidFill>
            <a:srgbClr val="D9D9D4"/>
          </a:solidFill>
          <a:ln/>
        </p:spPr>
      </p:sp>
      <p:sp>
        <p:nvSpPr>
          <p:cNvPr id="12" name="Text 10"/>
          <p:cNvSpPr/>
          <p:nvPr/>
        </p:nvSpPr>
        <p:spPr>
          <a:xfrm>
            <a:off x="952500" y="4030167"/>
            <a:ext cx="6496050" cy="342900"/>
          </a:xfrm>
          <a:prstGeom prst="rect">
            <a:avLst/>
          </a:prstGeom>
          <a:noFill/>
          <a:ln/>
        </p:spPr>
        <p:txBody>
          <a:bodyPr wrap="square" lIns="25400" tIns="25400" rIns="25400" bIns="25400" rtlCol="0" anchor="t">
            <a:normAutofit/>
          </a:bodyPr>
          <a:lstStyle/>
          <a:p>
            <a:pPr marL="0" indent="0" algn="l">
              <a:buNone/>
            </a:pPr>
            <a:r>
              <a:rPr lang="en-US" sz="2100" b="1" dirty="0">
                <a:solidFill>
                  <a:srgbClr val="141414"/>
                </a:solidFill>
                <a:latin typeface="Helvetica" pitchFamily="34" charset="0"/>
                <a:ea typeface="Helvetica" pitchFamily="34" charset="-122"/>
                <a:cs typeface="Helvetica" pitchFamily="34" charset="-120"/>
              </a:rPr>
              <a:t>Incomplete review shown as complete</a:t>
            </a:r>
            <a:endParaRPr lang="en-US" sz="2100" dirty="0"/>
          </a:p>
        </p:txBody>
      </p:sp>
      <p:sp>
        <p:nvSpPr>
          <p:cNvPr id="13" name="Text 11"/>
          <p:cNvSpPr/>
          <p:nvPr/>
        </p:nvSpPr>
        <p:spPr>
          <a:xfrm>
            <a:off x="7315200" y="4030167"/>
            <a:ext cx="11022330" cy="342900"/>
          </a:xfrm>
          <a:prstGeom prst="rect">
            <a:avLst/>
          </a:prstGeom>
          <a:noFill/>
          <a:ln/>
        </p:spPr>
        <p:txBody>
          <a:bodyPr wrap="square" lIns="25400" tIns="25400" rIns="25400" bIns="25400" rtlCol="0" anchor="t">
            <a:normAutofit/>
          </a:bodyPr>
          <a:lstStyle/>
          <a:p>
            <a:pPr marL="0" indent="0" algn="l">
              <a:buNone/>
            </a:pPr>
            <a:r>
              <a:rPr lang="en-US" sz="2100" dirty="0">
                <a:solidFill>
                  <a:srgbClr val="141414"/>
                </a:solidFill>
                <a:latin typeface="Helvetica" pitchFamily="34" charset="0"/>
                <a:ea typeface="Helvetica" pitchFamily="34" charset="-122"/>
                <a:cs typeface="Helvetica" pitchFamily="34" charset="-120"/>
              </a:rPr>
              <a:t>Coverage on every review; no verdict below threshold</a:t>
            </a:r>
            <a:endParaRPr lang="en-US" sz="2100" dirty="0"/>
          </a:p>
        </p:txBody>
      </p:sp>
      <p:sp>
        <p:nvSpPr>
          <p:cNvPr id="14" name="Shape 12"/>
          <p:cNvSpPr/>
          <p:nvPr/>
        </p:nvSpPr>
        <p:spPr>
          <a:xfrm>
            <a:off x="952500" y="4487367"/>
            <a:ext cx="16383000" cy="9525"/>
          </a:xfrm>
          <a:prstGeom prst="rect">
            <a:avLst/>
          </a:prstGeom>
          <a:solidFill>
            <a:srgbClr val="D9D9D4"/>
          </a:solidFill>
          <a:ln/>
        </p:spPr>
      </p:sp>
      <p:sp>
        <p:nvSpPr>
          <p:cNvPr id="15" name="Text 13"/>
          <p:cNvSpPr/>
          <p:nvPr/>
        </p:nvSpPr>
        <p:spPr>
          <a:xfrm>
            <a:off x="952500" y="4646116"/>
            <a:ext cx="6496050" cy="342900"/>
          </a:xfrm>
          <a:prstGeom prst="rect">
            <a:avLst/>
          </a:prstGeom>
          <a:noFill/>
          <a:ln/>
        </p:spPr>
        <p:txBody>
          <a:bodyPr wrap="square" lIns="25400" tIns="25400" rIns="25400" bIns="25400" rtlCol="0" anchor="t">
            <a:normAutofit/>
          </a:bodyPr>
          <a:lstStyle/>
          <a:p>
            <a:pPr marL="0" indent="0" algn="l">
              <a:buNone/>
            </a:pPr>
            <a:r>
              <a:rPr lang="en-US" sz="2100" b="1" dirty="0">
                <a:solidFill>
                  <a:srgbClr val="141414"/>
                </a:solidFill>
                <a:latin typeface="Helvetica" pitchFamily="34" charset="0"/>
                <a:ea typeface="Helvetica" pitchFamily="34" charset="-122"/>
                <a:cs typeface="Helvetica" pitchFamily="34" charset="-120"/>
              </a:rPr>
              <a:t>Live restriction judged expired</a:t>
            </a:r>
            <a:endParaRPr lang="en-US" sz="2100" dirty="0"/>
          </a:p>
        </p:txBody>
      </p:sp>
      <p:sp>
        <p:nvSpPr>
          <p:cNvPr id="16" name="Text 14"/>
          <p:cNvSpPr/>
          <p:nvPr/>
        </p:nvSpPr>
        <p:spPr>
          <a:xfrm>
            <a:off x="7315200" y="4646116"/>
            <a:ext cx="11022330" cy="342900"/>
          </a:xfrm>
          <a:prstGeom prst="rect">
            <a:avLst/>
          </a:prstGeom>
          <a:noFill/>
          <a:ln/>
        </p:spPr>
        <p:txBody>
          <a:bodyPr wrap="square" lIns="25400" tIns="25400" rIns="25400" bIns="25400" rtlCol="0" anchor="t">
            <a:normAutofit/>
          </a:bodyPr>
          <a:lstStyle/>
          <a:p>
            <a:pPr marL="0" indent="0" algn="l">
              <a:buNone/>
            </a:pPr>
            <a:r>
              <a:rPr lang="en-US" sz="2100" dirty="0">
                <a:solidFill>
                  <a:srgbClr val="141414"/>
                </a:solidFill>
                <a:latin typeface="Helvetica" pitchFamily="34" charset="0"/>
                <a:ea typeface="Helvetica" pitchFamily="34" charset="-122"/>
                <a:cs typeface="Helvetica" pitchFamily="34" charset="-120"/>
              </a:rPr>
              <a:t>Dated obligations; output states the date it relies on</a:t>
            </a:r>
            <a:endParaRPr lang="en-US" sz="2100" dirty="0"/>
          </a:p>
        </p:txBody>
      </p:sp>
      <p:sp>
        <p:nvSpPr>
          <p:cNvPr id="17" name="Shape 15"/>
          <p:cNvSpPr/>
          <p:nvPr/>
        </p:nvSpPr>
        <p:spPr>
          <a:xfrm>
            <a:off x="952500" y="5103316"/>
            <a:ext cx="16383000" cy="9525"/>
          </a:xfrm>
          <a:prstGeom prst="rect">
            <a:avLst/>
          </a:prstGeom>
          <a:solidFill>
            <a:srgbClr val="D9D9D4"/>
          </a:solidFill>
          <a:ln/>
        </p:spPr>
      </p:sp>
      <p:sp>
        <p:nvSpPr>
          <p:cNvPr id="18" name="Text 16"/>
          <p:cNvSpPr/>
          <p:nvPr/>
        </p:nvSpPr>
        <p:spPr>
          <a:xfrm>
            <a:off x="952500" y="5262067"/>
            <a:ext cx="6496050" cy="342900"/>
          </a:xfrm>
          <a:prstGeom prst="rect">
            <a:avLst/>
          </a:prstGeom>
          <a:noFill/>
          <a:ln/>
        </p:spPr>
        <p:txBody>
          <a:bodyPr wrap="square" lIns="25400" tIns="25400" rIns="25400" bIns="25400" rtlCol="0" anchor="t">
            <a:normAutofit/>
          </a:bodyPr>
          <a:lstStyle/>
          <a:p>
            <a:pPr marL="0" indent="0" algn="l">
              <a:buNone/>
            </a:pPr>
            <a:r>
              <a:rPr lang="en-US" sz="2100" b="1" dirty="0">
                <a:solidFill>
                  <a:srgbClr val="141414"/>
                </a:solidFill>
                <a:latin typeface="Helvetica" pitchFamily="34" charset="0"/>
                <a:ea typeface="Helvetica" pitchFamily="34" charset="-122"/>
                <a:cs typeface="Helvetica" pitchFamily="34" charset="-120"/>
              </a:rPr>
              <a:t>Wrong legal entity</a:t>
            </a:r>
            <a:endParaRPr lang="en-US" sz="2100" dirty="0"/>
          </a:p>
        </p:txBody>
      </p:sp>
      <p:sp>
        <p:nvSpPr>
          <p:cNvPr id="19" name="Text 17"/>
          <p:cNvSpPr/>
          <p:nvPr/>
        </p:nvSpPr>
        <p:spPr>
          <a:xfrm>
            <a:off x="7315200" y="5262067"/>
            <a:ext cx="11022330" cy="342900"/>
          </a:xfrm>
          <a:prstGeom prst="rect">
            <a:avLst/>
          </a:prstGeom>
          <a:noFill/>
          <a:ln/>
        </p:spPr>
        <p:txBody>
          <a:bodyPr wrap="square" lIns="25400" tIns="25400" rIns="25400" bIns="25400" rtlCol="0" anchor="t">
            <a:normAutofit/>
          </a:bodyPr>
          <a:lstStyle/>
          <a:p>
            <a:pPr marL="0" indent="0" algn="l">
              <a:buNone/>
            </a:pPr>
            <a:r>
              <a:rPr lang="en-US" sz="2100" dirty="0">
                <a:solidFill>
                  <a:srgbClr val="141414"/>
                </a:solidFill>
                <a:latin typeface="Helvetica" pitchFamily="34" charset="0"/>
                <a:ea typeface="Helvetica" pitchFamily="34" charset="-122"/>
                <a:cs typeface="Helvetica" pitchFamily="34" charset="-120"/>
              </a:rPr>
              <a:t>Deterministic rule blocks "ready to sign"</a:t>
            </a:r>
            <a:endParaRPr lang="en-US" sz="2100" dirty="0"/>
          </a:p>
        </p:txBody>
      </p:sp>
      <p:sp>
        <p:nvSpPr>
          <p:cNvPr id="20" name="Shape 18"/>
          <p:cNvSpPr/>
          <p:nvPr/>
        </p:nvSpPr>
        <p:spPr>
          <a:xfrm>
            <a:off x="952500" y="5719267"/>
            <a:ext cx="16383000" cy="9525"/>
          </a:xfrm>
          <a:prstGeom prst="rect">
            <a:avLst/>
          </a:prstGeom>
          <a:solidFill>
            <a:srgbClr val="D9D9D4"/>
          </a:solidFill>
          <a:ln/>
        </p:spPr>
      </p:sp>
      <p:sp>
        <p:nvSpPr>
          <p:cNvPr id="21" name="Text 19"/>
          <p:cNvSpPr/>
          <p:nvPr/>
        </p:nvSpPr>
        <p:spPr>
          <a:xfrm>
            <a:off x="952500" y="5878017"/>
            <a:ext cx="6496050" cy="342900"/>
          </a:xfrm>
          <a:prstGeom prst="rect">
            <a:avLst/>
          </a:prstGeom>
          <a:noFill/>
          <a:ln/>
        </p:spPr>
        <p:txBody>
          <a:bodyPr wrap="square" lIns="25400" tIns="25400" rIns="25400" bIns="25400" rtlCol="0" anchor="t">
            <a:normAutofit/>
          </a:bodyPr>
          <a:lstStyle/>
          <a:p>
            <a:pPr marL="0" indent="0" algn="l">
              <a:buNone/>
            </a:pPr>
            <a:r>
              <a:rPr lang="en-US" sz="2100" b="1" dirty="0">
                <a:solidFill>
                  <a:srgbClr val="141414"/>
                </a:solidFill>
                <a:latin typeface="Helvetica" pitchFamily="34" charset="0"/>
                <a:ea typeface="Helvetica" pitchFamily="34" charset="-122"/>
                <a:cs typeface="Helvetica" pitchFamily="34" charset="-120"/>
              </a:rPr>
              <a:t>One-off exception becomes policy</a:t>
            </a:r>
            <a:endParaRPr lang="en-US" sz="2100" dirty="0"/>
          </a:p>
        </p:txBody>
      </p:sp>
      <p:sp>
        <p:nvSpPr>
          <p:cNvPr id="22" name="Text 20"/>
          <p:cNvSpPr/>
          <p:nvPr/>
        </p:nvSpPr>
        <p:spPr>
          <a:xfrm>
            <a:off x="7315200" y="5878017"/>
            <a:ext cx="11022330" cy="342900"/>
          </a:xfrm>
          <a:prstGeom prst="rect">
            <a:avLst/>
          </a:prstGeom>
          <a:noFill/>
          <a:ln/>
        </p:spPr>
        <p:txBody>
          <a:bodyPr wrap="square" lIns="25400" tIns="25400" rIns="25400" bIns="25400" rtlCol="0" anchor="t">
            <a:normAutofit/>
          </a:bodyPr>
          <a:lstStyle/>
          <a:p>
            <a:pPr marL="0" indent="0" algn="l">
              <a:buNone/>
            </a:pPr>
            <a:r>
              <a:rPr lang="en-US" sz="2100" dirty="0">
                <a:solidFill>
                  <a:srgbClr val="141414"/>
                </a:solidFill>
                <a:latin typeface="Helvetica" pitchFamily="34" charset="0"/>
                <a:ea typeface="Helvetica" pitchFamily="34" charset="-122"/>
                <a:cs typeface="Helvetica" pitchFamily="34" charset="-120"/>
              </a:rPr>
              <a:t>Precedent labelled standard, exception or unknown</a:t>
            </a:r>
            <a:endParaRPr lang="en-US" sz="2100" dirty="0"/>
          </a:p>
        </p:txBody>
      </p:sp>
      <p:sp>
        <p:nvSpPr>
          <p:cNvPr id="23" name="Shape 21"/>
          <p:cNvSpPr/>
          <p:nvPr/>
        </p:nvSpPr>
        <p:spPr>
          <a:xfrm>
            <a:off x="952500" y="6335217"/>
            <a:ext cx="16383000" cy="9525"/>
          </a:xfrm>
          <a:prstGeom prst="rect">
            <a:avLst/>
          </a:prstGeom>
          <a:solidFill>
            <a:srgbClr val="D9D9D4"/>
          </a:solidFill>
          <a:ln/>
        </p:spPr>
      </p:sp>
      <p:sp>
        <p:nvSpPr>
          <p:cNvPr id="24" name="Text 22"/>
          <p:cNvSpPr/>
          <p:nvPr/>
        </p:nvSpPr>
        <p:spPr>
          <a:xfrm>
            <a:off x="952500" y="6493966"/>
            <a:ext cx="6496050" cy="342900"/>
          </a:xfrm>
          <a:prstGeom prst="rect">
            <a:avLst/>
          </a:prstGeom>
          <a:noFill/>
          <a:ln/>
        </p:spPr>
        <p:txBody>
          <a:bodyPr wrap="square" lIns="25400" tIns="25400" rIns="25400" bIns="25400" rtlCol="0" anchor="t">
            <a:normAutofit/>
          </a:bodyPr>
          <a:lstStyle/>
          <a:p>
            <a:pPr marL="0" indent="0" algn="l">
              <a:buNone/>
            </a:pPr>
            <a:r>
              <a:rPr lang="en-US" sz="2100" b="1" dirty="0">
                <a:solidFill>
                  <a:srgbClr val="141414"/>
                </a:solidFill>
                <a:latin typeface="Helvetica" pitchFamily="34" charset="0"/>
                <a:ea typeface="Helvetica" pitchFamily="34" charset="-122"/>
                <a:cs typeface="Helvetica" pitchFamily="34" charset="-120"/>
              </a:rPr>
              <a:t>Prompt injection in contract text</a:t>
            </a:r>
            <a:endParaRPr lang="en-US" sz="2100" dirty="0"/>
          </a:p>
        </p:txBody>
      </p:sp>
      <p:sp>
        <p:nvSpPr>
          <p:cNvPr id="25" name="Text 23"/>
          <p:cNvSpPr/>
          <p:nvPr/>
        </p:nvSpPr>
        <p:spPr>
          <a:xfrm>
            <a:off x="7315200" y="6493966"/>
            <a:ext cx="11022330" cy="342900"/>
          </a:xfrm>
          <a:prstGeom prst="rect">
            <a:avLst/>
          </a:prstGeom>
          <a:noFill/>
          <a:ln/>
        </p:spPr>
        <p:txBody>
          <a:bodyPr wrap="square" lIns="25400" tIns="25400" rIns="25400" bIns="25400" rtlCol="0" anchor="t">
            <a:normAutofit/>
          </a:bodyPr>
          <a:lstStyle/>
          <a:p>
            <a:pPr marL="0" indent="0" algn="l">
              <a:buNone/>
            </a:pPr>
            <a:r>
              <a:rPr lang="en-US" sz="2100" dirty="0">
                <a:solidFill>
                  <a:srgbClr val="141414"/>
                </a:solidFill>
                <a:latin typeface="Helvetica" pitchFamily="34" charset="0"/>
                <a:ea typeface="Helvetica" pitchFamily="34" charset="-122"/>
                <a:cs typeface="Helvetica" pitchFamily="34" charset="-120"/>
              </a:rPr>
              <a:t>Document treated as untrusted data; no document-driven actions</a:t>
            </a:r>
            <a:endParaRPr lang="en-US" sz="2100" dirty="0"/>
          </a:p>
        </p:txBody>
      </p:sp>
      <p:sp>
        <p:nvSpPr>
          <p:cNvPr id="26" name="Shape 24"/>
          <p:cNvSpPr/>
          <p:nvPr/>
        </p:nvSpPr>
        <p:spPr>
          <a:xfrm>
            <a:off x="952500" y="7567116"/>
            <a:ext cx="16383000" cy="9525"/>
          </a:xfrm>
          <a:prstGeom prst="rect">
            <a:avLst/>
          </a:prstGeom>
          <a:solidFill>
            <a:srgbClr val="141414"/>
          </a:solidFill>
          <a:ln/>
        </p:spPr>
      </p:sp>
      <p:sp>
        <p:nvSpPr>
          <p:cNvPr id="27" name="Shape 25"/>
          <p:cNvSpPr/>
          <p:nvPr/>
        </p:nvSpPr>
        <p:spPr>
          <a:xfrm>
            <a:off x="952500" y="6951166"/>
            <a:ext cx="16383000" cy="9525"/>
          </a:xfrm>
          <a:prstGeom prst="rect">
            <a:avLst/>
          </a:prstGeom>
          <a:solidFill>
            <a:srgbClr val="D9D9D4"/>
          </a:solidFill>
          <a:ln/>
        </p:spPr>
      </p:sp>
      <p:sp>
        <p:nvSpPr>
          <p:cNvPr id="28" name="Text 26"/>
          <p:cNvSpPr/>
          <p:nvPr/>
        </p:nvSpPr>
        <p:spPr>
          <a:xfrm>
            <a:off x="952500" y="7109917"/>
            <a:ext cx="6496050" cy="342900"/>
          </a:xfrm>
          <a:prstGeom prst="rect">
            <a:avLst/>
          </a:prstGeom>
          <a:noFill/>
          <a:ln/>
        </p:spPr>
        <p:txBody>
          <a:bodyPr wrap="square" lIns="25400" tIns="25400" rIns="25400" bIns="25400" rtlCol="0" anchor="t">
            <a:normAutofit/>
          </a:bodyPr>
          <a:lstStyle/>
          <a:p>
            <a:pPr marL="0" indent="0" algn="l">
              <a:buNone/>
            </a:pPr>
            <a:r>
              <a:rPr lang="en-US" sz="2100" b="1" dirty="0">
                <a:solidFill>
                  <a:srgbClr val="141414"/>
                </a:solidFill>
                <a:latin typeface="Helvetica" pitchFamily="34" charset="0"/>
                <a:ea typeface="Helvetica" pitchFamily="34" charset="-122"/>
                <a:cs typeface="Helvetica" pitchFamily="34" charset="-120"/>
              </a:rPr>
              <a:t>Over-reliance on AI</a:t>
            </a:r>
            <a:endParaRPr lang="en-US" sz="2100" dirty="0"/>
          </a:p>
        </p:txBody>
      </p:sp>
      <p:sp>
        <p:nvSpPr>
          <p:cNvPr id="29" name="Text 27"/>
          <p:cNvSpPr/>
          <p:nvPr/>
        </p:nvSpPr>
        <p:spPr>
          <a:xfrm>
            <a:off x="7315200" y="7109917"/>
            <a:ext cx="11022330" cy="342900"/>
          </a:xfrm>
          <a:prstGeom prst="rect">
            <a:avLst/>
          </a:prstGeom>
          <a:noFill/>
          <a:ln/>
        </p:spPr>
        <p:txBody>
          <a:bodyPr wrap="square" lIns="25400" tIns="25400" rIns="25400" bIns="25400" rtlCol="0" anchor="t">
            <a:normAutofit lnSpcReduction="10000"/>
          </a:bodyPr>
          <a:lstStyle/>
          <a:p>
            <a:pPr marL="0" indent="0" algn="l">
              <a:buNone/>
            </a:pPr>
            <a:r>
              <a:rPr lang="en-US" sz="2100" dirty="0">
                <a:solidFill>
                  <a:srgbClr val="141414"/>
                </a:solidFill>
                <a:latin typeface="Helvetica" pitchFamily="34" charset="0"/>
                <a:ea typeface="Helvetica" pitchFamily="34" charset="-122"/>
                <a:cs typeface="Helvetica" pitchFamily="34" charset="-120"/>
              </a:rPr>
              <a:t>No auto-sign, material contracts always need human approval</a:t>
            </a:r>
            <a:endParaRPr lang="en-US" sz="2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AFAF8"/>
        </a:solidFill>
        <a:effectLst/>
      </p:bgPr>
    </p:bg>
    <p:spTree>
      <p:nvGrpSpPr>
        <p:cNvPr id="1" name=""/>
        <p:cNvGrpSpPr/>
        <p:nvPr/>
      </p:nvGrpSpPr>
      <p:grpSpPr>
        <a:xfrm>
          <a:off x="0" y="0"/>
          <a:ext cx="0" cy="0"/>
          <a:chOff x="0" y="0"/>
          <a:chExt cx="0" cy="0"/>
        </a:xfrm>
      </p:grpSpPr>
      <p:sp>
        <p:nvSpPr>
          <p:cNvPr id="2" name="Shape 0"/>
          <p:cNvSpPr/>
          <p:nvPr/>
        </p:nvSpPr>
        <p:spPr>
          <a:xfrm>
            <a:off x="952500" y="857250"/>
            <a:ext cx="16383000" cy="25400"/>
          </a:xfrm>
          <a:prstGeom prst="rect">
            <a:avLst/>
          </a:prstGeom>
          <a:solidFill>
            <a:srgbClr val="141414"/>
          </a:solidFill>
          <a:ln/>
        </p:spPr>
      </p:sp>
      <p:sp>
        <p:nvSpPr>
          <p:cNvPr id="3" name="Text 1"/>
          <p:cNvSpPr/>
          <p:nvPr/>
        </p:nvSpPr>
        <p:spPr>
          <a:xfrm>
            <a:off x="952500" y="1073150"/>
            <a:ext cx="3363387" cy="304800"/>
          </a:xfrm>
          <a:prstGeom prst="rect">
            <a:avLst/>
          </a:prstGeom>
          <a:noFill/>
          <a:ln/>
        </p:spPr>
        <p:txBody>
          <a:bodyPr wrap="square" lIns="25400" tIns="25400" rIns="25400" bIns="25400" rtlCol="0" anchor="t">
            <a:normAutofit/>
          </a:bodyPr>
          <a:lstStyle/>
          <a:p>
            <a:pPr marL="0" indent="0" algn="l">
              <a:buNone/>
            </a:pPr>
            <a:r>
              <a:rPr lang="en-US" sz="1800" kern="0" spc="108" dirty="0">
                <a:solidFill>
                  <a:srgbClr val="141414"/>
                </a:solidFill>
                <a:latin typeface="Helvetica" pitchFamily="34" charset="0"/>
                <a:ea typeface="Helvetica" pitchFamily="34" charset="-122"/>
                <a:cs typeface="Helvetica" pitchFamily="34" charset="-120"/>
              </a:rPr>
              <a:t>05 RISKS &amp; GUARDRAILS</a:t>
            </a:r>
            <a:endParaRPr lang="en-US" sz="1800" dirty="0"/>
          </a:p>
        </p:txBody>
      </p:sp>
      <p:sp>
        <p:nvSpPr>
          <p:cNvPr id="4" name="Text 2"/>
          <p:cNvSpPr/>
          <p:nvPr/>
        </p:nvSpPr>
        <p:spPr>
          <a:xfrm>
            <a:off x="13140630" y="1073150"/>
            <a:ext cx="4614356" cy="304800"/>
          </a:xfrm>
          <a:prstGeom prst="rect">
            <a:avLst/>
          </a:prstGeom>
          <a:noFill/>
          <a:ln/>
        </p:spPr>
        <p:txBody>
          <a:bodyPr wrap="square" lIns="25400" tIns="25400" rIns="25400" bIns="25400" rtlCol="0" anchor="t">
            <a:normAutofit/>
          </a:bodyPr>
          <a:lstStyle/>
          <a:p>
            <a:pPr marL="0" indent="0" algn="l">
              <a:buNone/>
            </a:pPr>
            <a:r>
              <a:rPr lang="en-US" sz="1800" kern="0" spc="108" dirty="0">
                <a:solidFill>
                  <a:srgbClr val="141414"/>
                </a:solidFill>
                <a:latin typeface="Helvetica" pitchFamily="34" charset="0"/>
                <a:ea typeface="Helvetica" pitchFamily="34" charset="-122"/>
                <a:cs typeface="Helvetica" pitchFamily="34" charset="-120"/>
              </a:rPr>
              <a:t>ATLIQ CONTRACT RISK ANALYZER</a:t>
            </a:r>
            <a:endParaRPr lang="en-US" sz="1800" dirty="0"/>
          </a:p>
        </p:txBody>
      </p:sp>
      <p:sp>
        <p:nvSpPr>
          <p:cNvPr id="5" name="Text 3"/>
          <p:cNvSpPr/>
          <p:nvPr/>
        </p:nvSpPr>
        <p:spPr>
          <a:xfrm>
            <a:off x="952500" y="1797050"/>
            <a:ext cx="14716125" cy="1354733"/>
          </a:xfrm>
          <a:prstGeom prst="rect">
            <a:avLst/>
          </a:prstGeom>
          <a:noFill/>
          <a:ln/>
        </p:spPr>
        <p:txBody>
          <a:bodyPr wrap="square" lIns="25400" tIns="25400" rIns="25400" bIns="25400" rtlCol="0" anchor="t">
            <a:normAutofit/>
          </a:bodyPr>
          <a:lstStyle/>
          <a:p>
            <a:pPr marL="0" indent="0" algn="l">
              <a:lnSpc>
                <a:spcPct val="94255"/>
              </a:lnSpc>
              <a:buNone/>
            </a:pPr>
            <a:r>
              <a:rPr lang="en-US" sz="4800" b="1" kern="0" spc="-120" dirty="0">
                <a:solidFill>
                  <a:srgbClr val="141414"/>
                </a:solidFill>
                <a:latin typeface="Helvetica" pitchFamily="34" charset="0"/>
                <a:ea typeface="Helvetica" pitchFamily="34" charset="-122"/>
                <a:cs typeface="Helvetica" pitchFamily="34" charset="-120"/>
              </a:rPr>
              <a:t>Rollout moves through shadow mode and gated beta</a:t>
            </a:r>
            <a:endParaRPr lang="en-US" sz="4800" dirty="0"/>
          </a:p>
        </p:txBody>
      </p:sp>
      <p:sp>
        <p:nvSpPr>
          <p:cNvPr id="6" name="Shape 4"/>
          <p:cNvSpPr/>
          <p:nvPr/>
        </p:nvSpPr>
        <p:spPr>
          <a:xfrm>
            <a:off x="952500" y="6237089"/>
            <a:ext cx="4095750" cy="25400"/>
          </a:xfrm>
          <a:prstGeom prst="rect">
            <a:avLst/>
          </a:prstGeom>
          <a:solidFill>
            <a:srgbClr val="141414"/>
          </a:solidFill>
          <a:ln/>
        </p:spPr>
      </p:sp>
      <p:sp>
        <p:nvSpPr>
          <p:cNvPr id="7" name="Text 5"/>
          <p:cNvSpPr/>
          <p:nvPr/>
        </p:nvSpPr>
        <p:spPr>
          <a:xfrm>
            <a:off x="952500" y="6491089"/>
            <a:ext cx="4086225" cy="304800"/>
          </a:xfrm>
          <a:prstGeom prst="rect">
            <a:avLst/>
          </a:prstGeom>
          <a:noFill/>
          <a:ln/>
        </p:spPr>
        <p:txBody>
          <a:bodyPr wrap="square" lIns="25400" tIns="25400" rIns="25400" bIns="25400" rtlCol="0" anchor="t">
            <a:normAutofit/>
          </a:bodyPr>
          <a:lstStyle/>
          <a:p>
            <a:pPr marL="0" indent="0" algn="l">
              <a:buNone/>
            </a:pPr>
            <a:r>
              <a:rPr lang="en-US" sz="1800" dirty="0">
                <a:solidFill>
                  <a:srgbClr val="5C5C58"/>
                </a:solidFill>
                <a:latin typeface="Helvetica" pitchFamily="34" charset="0"/>
                <a:ea typeface="Helvetica" pitchFamily="34" charset="-122"/>
                <a:cs typeface="Helvetica" pitchFamily="34" charset="-120"/>
              </a:rPr>
              <a:t>Weeks 1–10</a:t>
            </a:r>
            <a:endParaRPr lang="en-US" sz="1800" dirty="0"/>
          </a:p>
        </p:txBody>
      </p:sp>
      <p:sp>
        <p:nvSpPr>
          <p:cNvPr id="8" name="Text 6"/>
          <p:cNvSpPr/>
          <p:nvPr/>
        </p:nvSpPr>
        <p:spPr>
          <a:xfrm>
            <a:off x="952500" y="6891139"/>
            <a:ext cx="4086225" cy="412750"/>
          </a:xfrm>
          <a:prstGeom prst="rect">
            <a:avLst/>
          </a:prstGeom>
          <a:noFill/>
          <a:ln/>
        </p:spPr>
        <p:txBody>
          <a:bodyPr wrap="square" lIns="25400" tIns="25400" rIns="25400" bIns="25400" rtlCol="0" anchor="t">
            <a:normAutofit/>
          </a:bodyPr>
          <a:lstStyle/>
          <a:p>
            <a:pPr marL="0" indent="0" algn="l">
              <a:buNone/>
            </a:pPr>
            <a:r>
              <a:rPr lang="en-US" sz="2550" b="1" dirty="0">
                <a:solidFill>
                  <a:srgbClr val="141414"/>
                </a:solidFill>
                <a:latin typeface="Helvetica" pitchFamily="34" charset="0"/>
                <a:ea typeface="Helvetica" pitchFamily="34" charset="-122"/>
                <a:cs typeface="Helvetica" pitchFamily="34" charset="-120"/>
              </a:rPr>
              <a:t>Build &amp; offline eval</a:t>
            </a:r>
            <a:endParaRPr lang="en-US" sz="2550" dirty="0"/>
          </a:p>
        </p:txBody>
      </p:sp>
      <p:sp>
        <p:nvSpPr>
          <p:cNvPr id="9" name="Text 7"/>
          <p:cNvSpPr/>
          <p:nvPr/>
        </p:nvSpPr>
        <p:spPr>
          <a:xfrm>
            <a:off x="952500" y="7399139"/>
            <a:ext cx="3826193" cy="655241"/>
          </a:xfrm>
          <a:prstGeom prst="rect">
            <a:avLst/>
          </a:prstGeom>
          <a:noFill/>
          <a:ln/>
        </p:spPr>
        <p:txBody>
          <a:bodyPr wrap="square" lIns="25400" tIns="25400" rIns="25400" bIns="25400" rtlCol="0" anchor="t">
            <a:normAutofit/>
          </a:bodyPr>
          <a:lstStyle/>
          <a:p>
            <a:pPr marL="0" indent="0" algn="l">
              <a:lnSpc>
                <a:spcPct val="115714"/>
              </a:lnSpc>
              <a:buNone/>
            </a:pPr>
            <a:r>
              <a:rPr lang="en-US" sz="1800" dirty="0">
                <a:solidFill>
                  <a:srgbClr val="141414"/>
                </a:solidFill>
                <a:latin typeface="Helvetica" pitchFamily="34" charset="0"/>
                <a:ea typeface="Helvetica" pitchFamily="34" charset="-122"/>
                <a:cs typeface="Helvetica" pitchFamily="34" charset="-120"/>
              </a:rPr>
              <a:t>Golden dataset, extraction, retrieval, review UI, red-team</a:t>
            </a:r>
            <a:endParaRPr lang="en-US" sz="1800" dirty="0"/>
          </a:p>
        </p:txBody>
      </p:sp>
      <p:sp>
        <p:nvSpPr>
          <p:cNvPr id="10" name="Shape 8"/>
          <p:cNvSpPr/>
          <p:nvPr/>
        </p:nvSpPr>
        <p:spPr>
          <a:xfrm>
            <a:off x="5048250" y="6237089"/>
            <a:ext cx="4095750" cy="25400"/>
          </a:xfrm>
          <a:prstGeom prst="rect">
            <a:avLst/>
          </a:prstGeom>
          <a:solidFill>
            <a:srgbClr val="141414"/>
          </a:solidFill>
          <a:ln/>
        </p:spPr>
      </p:sp>
      <p:sp>
        <p:nvSpPr>
          <p:cNvPr id="11" name="Text 9"/>
          <p:cNvSpPr/>
          <p:nvPr/>
        </p:nvSpPr>
        <p:spPr>
          <a:xfrm>
            <a:off x="5048250" y="6491089"/>
            <a:ext cx="4086225" cy="304800"/>
          </a:xfrm>
          <a:prstGeom prst="rect">
            <a:avLst/>
          </a:prstGeom>
          <a:noFill/>
          <a:ln/>
        </p:spPr>
        <p:txBody>
          <a:bodyPr wrap="square" lIns="25400" tIns="25400" rIns="25400" bIns="25400" rtlCol="0" anchor="t">
            <a:normAutofit/>
          </a:bodyPr>
          <a:lstStyle/>
          <a:p>
            <a:pPr marL="0" indent="0" algn="l">
              <a:buNone/>
            </a:pPr>
            <a:r>
              <a:rPr lang="en-US" sz="1800" dirty="0">
                <a:solidFill>
                  <a:srgbClr val="5C5C58"/>
                </a:solidFill>
                <a:latin typeface="Helvetica" pitchFamily="34" charset="0"/>
                <a:ea typeface="Helvetica" pitchFamily="34" charset="-122"/>
                <a:cs typeface="Helvetica" pitchFamily="34" charset="-120"/>
              </a:rPr>
              <a:t>Weeks 11–12</a:t>
            </a:r>
            <a:endParaRPr lang="en-US" sz="1800" dirty="0"/>
          </a:p>
        </p:txBody>
      </p:sp>
      <p:sp>
        <p:nvSpPr>
          <p:cNvPr id="12" name="Text 10"/>
          <p:cNvSpPr/>
          <p:nvPr/>
        </p:nvSpPr>
        <p:spPr>
          <a:xfrm>
            <a:off x="5048250" y="6891139"/>
            <a:ext cx="4086225" cy="412750"/>
          </a:xfrm>
          <a:prstGeom prst="rect">
            <a:avLst/>
          </a:prstGeom>
          <a:noFill/>
          <a:ln/>
        </p:spPr>
        <p:txBody>
          <a:bodyPr wrap="square" lIns="25400" tIns="25400" rIns="25400" bIns="25400" rtlCol="0" anchor="t">
            <a:normAutofit/>
          </a:bodyPr>
          <a:lstStyle/>
          <a:p>
            <a:pPr marL="0" indent="0" algn="l">
              <a:buNone/>
            </a:pPr>
            <a:r>
              <a:rPr lang="en-US" sz="2550" b="1" dirty="0">
                <a:solidFill>
                  <a:srgbClr val="141414"/>
                </a:solidFill>
                <a:latin typeface="Helvetica" pitchFamily="34" charset="0"/>
                <a:ea typeface="Helvetica" pitchFamily="34" charset="-122"/>
                <a:cs typeface="Helvetica" pitchFamily="34" charset="-120"/>
              </a:rPr>
              <a:t>Shadow mode</a:t>
            </a:r>
            <a:endParaRPr lang="en-US" sz="2550" dirty="0"/>
          </a:p>
        </p:txBody>
      </p:sp>
      <p:sp>
        <p:nvSpPr>
          <p:cNvPr id="13" name="Text 11"/>
          <p:cNvSpPr/>
          <p:nvPr/>
        </p:nvSpPr>
        <p:spPr>
          <a:xfrm>
            <a:off x="5048250" y="7399139"/>
            <a:ext cx="3826193" cy="655241"/>
          </a:xfrm>
          <a:prstGeom prst="rect">
            <a:avLst/>
          </a:prstGeom>
          <a:noFill/>
          <a:ln/>
        </p:spPr>
        <p:txBody>
          <a:bodyPr wrap="square" lIns="25400" tIns="25400" rIns="25400" bIns="25400" rtlCol="0" anchor="t">
            <a:normAutofit/>
          </a:bodyPr>
          <a:lstStyle/>
          <a:p>
            <a:pPr marL="0" indent="0" algn="l">
              <a:lnSpc>
                <a:spcPct val="115714"/>
              </a:lnSpc>
              <a:buNone/>
            </a:pPr>
            <a:r>
              <a:rPr lang="en-US" sz="1800" dirty="0">
                <a:solidFill>
                  <a:srgbClr val="141414"/>
                </a:solidFill>
                <a:latin typeface="Helvetica" pitchFamily="34" charset="0"/>
                <a:ea typeface="Helvetica" pitchFamily="34" charset="-122"/>
                <a:cs typeface="Helvetica" pitchFamily="34" charset="-120"/>
              </a:rPr>
              <a:t>AI runs beside KD's normal review on 30+ cases</a:t>
            </a:r>
            <a:endParaRPr lang="en-US" sz="1800" dirty="0"/>
          </a:p>
        </p:txBody>
      </p:sp>
      <p:sp>
        <p:nvSpPr>
          <p:cNvPr id="14" name="Shape 12"/>
          <p:cNvSpPr/>
          <p:nvPr/>
        </p:nvSpPr>
        <p:spPr>
          <a:xfrm>
            <a:off x="9144000" y="6237089"/>
            <a:ext cx="4095750" cy="25400"/>
          </a:xfrm>
          <a:prstGeom prst="rect">
            <a:avLst/>
          </a:prstGeom>
          <a:solidFill>
            <a:srgbClr val="141414"/>
          </a:solidFill>
          <a:ln/>
        </p:spPr>
      </p:sp>
      <p:sp>
        <p:nvSpPr>
          <p:cNvPr id="15" name="Text 13"/>
          <p:cNvSpPr/>
          <p:nvPr/>
        </p:nvSpPr>
        <p:spPr>
          <a:xfrm>
            <a:off x="9144000" y="6491089"/>
            <a:ext cx="4086225" cy="304800"/>
          </a:xfrm>
          <a:prstGeom prst="rect">
            <a:avLst/>
          </a:prstGeom>
          <a:noFill/>
          <a:ln/>
        </p:spPr>
        <p:txBody>
          <a:bodyPr wrap="square" lIns="25400" tIns="25400" rIns="25400" bIns="25400" rtlCol="0" anchor="t">
            <a:normAutofit/>
          </a:bodyPr>
          <a:lstStyle/>
          <a:p>
            <a:pPr marL="0" indent="0" algn="l">
              <a:buNone/>
            </a:pPr>
            <a:r>
              <a:rPr lang="en-US" sz="1800" dirty="0">
                <a:solidFill>
                  <a:srgbClr val="5C5C58"/>
                </a:solidFill>
                <a:latin typeface="Helvetica" pitchFamily="34" charset="0"/>
                <a:ea typeface="Helvetica" pitchFamily="34" charset="-122"/>
                <a:cs typeface="Helvetica" pitchFamily="34" charset="-120"/>
              </a:rPr>
              <a:t>Dec 2026</a:t>
            </a:r>
            <a:endParaRPr lang="en-US" sz="1800" dirty="0"/>
          </a:p>
        </p:txBody>
      </p:sp>
      <p:sp>
        <p:nvSpPr>
          <p:cNvPr id="16" name="Text 14"/>
          <p:cNvSpPr/>
          <p:nvPr/>
        </p:nvSpPr>
        <p:spPr>
          <a:xfrm>
            <a:off x="9144000" y="6891139"/>
            <a:ext cx="4086225" cy="412750"/>
          </a:xfrm>
          <a:prstGeom prst="rect">
            <a:avLst/>
          </a:prstGeom>
          <a:noFill/>
          <a:ln/>
        </p:spPr>
        <p:txBody>
          <a:bodyPr wrap="square" lIns="25400" tIns="25400" rIns="25400" bIns="25400" rtlCol="0" anchor="t">
            <a:normAutofit/>
          </a:bodyPr>
          <a:lstStyle/>
          <a:p>
            <a:pPr marL="0" indent="0" algn="l">
              <a:buNone/>
            </a:pPr>
            <a:r>
              <a:rPr lang="en-US" sz="2550" b="1" dirty="0">
                <a:solidFill>
                  <a:srgbClr val="141414"/>
                </a:solidFill>
                <a:latin typeface="Helvetica" pitchFamily="34" charset="0"/>
                <a:ea typeface="Helvetica" pitchFamily="34" charset="-122"/>
                <a:cs typeface="Helvetica" pitchFamily="34" charset="-120"/>
              </a:rPr>
              <a:t>Closed beta</a:t>
            </a:r>
            <a:endParaRPr lang="en-US" sz="2550" dirty="0"/>
          </a:p>
        </p:txBody>
      </p:sp>
      <p:sp>
        <p:nvSpPr>
          <p:cNvPr id="17" name="Text 15"/>
          <p:cNvSpPr/>
          <p:nvPr/>
        </p:nvSpPr>
        <p:spPr>
          <a:xfrm>
            <a:off x="9144000" y="7399139"/>
            <a:ext cx="3826193" cy="655241"/>
          </a:xfrm>
          <a:prstGeom prst="rect">
            <a:avLst/>
          </a:prstGeom>
          <a:noFill/>
          <a:ln/>
        </p:spPr>
        <p:txBody>
          <a:bodyPr wrap="square" lIns="25400" tIns="25400" rIns="25400" bIns="25400" rtlCol="0" anchor="t">
            <a:normAutofit/>
          </a:bodyPr>
          <a:lstStyle/>
          <a:p>
            <a:pPr marL="0" indent="0" algn="l">
              <a:lnSpc>
                <a:spcPct val="115714"/>
              </a:lnSpc>
              <a:buNone/>
            </a:pPr>
            <a:r>
              <a:rPr lang="en-US" sz="1800" dirty="0">
                <a:solidFill>
                  <a:srgbClr val="141414"/>
                </a:solidFill>
                <a:latin typeface="Helvetica" pitchFamily="34" charset="0"/>
                <a:ea typeface="Helvetica" pitchFamily="34" charset="-122"/>
                <a:cs typeface="Helvetica" pitchFamily="34" charset="-120"/>
              </a:rPr>
              <a:t>Gate: DRRR ≥ 70%, coverage ≥ 99%, guardrails green 4 weeks</a:t>
            </a:r>
            <a:endParaRPr lang="en-US" sz="1800" dirty="0"/>
          </a:p>
        </p:txBody>
      </p:sp>
      <p:sp>
        <p:nvSpPr>
          <p:cNvPr id="18" name="Shape 16"/>
          <p:cNvSpPr/>
          <p:nvPr/>
        </p:nvSpPr>
        <p:spPr>
          <a:xfrm>
            <a:off x="13239750" y="6237089"/>
            <a:ext cx="4095750" cy="25400"/>
          </a:xfrm>
          <a:prstGeom prst="rect">
            <a:avLst/>
          </a:prstGeom>
          <a:solidFill>
            <a:srgbClr val="141414"/>
          </a:solidFill>
          <a:ln/>
        </p:spPr>
      </p:sp>
      <p:sp>
        <p:nvSpPr>
          <p:cNvPr id="19" name="Text 17"/>
          <p:cNvSpPr/>
          <p:nvPr/>
        </p:nvSpPr>
        <p:spPr>
          <a:xfrm>
            <a:off x="13239750" y="6491089"/>
            <a:ext cx="4505325" cy="304800"/>
          </a:xfrm>
          <a:prstGeom prst="rect">
            <a:avLst/>
          </a:prstGeom>
          <a:noFill/>
          <a:ln/>
        </p:spPr>
        <p:txBody>
          <a:bodyPr wrap="square" lIns="25400" tIns="25400" rIns="25400" bIns="25400" rtlCol="0" anchor="t">
            <a:normAutofit/>
          </a:bodyPr>
          <a:lstStyle/>
          <a:p>
            <a:pPr marL="0" indent="0" algn="l">
              <a:buNone/>
            </a:pPr>
            <a:r>
              <a:rPr lang="en-US" sz="1800" dirty="0">
                <a:solidFill>
                  <a:srgbClr val="5C5C58"/>
                </a:solidFill>
                <a:latin typeface="Helvetica" pitchFamily="34" charset="0"/>
                <a:ea typeface="Helvetica" pitchFamily="34" charset="-122"/>
                <a:cs typeface="Helvetica" pitchFamily="34" charset="-120"/>
              </a:rPr>
              <a:t>Q1 2027</a:t>
            </a:r>
            <a:endParaRPr lang="en-US" sz="1800" dirty="0"/>
          </a:p>
        </p:txBody>
      </p:sp>
      <p:sp>
        <p:nvSpPr>
          <p:cNvPr id="20" name="Text 18"/>
          <p:cNvSpPr/>
          <p:nvPr/>
        </p:nvSpPr>
        <p:spPr>
          <a:xfrm>
            <a:off x="13239750" y="6891139"/>
            <a:ext cx="4505325" cy="412750"/>
          </a:xfrm>
          <a:prstGeom prst="rect">
            <a:avLst/>
          </a:prstGeom>
          <a:noFill/>
          <a:ln/>
        </p:spPr>
        <p:txBody>
          <a:bodyPr wrap="square" lIns="25400" tIns="25400" rIns="25400" bIns="25400" rtlCol="0" anchor="t">
            <a:normAutofit/>
          </a:bodyPr>
          <a:lstStyle/>
          <a:p>
            <a:pPr marL="0" indent="0" algn="l">
              <a:buNone/>
            </a:pPr>
            <a:r>
              <a:rPr lang="en-US" sz="2550" b="1" dirty="0">
                <a:solidFill>
                  <a:srgbClr val="141414"/>
                </a:solidFill>
                <a:latin typeface="Helvetica" pitchFamily="34" charset="0"/>
                <a:ea typeface="Helvetica" pitchFamily="34" charset="-122"/>
                <a:cs typeface="Helvetica" pitchFamily="34" charset="-120"/>
              </a:rPr>
              <a:t>Phased rollout</a:t>
            </a:r>
            <a:endParaRPr lang="en-US" sz="2550" dirty="0"/>
          </a:p>
        </p:txBody>
      </p:sp>
      <p:sp>
        <p:nvSpPr>
          <p:cNvPr id="21" name="Text 19"/>
          <p:cNvSpPr/>
          <p:nvPr/>
        </p:nvSpPr>
        <p:spPr>
          <a:xfrm>
            <a:off x="13239750" y="7399139"/>
            <a:ext cx="4218623" cy="655241"/>
          </a:xfrm>
          <a:prstGeom prst="rect">
            <a:avLst/>
          </a:prstGeom>
          <a:noFill/>
          <a:ln/>
        </p:spPr>
        <p:txBody>
          <a:bodyPr wrap="square" lIns="25400" tIns="25400" rIns="25400" bIns="25400" rtlCol="0" anchor="t">
            <a:normAutofit/>
          </a:bodyPr>
          <a:lstStyle/>
          <a:p>
            <a:pPr marL="0" indent="0" algn="l">
              <a:lnSpc>
                <a:spcPct val="115714"/>
              </a:lnSpc>
              <a:buNone/>
            </a:pPr>
            <a:r>
              <a:rPr lang="en-US" sz="1800" dirty="0">
                <a:solidFill>
                  <a:srgbClr val="141414"/>
                </a:solidFill>
                <a:latin typeface="Helvetica" pitchFamily="34" charset="0"/>
                <a:ea typeface="Helvetica" pitchFamily="34" charset="-122"/>
                <a:cs typeface="Helvetica" pitchFamily="34" charset="-120"/>
              </a:rPr>
              <a:t>Gate: DRRR ≥ 80% with stable safety metrics</a:t>
            </a:r>
            <a:endParaRPr lang="en-US" sz="1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TotalTime>
  <Words>1961</Words>
  <Application>Microsoft Office PowerPoint</Application>
  <PresentationFormat>Custom</PresentationFormat>
  <Paragraphs>289</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Helvetica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Vijayeta Meher</cp:lastModifiedBy>
  <cp:revision>8</cp:revision>
  <dcterms:created xsi:type="dcterms:W3CDTF">2026-10-13T09:08:14Z</dcterms:created>
  <dcterms:modified xsi:type="dcterms:W3CDTF">2026-10-13T09:16:20Z</dcterms:modified>
</cp:coreProperties>
</file>